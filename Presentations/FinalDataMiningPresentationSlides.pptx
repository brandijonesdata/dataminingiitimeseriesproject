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66" r:id="rId5"/>
    <p:sldId id="270" r:id="rId6"/>
    <p:sldId id="267" r:id="rId7"/>
    <p:sldId id="275" r:id="rId8"/>
    <p:sldId id="277" r:id="rId9"/>
    <p:sldId id="269" r:id="rId10"/>
    <p:sldId id="268" r:id="rId11"/>
    <p:sldId id="276" r:id="rId12"/>
    <p:sldId id="278" r:id="rId13"/>
    <p:sldId id="272" r:id="rId14"/>
    <p:sldId id="281" r:id="rId15"/>
    <p:sldId id="264" r:id="rId16"/>
    <p:sldId id="273" r:id="rId17"/>
    <p:sldId id="279" r:id="rId18"/>
    <p:sldId id="280" r:id="rId19"/>
    <p:sldId id="282" r:id="rId20"/>
    <p:sldId id="274" r:id="rId21"/>
  </p:sldIdLst>
  <p:sldSz cx="18288000" cy="10287000"/>
  <p:notesSz cx="6858000" cy="9144000"/>
  <p:embeddedFontLst>
    <p:embeddedFont>
      <p:font typeface="Canva Sans" panose="020B0604020202020204" charset="0"/>
      <p:regular r:id="rId22"/>
    </p:embeddedFont>
    <p:embeddedFont>
      <p:font typeface="Canva Sans Bold" panose="020B0604020202020204" charset="0"/>
      <p:regular r:id="rId23"/>
    </p:embeddedFont>
    <p:embeddedFont>
      <p:font typeface="Open Sauce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376"/>
    <a:srgbClr val="AB87FF"/>
    <a:srgbClr val="FF94A0"/>
    <a:srgbClr val="3895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672336-35A3-C393-075B-BEF0A16DC504}" v="11" dt="2026-04-21T21:18:01.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6" d="100"/>
          <a:sy n="66" d="100"/>
        </p:scale>
        <p:origin x="93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i Jones" userId="29e8d744-5b69-4bf9-ae48-fdb0e323734d" providerId="ADAL" clId="{81D1B3C7-73BC-40C8-AF83-E89614EB77A7}"/>
    <pc:docChg chg="modSld">
      <pc:chgData name="Brandi Jones" userId="29e8d744-5b69-4bf9-ae48-fdb0e323734d" providerId="ADAL" clId="{81D1B3C7-73BC-40C8-AF83-E89614EB77A7}" dt="2026-04-21T18:01:45.242" v="2" actId="20577"/>
      <pc:docMkLst>
        <pc:docMk/>
      </pc:docMkLst>
      <pc:sldChg chg="modSp mod">
        <pc:chgData name="Brandi Jones" userId="29e8d744-5b69-4bf9-ae48-fdb0e323734d" providerId="ADAL" clId="{81D1B3C7-73BC-40C8-AF83-E89614EB77A7}" dt="2026-04-21T18:01:45.242" v="2" actId="20577"/>
        <pc:sldMkLst>
          <pc:docMk/>
          <pc:sldMk cId="4183037603" sldId="270"/>
        </pc:sldMkLst>
        <pc:spChg chg="mod">
          <ac:chgData name="Brandi Jones" userId="29e8d744-5b69-4bf9-ae48-fdb0e323734d" providerId="ADAL" clId="{81D1B3C7-73BC-40C8-AF83-E89614EB77A7}" dt="2026-04-21T18:01:45.242" v="2" actId="20577"/>
          <ac:spMkLst>
            <pc:docMk/>
            <pc:sldMk cId="4183037603" sldId="270"/>
            <ac:spMk id="3" creationId="{20904670-F702-784E-47C5-ACE958771B8E}"/>
          </ac:spMkLst>
        </pc:spChg>
      </pc:sldChg>
    </pc:docChg>
  </pc:docChgLst>
  <pc:docChgLst>
    <pc:chgData name="Chad Bishop" userId="S::cbisho37@students.kennesaw.edu::210f6328-ccc5-4ff0-807f-6a1c23b221f2" providerId="AD" clId="Web-{7D672336-35A3-C393-075B-BEF0A16DC504}"/>
    <pc:docChg chg="modSld">
      <pc:chgData name="Chad Bishop" userId="S::cbisho37@students.kennesaw.edu::210f6328-ccc5-4ff0-807f-6a1c23b221f2" providerId="AD" clId="Web-{7D672336-35A3-C393-075B-BEF0A16DC504}" dt="2026-04-21T21:17:57.482" v="6" actId="20577"/>
      <pc:docMkLst>
        <pc:docMk/>
      </pc:docMkLst>
      <pc:sldChg chg="modSp">
        <pc:chgData name="Chad Bishop" userId="S::cbisho37@students.kennesaw.edu::210f6328-ccc5-4ff0-807f-6a1c23b221f2" providerId="AD" clId="Web-{7D672336-35A3-C393-075B-BEF0A16DC504}" dt="2026-04-21T21:17:08.372" v="1" actId="20577"/>
        <pc:sldMkLst>
          <pc:docMk/>
          <pc:sldMk cId="0" sldId="266"/>
        </pc:sldMkLst>
        <pc:spChg chg="mod">
          <ac:chgData name="Chad Bishop" userId="S::cbisho37@students.kennesaw.edu::210f6328-ccc5-4ff0-807f-6a1c23b221f2" providerId="AD" clId="Web-{7D672336-35A3-C393-075B-BEF0A16DC504}" dt="2026-04-21T21:17:08.372" v="1" actId="20577"/>
          <ac:spMkLst>
            <pc:docMk/>
            <pc:sldMk cId="0" sldId="266"/>
            <ac:spMk id="57" creationId="{00000000-0000-0000-0000-000000000000}"/>
          </ac:spMkLst>
        </pc:spChg>
      </pc:sldChg>
      <pc:sldChg chg="modSp">
        <pc:chgData name="Chad Bishop" userId="S::cbisho37@students.kennesaw.edu::210f6328-ccc5-4ff0-807f-6a1c23b221f2" providerId="AD" clId="Web-{7D672336-35A3-C393-075B-BEF0A16DC504}" dt="2026-04-21T21:17:57.482" v="6" actId="20577"/>
        <pc:sldMkLst>
          <pc:docMk/>
          <pc:sldMk cId="3846642863" sldId="267"/>
        </pc:sldMkLst>
        <pc:spChg chg="mod">
          <ac:chgData name="Chad Bishop" userId="S::cbisho37@students.kennesaw.edu::210f6328-ccc5-4ff0-807f-6a1c23b221f2" providerId="AD" clId="Web-{7D672336-35A3-C393-075B-BEF0A16DC504}" dt="2026-04-21T21:17:57.482" v="6" actId="20577"/>
          <ac:spMkLst>
            <pc:docMk/>
            <pc:sldMk cId="3846642863" sldId="267"/>
            <ac:spMk id="3" creationId="{90CE0F4B-AC42-E0FF-6BCA-62BB12569FE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i.org/10.48550/arXiv.2506.10412" TargetMode="Externa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sv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21.sv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3.svg"/><Relationship Id="rId7" Type="http://schemas.openxmlformats.org/officeDocument/2006/relationships/image" Target="../media/image32.png"/><Relationship Id="rId2"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35.svg"/><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emf"/></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image" Target="../media/image43.png"/><Relationship Id="rId1" Type="http://schemas.openxmlformats.org/officeDocument/2006/relationships/slideLayout" Target="../slideLayouts/slideLayout4.xml"/><Relationship Id="rId4" Type="http://schemas.openxmlformats.org/officeDocument/2006/relationships/image" Target="../media/image44.emf"/></Relationships>
</file>

<file path=ppt/slides/_rels/slide16.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016/j.eswa.2023.121177" TargetMode="External"/><Relationship Id="rId2" Type="http://schemas.openxmlformats.org/officeDocument/2006/relationships/hyperlink" Target="https://doi.org/10.1016/j.engappai.2025.11253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a:off x="7717014" y="3182316"/>
            <a:ext cx="6533318" cy="5986152"/>
          </a:xfrm>
          <a:custGeom>
            <a:avLst/>
            <a:gdLst/>
            <a:ahLst/>
            <a:cxnLst/>
            <a:rect l="l" t="t" r="r" b="b"/>
            <a:pathLst>
              <a:path w="6533318" h="5986152">
                <a:moveTo>
                  <a:pt x="0" y="0"/>
                </a:moveTo>
                <a:lnTo>
                  <a:pt x="6533317" y="0"/>
                </a:lnTo>
                <a:lnTo>
                  <a:pt x="6533317" y="5986153"/>
                </a:lnTo>
                <a:lnTo>
                  <a:pt x="0" y="598615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581414" y="8350642"/>
            <a:ext cx="8853697" cy="269324"/>
            <a:chOff x="0" y="0"/>
            <a:chExt cx="2487343" cy="75663"/>
          </a:xfrm>
        </p:grpSpPr>
        <p:sp>
          <p:nvSpPr>
            <p:cNvPr id="4" name="Freeform 4"/>
            <p:cNvSpPr/>
            <p:nvPr/>
          </p:nvSpPr>
          <p:spPr>
            <a:xfrm>
              <a:off x="0" y="0"/>
              <a:ext cx="2487344" cy="75663"/>
            </a:xfrm>
            <a:custGeom>
              <a:avLst/>
              <a:gdLst/>
              <a:ahLst/>
              <a:cxnLst/>
              <a:rect l="l" t="t" r="r" b="b"/>
              <a:pathLst>
                <a:path w="2487344" h="75663">
                  <a:moveTo>
                    <a:pt x="37832" y="0"/>
                  </a:moveTo>
                  <a:lnTo>
                    <a:pt x="2449512" y="0"/>
                  </a:lnTo>
                  <a:cubicBezTo>
                    <a:pt x="2470406" y="0"/>
                    <a:pt x="2487344" y="16938"/>
                    <a:pt x="2487344" y="37832"/>
                  </a:cubicBezTo>
                  <a:lnTo>
                    <a:pt x="2487344" y="37832"/>
                  </a:lnTo>
                  <a:cubicBezTo>
                    <a:pt x="2487344" y="47865"/>
                    <a:pt x="2483358" y="57488"/>
                    <a:pt x="2476263" y="64583"/>
                  </a:cubicBezTo>
                  <a:cubicBezTo>
                    <a:pt x="2469168" y="71678"/>
                    <a:pt x="2459545" y="75663"/>
                    <a:pt x="2449512"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28575"/>
              <a:ext cx="2487343"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13314237" y="8350642"/>
            <a:ext cx="5565296" cy="269324"/>
            <a:chOff x="0" y="0"/>
            <a:chExt cx="1563505" cy="75663"/>
          </a:xfrm>
        </p:grpSpPr>
        <p:sp>
          <p:nvSpPr>
            <p:cNvPr id="7" name="Freeform 7"/>
            <p:cNvSpPr/>
            <p:nvPr/>
          </p:nvSpPr>
          <p:spPr>
            <a:xfrm>
              <a:off x="0" y="0"/>
              <a:ext cx="1563505" cy="75663"/>
            </a:xfrm>
            <a:custGeom>
              <a:avLst/>
              <a:gdLst/>
              <a:ahLst/>
              <a:cxnLst/>
              <a:rect l="l" t="t" r="r" b="b"/>
              <a:pathLst>
                <a:path w="1563505" h="75663">
                  <a:moveTo>
                    <a:pt x="37832" y="0"/>
                  </a:moveTo>
                  <a:lnTo>
                    <a:pt x="1525674" y="0"/>
                  </a:lnTo>
                  <a:cubicBezTo>
                    <a:pt x="1535707" y="0"/>
                    <a:pt x="1545330" y="3986"/>
                    <a:pt x="1552425" y="11081"/>
                  </a:cubicBezTo>
                  <a:cubicBezTo>
                    <a:pt x="1559520" y="18175"/>
                    <a:pt x="1563505" y="27798"/>
                    <a:pt x="1563505" y="37832"/>
                  </a:cubicBezTo>
                  <a:lnTo>
                    <a:pt x="1563505" y="37832"/>
                  </a:lnTo>
                  <a:cubicBezTo>
                    <a:pt x="1563505" y="58726"/>
                    <a:pt x="1546568" y="75663"/>
                    <a:pt x="1525674"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28575"/>
              <a:ext cx="1563505"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rot="5400000">
            <a:off x="1869614" y="7967157"/>
            <a:ext cx="1279319" cy="1123303"/>
          </a:xfrm>
          <a:custGeom>
            <a:avLst/>
            <a:gdLst/>
            <a:ahLst/>
            <a:cxnLst/>
            <a:rect l="l" t="t" r="r" b="b"/>
            <a:pathLst>
              <a:path w="1279319" h="1123303">
                <a:moveTo>
                  <a:pt x="0" y="0"/>
                </a:moveTo>
                <a:lnTo>
                  <a:pt x="1279320" y="0"/>
                </a:lnTo>
                <a:lnTo>
                  <a:pt x="1279320"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p:cNvGrpSpPr/>
          <p:nvPr/>
        </p:nvGrpSpPr>
        <p:grpSpPr>
          <a:xfrm>
            <a:off x="2022896" y="7889149"/>
            <a:ext cx="972756" cy="1131934"/>
            <a:chOff x="0" y="0"/>
            <a:chExt cx="698500" cy="812800"/>
          </a:xfrm>
        </p:grpSpPr>
        <p:sp>
          <p:nvSpPr>
            <p:cNvPr id="11" name="Freeform 11"/>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3" name="Group 13"/>
          <p:cNvGrpSpPr/>
          <p:nvPr/>
        </p:nvGrpSpPr>
        <p:grpSpPr>
          <a:xfrm>
            <a:off x="2135937" y="8020687"/>
            <a:ext cx="746675" cy="868858"/>
            <a:chOff x="0" y="0"/>
            <a:chExt cx="698500" cy="812800"/>
          </a:xfrm>
        </p:grpSpPr>
        <p:sp>
          <p:nvSpPr>
            <p:cNvPr id="14" name="Freeform 14"/>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AB87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 name="Freeform 16"/>
          <p:cNvSpPr/>
          <p:nvPr/>
        </p:nvSpPr>
        <p:spPr>
          <a:xfrm rot="5400000">
            <a:off x="5851064" y="7967157"/>
            <a:ext cx="1279319" cy="1123303"/>
          </a:xfrm>
          <a:custGeom>
            <a:avLst/>
            <a:gdLst/>
            <a:ahLst/>
            <a:cxnLst/>
            <a:rect l="l" t="t" r="r" b="b"/>
            <a:pathLst>
              <a:path w="1279319" h="1123303">
                <a:moveTo>
                  <a:pt x="0" y="0"/>
                </a:moveTo>
                <a:lnTo>
                  <a:pt x="1279320" y="0"/>
                </a:lnTo>
                <a:lnTo>
                  <a:pt x="1279320"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7" name="Group 17"/>
          <p:cNvGrpSpPr/>
          <p:nvPr/>
        </p:nvGrpSpPr>
        <p:grpSpPr>
          <a:xfrm>
            <a:off x="6004346" y="7889149"/>
            <a:ext cx="972756" cy="1131934"/>
            <a:chOff x="0" y="0"/>
            <a:chExt cx="698500" cy="812800"/>
          </a:xfrm>
        </p:grpSpPr>
        <p:sp>
          <p:nvSpPr>
            <p:cNvPr id="18" name="Freeform 18"/>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 name="Group 20"/>
          <p:cNvGrpSpPr/>
          <p:nvPr/>
        </p:nvGrpSpPr>
        <p:grpSpPr>
          <a:xfrm>
            <a:off x="6117387" y="8020687"/>
            <a:ext cx="746675" cy="868858"/>
            <a:chOff x="0" y="0"/>
            <a:chExt cx="698500" cy="812800"/>
          </a:xfrm>
        </p:grpSpPr>
        <p:sp>
          <p:nvSpPr>
            <p:cNvPr id="21" name="Freeform 21"/>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BD5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22"/>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3" name="Freeform 23"/>
          <p:cNvSpPr/>
          <p:nvPr/>
        </p:nvSpPr>
        <p:spPr>
          <a:xfrm rot="5400000">
            <a:off x="14834404" y="7967157"/>
            <a:ext cx="1279319" cy="1123303"/>
          </a:xfrm>
          <a:custGeom>
            <a:avLst/>
            <a:gdLst/>
            <a:ahLst/>
            <a:cxnLst/>
            <a:rect l="l" t="t" r="r" b="b"/>
            <a:pathLst>
              <a:path w="1279319" h="1123303">
                <a:moveTo>
                  <a:pt x="0" y="0"/>
                </a:moveTo>
                <a:lnTo>
                  <a:pt x="1279320" y="0"/>
                </a:lnTo>
                <a:lnTo>
                  <a:pt x="1279320"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4" name="Group 24"/>
          <p:cNvGrpSpPr/>
          <p:nvPr/>
        </p:nvGrpSpPr>
        <p:grpSpPr>
          <a:xfrm>
            <a:off x="14987686" y="7889149"/>
            <a:ext cx="972756" cy="1131934"/>
            <a:chOff x="0" y="0"/>
            <a:chExt cx="698500" cy="812800"/>
          </a:xfrm>
        </p:grpSpPr>
        <p:sp>
          <p:nvSpPr>
            <p:cNvPr id="25" name="Freeform 25"/>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Box 26"/>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7" name="Group 27"/>
          <p:cNvGrpSpPr/>
          <p:nvPr/>
        </p:nvGrpSpPr>
        <p:grpSpPr>
          <a:xfrm>
            <a:off x="15100727" y="8020687"/>
            <a:ext cx="746675" cy="868858"/>
            <a:chOff x="0" y="0"/>
            <a:chExt cx="698500" cy="812800"/>
          </a:xfrm>
        </p:grpSpPr>
        <p:sp>
          <p:nvSpPr>
            <p:cNvPr id="28" name="Freeform 28"/>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D50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Box 29"/>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0" name="Freeform 30"/>
          <p:cNvSpPr/>
          <p:nvPr/>
        </p:nvSpPr>
        <p:spPr>
          <a:xfrm rot="5400000">
            <a:off x="12569025" y="5054580"/>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1" name="Group 31"/>
          <p:cNvGrpSpPr/>
          <p:nvPr/>
        </p:nvGrpSpPr>
        <p:grpSpPr>
          <a:xfrm>
            <a:off x="12722307" y="4976572"/>
            <a:ext cx="972756" cy="1131934"/>
            <a:chOff x="0" y="0"/>
            <a:chExt cx="698500" cy="812800"/>
          </a:xfrm>
        </p:grpSpPr>
        <p:sp>
          <p:nvSpPr>
            <p:cNvPr id="32" name="Freeform 32"/>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Box 33"/>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4" name="Group 34"/>
          <p:cNvGrpSpPr/>
          <p:nvPr/>
        </p:nvGrpSpPr>
        <p:grpSpPr>
          <a:xfrm>
            <a:off x="12835347" y="5108110"/>
            <a:ext cx="746675" cy="868858"/>
            <a:chOff x="0" y="0"/>
            <a:chExt cx="698500" cy="812800"/>
          </a:xfrm>
        </p:grpSpPr>
        <p:sp>
          <p:nvSpPr>
            <p:cNvPr id="35" name="Freeform 35"/>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94A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Box 36"/>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7" name="Freeform 37"/>
          <p:cNvSpPr/>
          <p:nvPr/>
        </p:nvSpPr>
        <p:spPr>
          <a:xfrm rot="5400000">
            <a:off x="8119001" y="5054580"/>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8" name="Group 38"/>
          <p:cNvGrpSpPr/>
          <p:nvPr/>
        </p:nvGrpSpPr>
        <p:grpSpPr>
          <a:xfrm>
            <a:off x="8272282" y="4976572"/>
            <a:ext cx="972756" cy="1131934"/>
            <a:chOff x="0" y="0"/>
            <a:chExt cx="698500" cy="812800"/>
          </a:xfrm>
        </p:grpSpPr>
        <p:sp>
          <p:nvSpPr>
            <p:cNvPr id="39" name="Freeform 39"/>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40"/>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1" name="Group 41"/>
          <p:cNvGrpSpPr/>
          <p:nvPr/>
        </p:nvGrpSpPr>
        <p:grpSpPr>
          <a:xfrm>
            <a:off x="8385323" y="5108110"/>
            <a:ext cx="746675" cy="868858"/>
            <a:chOff x="0" y="0"/>
            <a:chExt cx="698500" cy="812800"/>
          </a:xfrm>
        </p:grpSpPr>
        <p:sp>
          <p:nvSpPr>
            <p:cNvPr id="42" name="Freeform 42"/>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CADBE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Box 43"/>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4" name="Group 44"/>
          <p:cNvGrpSpPr/>
          <p:nvPr/>
        </p:nvGrpSpPr>
        <p:grpSpPr>
          <a:xfrm>
            <a:off x="4018564" y="7746828"/>
            <a:ext cx="934436" cy="1476953"/>
            <a:chOff x="0" y="0"/>
            <a:chExt cx="1245915" cy="1969271"/>
          </a:xfrm>
        </p:grpSpPr>
        <p:grpSp>
          <p:nvGrpSpPr>
            <p:cNvPr id="45" name="Group 45"/>
            <p:cNvGrpSpPr/>
            <p:nvPr/>
          </p:nvGrpSpPr>
          <p:grpSpPr>
            <a:xfrm rot="2700000">
              <a:off x="-41282" y="427997"/>
              <a:ext cx="1359301" cy="359099"/>
              <a:chOff x="0" y="0"/>
              <a:chExt cx="286410" cy="75663"/>
            </a:xfrm>
          </p:grpSpPr>
          <p:sp>
            <p:nvSpPr>
              <p:cNvPr id="46" name="Freeform 46"/>
              <p:cNvSpPr/>
              <p:nvPr/>
            </p:nvSpPr>
            <p:spPr>
              <a:xfrm>
                <a:off x="0" y="0"/>
                <a:ext cx="286410" cy="75663"/>
              </a:xfrm>
              <a:custGeom>
                <a:avLst/>
                <a:gdLst/>
                <a:ahLst/>
                <a:cxnLst/>
                <a:rect l="l" t="t" r="r" b="b"/>
                <a:pathLst>
                  <a:path w="286410" h="75663">
                    <a:moveTo>
                      <a:pt x="37832" y="0"/>
                    </a:moveTo>
                    <a:lnTo>
                      <a:pt x="248578" y="0"/>
                    </a:lnTo>
                    <a:cubicBezTo>
                      <a:pt x="269472" y="0"/>
                      <a:pt x="286410" y="16938"/>
                      <a:pt x="286410" y="37832"/>
                    </a:cubicBezTo>
                    <a:lnTo>
                      <a:pt x="286410" y="37832"/>
                    </a:lnTo>
                    <a:cubicBezTo>
                      <a:pt x="286410" y="47865"/>
                      <a:pt x="282424" y="57488"/>
                      <a:pt x="275329" y="64583"/>
                    </a:cubicBezTo>
                    <a:cubicBezTo>
                      <a:pt x="268234" y="71678"/>
                      <a:pt x="258612" y="75663"/>
                      <a:pt x="248578"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p:cNvSpPr txBox="1"/>
              <p:nvPr/>
            </p:nvSpPr>
            <p:spPr>
              <a:xfrm>
                <a:off x="0" y="-28575"/>
                <a:ext cx="286410"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p:cNvGrpSpPr/>
            <p:nvPr/>
          </p:nvGrpSpPr>
          <p:grpSpPr>
            <a:xfrm rot="-2700000">
              <a:off x="-78488" y="1166764"/>
              <a:ext cx="1402891" cy="359099"/>
              <a:chOff x="0" y="0"/>
              <a:chExt cx="295594" cy="75663"/>
            </a:xfrm>
          </p:grpSpPr>
          <p:sp>
            <p:nvSpPr>
              <p:cNvPr id="49" name="Freeform 49"/>
              <p:cNvSpPr/>
              <p:nvPr/>
            </p:nvSpPr>
            <p:spPr>
              <a:xfrm>
                <a:off x="0" y="0"/>
                <a:ext cx="295594" cy="75663"/>
              </a:xfrm>
              <a:custGeom>
                <a:avLst/>
                <a:gdLst/>
                <a:ahLst/>
                <a:cxnLst/>
                <a:rect l="l" t="t" r="r" b="b"/>
                <a:pathLst>
                  <a:path w="295594" h="75663">
                    <a:moveTo>
                      <a:pt x="37832" y="0"/>
                    </a:moveTo>
                    <a:lnTo>
                      <a:pt x="257763" y="0"/>
                    </a:lnTo>
                    <a:cubicBezTo>
                      <a:pt x="267796" y="0"/>
                      <a:pt x="277419" y="3986"/>
                      <a:pt x="284514" y="11081"/>
                    </a:cubicBezTo>
                    <a:cubicBezTo>
                      <a:pt x="291609" y="18175"/>
                      <a:pt x="295594" y="27798"/>
                      <a:pt x="295594" y="37832"/>
                    </a:cubicBezTo>
                    <a:lnTo>
                      <a:pt x="295594" y="37832"/>
                    </a:lnTo>
                    <a:cubicBezTo>
                      <a:pt x="295594" y="58726"/>
                      <a:pt x="278657" y="75663"/>
                      <a:pt x="257763"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p:cNvSpPr txBox="1"/>
              <p:nvPr/>
            </p:nvSpPr>
            <p:spPr>
              <a:xfrm>
                <a:off x="0" y="-28575"/>
                <a:ext cx="295594"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p:cNvSpPr/>
          <p:nvPr/>
        </p:nvSpPr>
        <p:spPr>
          <a:xfrm>
            <a:off x="2278666" y="8176296"/>
            <a:ext cx="461216" cy="557642"/>
          </a:xfrm>
          <a:custGeom>
            <a:avLst/>
            <a:gdLst/>
            <a:ahLst/>
            <a:cxnLst/>
            <a:rect l="l" t="t" r="r" b="b"/>
            <a:pathLst>
              <a:path w="461216" h="557642">
                <a:moveTo>
                  <a:pt x="0" y="0"/>
                </a:moveTo>
                <a:lnTo>
                  <a:pt x="461216" y="0"/>
                </a:lnTo>
                <a:lnTo>
                  <a:pt x="461216" y="557641"/>
                </a:lnTo>
                <a:lnTo>
                  <a:pt x="0" y="557641"/>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Freeform 52"/>
          <p:cNvSpPr/>
          <p:nvPr/>
        </p:nvSpPr>
        <p:spPr>
          <a:xfrm>
            <a:off x="12811240" y="5378096"/>
            <a:ext cx="794890" cy="328886"/>
          </a:xfrm>
          <a:custGeom>
            <a:avLst/>
            <a:gdLst/>
            <a:ahLst/>
            <a:cxnLst/>
            <a:rect l="l" t="t" r="r" b="b"/>
            <a:pathLst>
              <a:path w="794890" h="328886">
                <a:moveTo>
                  <a:pt x="0" y="0"/>
                </a:moveTo>
                <a:lnTo>
                  <a:pt x="794890" y="0"/>
                </a:lnTo>
                <a:lnTo>
                  <a:pt x="794890" y="328886"/>
                </a:lnTo>
                <a:lnTo>
                  <a:pt x="0" y="32888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Freeform 53"/>
          <p:cNvSpPr/>
          <p:nvPr/>
        </p:nvSpPr>
        <p:spPr>
          <a:xfrm rot="-1740476">
            <a:off x="12841125" y="5378096"/>
            <a:ext cx="794890" cy="328886"/>
          </a:xfrm>
          <a:custGeom>
            <a:avLst/>
            <a:gdLst/>
            <a:ahLst/>
            <a:cxnLst/>
            <a:rect l="l" t="t" r="r" b="b"/>
            <a:pathLst>
              <a:path w="794890" h="328886">
                <a:moveTo>
                  <a:pt x="0" y="0"/>
                </a:moveTo>
                <a:lnTo>
                  <a:pt x="794890" y="0"/>
                </a:lnTo>
                <a:lnTo>
                  <a:pt x="794890" y="328886"/>
                </a:lnTo>
                <a:lnTo>
                  <a:pt x="0" y="32888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Freeform 54"/>
          <p:cNvSpPr/>
          <p:nvPr/>
        </p:nvSpPr>
        <p:spPr>
          <a:xfrm>
            <a:off x="8515708" y="5299587"/>
            <a:ext cx="485904" cy="485904"/>
          </a:xfrm>
          <a:custGeom>
            <a:avLst/>
            <a:gdLst/>
            <a:ahLst/>
            <a:cxnLst/>
            <a:rect l="l" t="t" r="r" b="b"/>
            <a:pathLst>
              <a:path w="485904" h="485904">
                <a:moveTo>
                  <a:pt x="0" y="0"/>
                </a:moveTo>
                <a:lnTo>
                  <a:pt x="485904" y="0"/>
                </a:lnTo>
                <a:lnTo>
                  <a:pt x="485904" y="485904"/>
                </a:lnTo>
                <a:lnTo>
                  <a:pt x="0" y="485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Freeform 55"/>
          <p:cNvSpPr/>
          <p:nvPr/>
        </p:nvSpPr>
        <p:spPr>
          <a:xfrm>
            <a:off x="6236163" y="8136915"/>
            <a:ext cx="509123" cy="636404"/>
          </a:xfrm>
          <a:custGeom>
            <a:avLst/>
            <a:gdLst/>
            <a:ahLst/>
            <a:cxnLst/>
            <a:rect l="l" t="t" r="r" b="b"/>
            <a:pathLst>
              <a:path w="509123" h="636404">
                <a:moveTo>
                  <a:pt x="0" y="0"/>
                </a:moveTo>
                <a:lnTo>
                  <a:pt x="509123" y="0"/>
                </a:lnTo>
                <a:lnTo>
                  <a:pt x="509123" y="636403"/>
                </a:lnTo>
                <a:lnTo>
                  <a:pt x="0" y="63640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6" name="Freeform 56"/>
          <p:cNvSpPr/>
          <p:nvPr/>
        </p:nvSpPr>
        <p:spPr>
          <a:xfrm>
            <a:off x="15100727" y="8096100"/>
            <a:ext cx="700979" cy="718032"/>
          </a:xfrm>
          <a:custGeom>
            <a:avLst/>
            <a:gdLst/>
            <a:ahLst/>
            <a:cxnLst/>
            <a:rect l="l" t="t" r="r" b="b"/>
            <a:pathLst>
              <a:path w="700979" h="718032">
                <a:moveTo>
                  <a:pt x="0" y="0"/>
                </a:moveTo>
                <a:lnTo>
                  <a:pt x="700978" y="0"/>
                </a:lnTo>
                <a:lnTo>
                  <a:pt x="700978" y="718032"/>
                </a:lnTo>
                <a:lnTo>
                  <a:pt x="0" y="718032"/>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Box 57"/>
          <p:cNvSpPr txBox="1"/>
          <p:nvPr/>
        </p:nvSpPr>
        <p:spPr>
          <a:xfrm>
            <a:off x="239965" y="409702"/>
            <a:ext cx="17250628" cy="3334246"/>
          </a:xfrm>
          <a:prstGeom prst="rect">
            <a:avLst/>
          </a:prstGeom>
        </p:spPr>
        <p:txBody>
          <a:bodyPr lIns="0" tIns="0" rIns="0" bIns="0" rtlCol="0" anchor="t">
            <a:spAutoFit/>
          </a:bodyPr>
          <a:lstStyle/>
          <a:p>
            <a:pPr marL="0" marR="0" lvl="0" indent="0" algn="l" defTabSz="914400" rtl="0" eaLnBrk="1" fontAlgn="auto" latinLnBrk="0" hangingPunct="1">
              <a:lnSpc>
                <a:spcPts val="6496"/>
              </a:lnSpc>
              <a:spcBef>
                <a:spcPts val="0"/>
              </a:spcBef>
              <a:spcAft>
                <a:spcPts val="0"/>
              </a:spcAft>
              <a:buClrTx/>
              <a:buSzTx/>
              <a:buFontTx/>
              <a:buNone/>
              <a:tabLst/>
              <a:defRPr/>
            </a:pPr>
            <a:r>
              <a:rPr lang="en-US" sz="5600" b="1">
                <a:solidFill>
                  <a:schemeClr val="tx2"/>
                </a:solidFill>
                <a:latin typeface="Open Sauce Bold"/>
                <a:ea typeface="Open Sauce Bold"/>
                <a:cs typeface="Open Sauce Bold"/>
                <a:sym typeface="Open Sauce Bold"/>
              </a:rPr>
              <a:t>Reliability-Aware</a:t>
            </a:r>
            <a:r>
              <a:rPr kumimoji="0" lang="en-US" sz="5600" b="1" i="0" u="none" strike="noStrike" kern="1200" cap="none" spc="0" normalizeH="0" baseline="0" noProof="0">
                <a:ln>
                  <a:noFill/>
                </a:ln>
                <a:solidFill>
                  <a:schemeClr val="tx2"/>
                </a:solidFill>
                <a:effectLst/>
                <a:uLnTx/>
                <a:uFillTx/>
                <a:latin typeface="Open Sauce Bold"/>
                <a:ea typeface="Open Sauce Bold"/>
                <a:cs typeface="Open Sauce Bold"/>
                <a:sym typeface="Open Sauce Bold"/>
              </a:rPr>
              <a:t> Multimodal Fusion for Irregular </a:t>
            </a:r>
            <a:r>
              <a:rPr kumimoji="0" lang="en-US" sz="5600" b="1" i="0" u="none" strike="noStrike" kern="1200" cap="none" spc="0" normalizeH="0" baseline="0" noProof="0" dirty="0">
                <a:ln>
                  <a:noFill/>
                </a:ln>
                <a:solidFill>
                  <a:schemeClr val="tx2"/>
                </a:solidFill>
                <a:effectLst/>
                <a:uLnTx/>
                <a:uFillTx/>
                <a:latin typeface="Open Sauce Bold"/>
                <a:ea typeface="Open Sauce Bold"/>
                <a:cs typeface="Open Sauce Bold"/>
                <a:sym typeface="Open Sauce Bold"/>
              </a:rPr>
              <a:t>Time Series: Extending IMM-TSF from Forecasting to Classification</a:t>
            </a:r>
          </a:p>
          <a:p>
            <a:pPr marL="0" marR="0" lvl="0" indent="0" algn="l" defTabSz="914400" rtl="0" eaLnBrk="1" fontAlgn="auto" latinLnBrk="0" hangingPunct="1">
              <a:lnSpc>
                <a:spcPts val="6496"/>
              </a:lnSpc>
              <a:spcBef>
                <a:spcPts val="0"/>
              </a:spcBef>
              <a:spcAft>
                <a:spcPts val="0"/>
              </a:spcAft>
              <a:buClrTx/>
              <a:buSzTx/>
              <a:buFontTx/>
              <a:buNone/>
              <a:tabLst/>
              <a:defRPr/>
            </a:pPr>
            <a:endParaRPr kumimoji="0" lang="en-US" sz="5600" b="1" i="0" u="none" strike="noStrike" kern="1200" cap="none" spc="0" normalizeH="0" baseline="0" noProof="0" dirty="0">
              <a:ln>
                <a:noFill/>
              </a:ln>
              <a:solidFill>
                <a:srgbClr val="140574"/>
              </a:solidFill>
              <a:effectLst/>
              <a:uLnTx/>
              <a:uFillTx/>
              <a:latin typeface="Open Sauce Bold"/>
              <a:ea typeface="Open Sauce Bold"/>
              <a:cs typeface="Open Sauce Bold"/>
              <a:sym typeface="Open Sauce Bold"/>
            </a:endParaRPr>
          </a:p>
        </p:txBody>
      </p:sp>
      <p:sp>
        <p:nvSpPr>
          <p:cNvPr id="58" name="TextBox 58"/>
          <p:cNvSpPr txBox="1"/>
          <p:nvPr/>
        </p:nvSpPr>
        <p:spPr>
          <a:xfrm>
            <a:off x="239965" y="3028068"/>
            <a:ext cx="12033998" cy="384849"/>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Canva Sans"/>
                <a:ea typeface="Canva Sans"/>
                <a:cs typeface="Canva Sans"/>
                <a:sym typeface="Canva Sans"/>
              </a:rPr>
              <a:t>Chad Bishop, Nnenna Ifeanyi, &amp; Brandi Jones</a:t>
            </a:r>
          </a:p>
        </p:txBody>
      </p:sp>
      <p:sp>
        <p:nvSpPr>
          <p:cNvPr id="59" name="Freeform 59"/>
          <p:cNvSpPr/>
          <p:nvPr/>
        </p:nvSpPr>
        <p:spPr>
          <a:xfrm>
            <a:off x="11038310" y="1705363"/>
            <a:ext cx="6533318" cy="5986152"/>
          </a:xfrm>
          <a:custGeom>
            <a:avLst/>
            <a:gdLst/>
            <a:ahLst/>
            <a:cxnLst/>
            <a:rect l="l" t="t" r="r" b="b"/>
            <a:pathLst>
              <a:path w="6533318" h="5986152">
                <a:moveTo>
                  <a:pt x="0" y="0"/>
                </a:moveTo>
                <a:lnTo>
                  <a:pt x="6533318" y="0"/>
                </a:lnTo>
                <a:lnTo>
                  <a:pt x="6533318" y="5986152"/>
                </a:lnTo>
                <a:lnTo>
                  <a:pt x="0" y="598615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0" name="Group 60"/>
          <p:cNvGrpSpPr/>
          <p:nvPr/>
        </p:nvGrpSpPr>
        <p:grpSpPr>
          <a:xfrm>
            <a:off x="2739882" y="6873689"/>
            <a:ext cx="8853697" cy="269324"/>
            <a:chOff x="0" y="0"/>
            <a:chExt cx="2487343" cy="75663"/>
          </a:xfrm>
        </p:grpSpPr>
        <p:sp>
          <p:nvSpPr>
            <p:cNvPr id="61" name="Freeform 61"/>
            <p:cNvSpPr/>
            <p:nvPr/>
          </p:nvSpPr>
          <p:spPr>
            <a:xfrm>
              <a:off x="0" y="0"/>
              <a:ext cx="2487344" cy="75663"/>
            </a:xfrm>
            <a:custGeom>
              <a:avLst/>
              <a:gdLst/>
              <a:ahLst/>
              <a:cxnLst/>
              <a:rect l="l" t="t" r="r" b="b"/>
              <a:pathLst>
                <a:path w="2487344" h="75663">
                  <a:moveTo>
                    <a:pt x="37832" y="0"/>
                  </a:moveTo>
                  <a:lnTo>
                    <a:pt x="2449512" y="0"/>
                  </a:lnTo>
                  <a:cubicBezTo>
                    <a:pt x="2470406" y="0"/>
                    <a:pt x="2487344" y="16938"/>
                    <a:pt x="2487344" y="37832"/>
                  </a:cubicBezTo>
                  <a:lnTo>
                    <a:pt x="2487344" y="37832"/>
                  </a:lnTo>
                  <a:cubicBezTo>
                    <a:pt x="2487344" y="47865"/>
                    <a:pt x="2483358" y="57488"/>
                    <a:pt x="2476263" y="64583"/>
                  </a:cubicBezTo>
                  <a:cubicBezTo>
                    <a:pt x="2469168" y="71678"/>
                    <a:pt x="2459545" y="75663"/>
                    <a:pt x="2449512"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Box 62"/>
            <p:cNvSpPr txBox="1"/>
            <p:nvPr/>
          </p:nvSpPr>
          <p:spPr>
            <a:xfrm>
              <a:off x="0" y="-28575"/>
              <a:ext cx="2487343"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3" name="Group 63"/>
          <p:cNvGrpSpPr/>
          <p:nvPr/>
        </p:nvGrpSpPr>
        <p:grpSpPr>
          <a:xfrm>
            <a:off x="16635533" y="6873689"/>
            <a:ext cx="5565296" cy="269324"/>
            <a:chOff x="0" y="0"/>
            <a:chExt cx="1563505" cy="75663"/>
          </a:xfrm>
        </p:grpSpPr>
        <p:sp>
          <p:nvSpPr>
            <p:cNvPr id="64" name="Freeform 64"/>
            <p:cNvSpPr/>
            <p:nvPr/>
          </p:nvSpPr>
          <p:spPr>
            <a:xfrm>
              <a:off x="0" y="0"/>
              <a:ext cx="1563505" cy="75663"/>
            </a:xfrm>
            <a:custGeom>
              <a:avLst/>
              <a:gdLst/>
              <a:ahLst/>
              <a:cxnLst/>
              <a:rect l="l" t="t" r="r" b="b"/>
              <a:pathLst>
                <a:path w="1563505" h="75663">
                  <a:moveTo>
                    <a:pt x="37832" y="0"/>
                  </a:moveTo>
                  <a:lnTo>
                    <a:pt x="1525674" y="0"/>
                  </a:lnTo>
                  <a:cubicBezTo>
                    <a:pt x="1535707" y="0"/>
                    <a:pt x="1545330" y="3986"/>
                    <a:pt x="1552425" y="11081"/>
                  </a:cubicBezTo>
                  <a:cubicBezTo>
                    <a:pt x="1559520" y="18175"/>
                    <a:pt x="1563505" y="27798"/>
                    <a:pt x="1563505" y="37832"/>
                  </a:cubicBezTo>
                  <a:lnTo>
                    <a:pt x="1563505" y="37832"/>
                  </a:lnTo>
                  <a:cubicBezTo>
                    <a:pt x="1563505" y="58726"/>
                    <a:pt x="1546568" y="75663"/>
                    <a:pt x="1525674"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Box 65"/>
            <p:cNvSpPr txBox="1"/>
            <p:nvPr/>
          </p:nvSpPr>
          <p:spPr>
            <a:xfrm>
              <a:off x="0" y="-28575"/>
              <a:ext cx="1563505"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6" name="Freeform 66"/>
          <p:cNvSpPr/>
          <p:nvPr/>
        </p:nvSpPr>
        <p:spPr>
          <a:xfrm rot="5400000">
            <a:off x="5190911" y="6490204"/>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7" name="Group 67"/>
          <p:cNvGrpSpPr/>
          <p:nvPr/>
        </p:nvGrpSpPr>
        <p:grpSpPr>
          <a:xfrm>
            <a:off x="5344193" y="6412196"/>
            <a:ext cx="972756" cy="1131934"/>
            <a:chOff x="0" y="0"/>
            <a:chExt cx="698500" cy="812800"/>
          </a:xfrm>
        </p:grpSpPr>
        <p:sp>
          <p:nvSpPr>
            <p:cNvPr id="68" name="Freeform 68"/>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Box 69"/>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0" name="Group 70"/>
          <p:cNvGrpSpPr/>
          <p:nvPr/>
        </p:nvGrpSpPr>
        <p:grpSpPr>
          <a:xfrm>
            <a:off x="5457233" y="6543734"/>
            <a:ext cx="746675" cy="868858"/>
            <a:chOff x="0" y="0"/>
            <a:chExt cx="698500" cy="812800"/>
          </a:xfrm>
        </p:grpSpPr>
        <p:sp>
          <p:nvSpPr>
            <p:cNvPr id="71" name="Freeform 71"/>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008C3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Box 72"/>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73" name="Freeform 73"/>
          <p:cNvSpPr/>
          <p:nvPr/>
        </p:nvSpPr>
        <p:spPr>
          <a:xfrm rot="5400000">
            <a:off x="9172361" y="6490204"/>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74" name="Group 74"/>
          <p:cNvGrpSpPr/>
          <p:nvPr/>
        </p:nvGrpSpPr>
        <p:grpSpPr>
          <a:xfrm>
            <a:off x="9325643" y="6412196"/>
            <a:ext cx="972756" cy="1131934"/>
            <a:chOff x="0" y="0"/>
            <a:chExt cx="698500" cy="812800"/>
          </a:xfrm>
        </p:grpSpPr>
        <p:sp>
          <p:nvSpPr>
            <p:cNvPr id="75" name="Freeform 75"/>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TextBox 76"/>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7" name="Group 77"/>
          <p:cNvGrpSpPr/>
          <p:nvPr/>
        </p:nvGrpSpPr>
        <p:grpSpPr>
          <a:xfrm>
            <a:off x="9438683" y="6543734"/>
            <a:ext cx="746675" cy="868858"/>
            <a:chOff x="0" y="0"/>
            <a:chExt cx="698500" cy="812800"/>
          </a:xfrm>
        </p:grpSpPr>
        <p:sp>
          <p:nvSpPr>
            <p:cNvPr id="78" name="Freeform 78"/>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BD5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TextBox 79"/>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80" name="Freeform 80"/>
          <p:cNvSpPr/>
          <p:nvPr/>
        </p:nvSpPr>
        <p:spPr>
          <a:xfrm rot="5400000">
            <a:off x="18155701" y="6490204"/>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1" name="Freeform 81"/>
          <p:cNvSpPr/>
          <p:nvPr/>
        </p:nvSpPr>
        <p:spPr>
          <a:xfrm rot="5400000">
            <a:off x="15890322" y="3577627"/>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82" name="Group 82"/>
          <p:cNvGrpSpPr/>
          <p:nvPr/>
        </p:nvGrpSpPr>
        <p:grpSpPr>
          <a:xfrm>
            <a:off x="16043603" y="3499619"/>
            <a:ext cx="972756" cy="1131934"/>
            <a:chOff x="0" y="0"/>
            <a:chExt cx="698500" cy="812800"/>
          </a:xfrm>
        </p:grpSpPr>
        <p:sp>
          <p:nvSpPr>
            <p:cNvPr id="83" name="Freeform 83"/>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TextBox 84"/>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5" name="Group 85"/>
          <p:cNvGrpSpPr/>
          <p:nvPr/>
        </p:nvGrpSpPr>
        <p:grpSpPr>
          <a:xfrm>
            <a:off x="16156644" y="3631157"/>
            <a:ext cx="746675" cy="868858"/>
            <a:chOff x="0" y="0"/>
            <a:chExt cx="698500" cy="812800"/>
          </a:xfrm>
        </p:grpSpPr>
        <p:sp>
          <p:nvSpPr>
            <p:cNvPr id="86" name="Freeform 86"/>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27ED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7" name="TextBox 87"/>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88" name="Freeform 88"/>
          <p:cNvSpPr/>
          <p:nvPr/>
        </p:nvSpPr>
        <p:spPr>
          <a:xfrm rot="5400000">
            <a:off x="12120414" y="2577231"/>
            <a:ext cx="1279319" cy="1123303"/>
          </a:xfrm>
          <a:custGeom>
            <a:avLst/>
            <a:gdLst/>
            <a:ahLst/>
            <a:cxnLst/>
            <a:rect l="l" t="t" r="r" b="b"/>
            <a:pathLst>
              <a:path w="1279319" h="1123303">
                <a:moveTo>
                  <a:pt x="0" y="0"/>
                </a:moveTo>
                <a:lnTo>
                  <a:pt x="1279319" y="0"/>
                </a:lnTo>
                <a:lnTo>
                  <a:pt x="1279319" y="1123303"/>
                </a:lnTo>
                <a:lnTo>
                  <a:pt x="0" y="1123303"/>
                </a:lnTo>
                <a:lnTo>
                  <a:pt x="0" y="0"/>
                </a:lnTo>
                <a:close/>
              </a:path>
            </a:pathLst>
          </a:custGeom>
          <a:blipFill>
            <a:blip r:embed="rId3">
              <a:alphaModFix amt="12000"/>
            </a:blip>
            <a:stretch>
              <a:fillRect l="-680" r="-680"/>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89" name="Group 89"/>
          <p:cNvGrpSpPr/>
          <p:nvPr/>
        </p:nvGrpSpPr>
        <p:grpSpPr>
          <a:xfrm>
            <a:off x="12348969" y="2499223"/>
            <a:ext cx="972756" cy="1131934"/>
            <a:chOff x="0" y="0"/>
            <a:chExt cx="698500" cy="812800"/>
          </a:xfrm>
        </p:grpSpPr>
        <p:sp>
          <p:nvSpPr>
            <p:cNvPr id="90" name="Freeform 90"/>
            <p:cNvSpPr/>
            <p:nvPr/>
          </p:nvSpPr>
          <p:spPr>
            <a:xfrm>
              <a:off x="0" y="18449"/>
              <a:ext cx="698500" cy="775902"/>
            </a:xfrm>
            <a:custGeom>
              <a:avLst/>
              <a:gdLst/>
              <a:ahLst/>
              <a:cxnLst/>
              <a:rect l="l" t="t" r="r" b="b"/>
              <a:pathLst>
                <a:path w="698500" h="775902">
                  <a:moveTo>
                    <a:pt x="408368" y="15947"/>
                  </a:moveTo>
                  <a:lnTo>
                    <a:pt x="639382" y="150355"/>
                  </a:lnTo>
                  <a:cubicBezTo>
                    <a:pt x="675983" y="171650"/>
                    <a:pt x="698500" y="210801"/>
                    <a:pt x="698500" y="253146"/>
                  </a:cubicBezTo>
                  <a:lnTo>
                    <a:pt x="698500" y="522756"/>
                  </a:lnTo>
                  <a:cubicBezTo>
                    <a:pt x="698500" y="565101"/>
                    <a:pt x="675983" y="604252"/>
                    <a:pt x="639382" y="625547"/>
                  </a:cubicBezTo>
                  <a:lnTo>
                    <a:pt x="408368" y="759955"/>
                  </a:lnTo>
                  <a:cubicBezTo>
                    <a:pt x="371823" y="781217"/>
                    <a:pt x="326677" y="781217"/>
                    <a:pt x="290132" y="759955"/>
                  </a:cubicBezTo>
                  <a:lnTo>
                    <a:pt x="59118" y="625547"/>
                  </a:lnTo>
                  <a:cubicBezTo>
                    <a:pt x="22517" y="604252"/>
                    <a:pt x="0" y="565101"/>
                    <a:pt x="0" y="522756"/>
                  </a:cubicBezTo>
                  <a:lnTo>
                    <a:pt x="0" y="253146"/>
                  </a:lnTo>
                  <a:cubicBezTo>
                    <a:pt x="0" y="210801"/>
                    <a:pt x="22517" y="171650"/>
                    <a:pt x="59118" y="150355"/>
                  </a:cubicBezTo>
                  <a:lnTo>
                    <a:pt x="290132" y="15947"/>
                  </a:lnTo>
                  <a:cubicBezTo>
                    <a:pt x="326677" y="-5315"/>
                    <a:pt x="371823" y="-5315"/>
                    <a:pt x="408368" y="15947"/>
                  </a:cubicBezTo>
                  <a:close/>
                </a:path>
              </a:pathLst>
            </a:custGeom>
            <a:solidFill>
              <a:srgbClr val="FCFDFE"/>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1" name="TextBox 91"/>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2" name="Group 92"/>
          <p:cNvGrpSpPr/>
          <p:nvPr/>
        </p:nvGrpSpPr>
        <p:grpSpPr>
          <a:xfrm>
            <a:off x="12437902" y="2605012"/>
            <a:ext cx="746675" cy="868858"/>
            <a:chOff x="0" y="0"/>
            <a:chExt cx="698500" cy="812800"/>
          </a:xfrm>
        </p:grpSpPr>
        <p:sp>
          <p:nvSpPr>
            <p:cNvPr id="93" name="Freeform 93"/>
            <p:cNvSpPr/>
            <p:nvPr/>
          </p:nvSpPr>
          <p:spPr>
            <a:xfrm>
              <a:off x="0" y="12018"/>
              <a:ext cx="698500" cy="788765"/>
            </a:xfrm>
            <a:custGeom>
              <a:avLst/>
              <a:gdLst/>
              <a:ahLst/>
              <a:cxnLst/>
              <a:rect l="l" t="t" r="r" b="b"/>
              <a:pathLst>
                <a:path w="698500" h="788765">
                  <a:moveTo>
                    <a:pt x="387759" y="10387"/>
                  </a:moveTo>
                  <a:lnTo>
                    <a:pt x="659991" y="168777"/>
                  </a:lnTo>
                  <a:cubicBezTo>
                    <a:pt x="683833" y="182648"/>
                    <a:pt x="698500" y="208151"/>
                    <a:pt x="698500" y="235734"/>
                  </a:cubicBezTo>
                  <a:lnTo>
                    <a:pt x="698500" y="553030"/>
                  </a:lnTo>
                  <a:cubicBezTo>
                    <a:pt x="698500" y="580613"/>
                    <a:pt x="683833" y="606116"/>
                    <a:pt x="659991" y="619987"/>
                  </a:cubicBezTo>
                  <a:lnTo>
                    <a:pt x="387759" y="778377"/>
                  </a:lnTo>
                  <a:cubicBezTo>
                    <a:pt x="363954" y="792227"/>
                    <a:pt x="334546" y="792227"/>
                    <a:pt x="310741" y="778377"/>
                  </a:cubicBezTo>
                  <a:lnTo>
                    <a:pt x="38509" y="619987"/>
                  </a:lnTo>
                  <a:cubicBezTo>
                    <a:pt x="14667" y="606116"/>
                    <a:pt x="0" y="580613"/>
                    <a:pt x="0" y="553030"/>
                  </a:cubicBezTo>
                  <a:lnTo>
                    <a:pt x="0" y="235734"/>
                  </a:lnTo>
                  <a:cubicBezTo>
                    <a:pt x="0" y="208151"/>
                    <a:pt x="14667" y="182648"/>
                    <a:pt x="38509" y="168777"/>
                  </a:cubicBezTo>
                  <a:lnTo>
                    <a:pt x="310741" y="10387"/>
                  </a:lnTo>
                  <a:cubicBezTo>
                    <a:pt x="334546" y="-3463"/>
                    <a:pt x="363954" y="-3463"/>
                    <a:pt x="387759" y="10387"/>
                  </a:cubicBezTo>
                  <a:close/>
                </a:path>
              </a:pathLst>
            </a:custGeom>
            <a:solidFill>
              <a:srgbClr val="FFD500"/>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TextBox 94"/>
            <p:cNvSpPr txBox="1"/>
            <p:nvPr/>
          </p:nvSpPr>
          <p:spPr>
            <a:xfrm>
              <a:off x="0" y="92075"/>
              <a:ext cx="698500" cy="581025"/>
            </a:xfrm>
            <a:prstGeom prst="rect">
              <a:avLst/>
            </a:prstGeom>
          </p:spPr>
          <p:txBody>
            <a:bodyPr lIns="50800" tIns="50800" rIns="50800" bIns="50800" rtlCol="0" anchor="ctr"/>
            <a:lstStyle/>
            <a:p>
              <a:pPr marL="0" marR="0" lvl="0" indent="0" algn="ctr" defTabSz="914400" rtl="0" eaLnBrk="1" fontAlgn="auto" latinLnBrk="0" hangingPunct="1">
                <a:lnSpc>
                  <a:spcPts val="2488"/>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5" name="Group 95"/>
          <p:cNvGrpSpPr/>
          <p:nvPr/>
        </p:nvGrpSpPr>
        <p:grpSpPr>
          <a:xfrm>
            <a:off x="7339861" y="6269875"/>
            <a:ext cx="934436" cy="1476953"/>
            <a:chOff x="0" y="0"/>
            <a:chExt cx="1245915" cy="1969271"/>
          </a:xfrm>
        </p:grpSpPr>
        <p:grpSp>
          <p:nvGrpSpPr>
            <p:cNvPr id="96" name="Group 96"/>
            <p:cNvGrpSpPr/>
            <p:nvPr/>
          </p:nvGrpSpPr>
          <p:grpSpPr>
            <a:xfrm rot="2700000">
              <a:off x="-41282" y="427997"/>
              <a:ext cx="1359301" cy="359099"/>
              <a:chOff x="0" y="0"/>
              <a:chExt cx="286410" cy="75663"/>
            </a:xfrm>
          </p:grpSpPr>
          <p:sp>
            <p:nvSpPr>
              <p:cNvPr id="97" name="Freeform 97"/>
              <p:cNvSpPr/>
              <p:nvPr/>
            </p:nvSpPr>
            <p:spPr>
              <a:xfrm>
                <a:off x="0" y="0"/>
                <a:ext cx="286410" cy="75663"/>
              </a:xfrm>
              <a:custGeom>
                <a:avLst/>
                <a:gdLst/>
                <a:ahLst/>
                <a:cxnLst/>
                <a:rect l="l" t="t" r="r" b="b"/>
                <a:pathLst>
                  <a:path w="286410" h="75663">
                    <a:moveTo>
                      <a:pt x="37832" y="0"/>
                    </a:moveTo>
                    <a:lnTo>
                      <a:pt x="248578" y="0"/>
                    </a:lnTo>
                    <a:cubicBezTo>
                      <a:pt x="269472" y="0"/>
                      <a:pt x="286410" y="16938"/>
                      <a:pt x="286410" y="37832"/>
                    </a:cubicBezTo>
                    <a:lnTo>
                      <a:pt x="286410" y="37832"/>
                    </a:lnTo>
                    <a:cubicBezTo>
                      <a:pt x="286410" y="47865"/>
                      <a:pt x="282424" y="57488"/>
                      <a:pt x="275329" y="64583"/>
                    </a:cubicBezTo>
                    <a:cubicBezTo>
                      <a:pt x="268234" y="71678"/>
                      <a:pt x="258612" y="75663"/>
                      <a:pt x="248578"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8"/>
              <p:cNvSpPr txBox="1"/>
              <p:nvPr/>
            </p:nvSpPr>
            <p:spPr>
              <a:xfrm>
                <a:off x="0" y="-28575"/>
                <a:ext cx="286410"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9" name="Group 99"/>
            <p:cNvGrpSpPr/>
            <p:nvPr/>
          </p:nvGrpSpPr>
          <p:grpSpPr>
            <a:xfrm rot="-2700000">
              <a:off x="-78488" y="1166764"/>
              <a:ext cx="1402891" cy="359099"/>
              <a:chOff x="0" y="0"/>
              <a:chExt cx="295594" cy="75663"/>
            </a:xfrm>
          </p:grpSpPr>
          <p:sp>
            <p:nvSpPr>
              <p:cNvPr id="100" name="Freeform 100"/>
              <p:cNvSpPr/>
              <p:nvPr/>
            </p:nvSpPr>
            <p:spPr>
              <a:xfrm>
                <a:off x="0" y="0"/>
                <a:ext cx="295594" cy="75663"/>
              </a:xfrm>
              <a:custGeom>
                <a:avLst/>
                <a:gdLst/>
                <a:ahLst/>
                <a:cxnLst/>
                <a:rect l="l" t="t" r="r" b="b"/>
                <a:pathLst>
                  <a:path w="295594" h="75663">
                    <a:moveTo>
                      <a:pt x="37832" y="0"/>
                    </a:moveTo>
                    <a:lnTo>
                      <a:pt x="257763" y="0"/>
                    </a:lnTo>
                    <a:cubicBezTo>
                      <a:pt x="267796" y="0"/>
                      <a:pt x="277419" y="3986"/>
                      <a:pt x="284514" y="11081"/>
                    </a:cubicBezTo>
                    <a:cubicBezTo>
                      <a:pt x="291609" y="18175"/>
                      <a:pt x="295594" y="27798"/>
                      <a:pt x="295594" y="37832"/>
                    </a:cubicBezTo>
                    <a:lnTo>
                      <a:pt x="295594" y="37832"/>
                    </a:lnTo>
                    <a:cubicBezTo>
                      <a:pt x="295594" y="58726"/>
                      <a:pt x="278657" y="75663"/>
                      <a:pt x="257763"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TextBox 101"/>
              <p:cNvSpPr txBox="1"/>
              <p:nvPr/>
            </p:nvSpPr>
            <p:spPr>
              <a:xfrm>
                <a:off x="0" y="-28575"/>
                <a:ext cx="295594"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102" name="Freeform 102"/>
          <p:cNvSpPr/>
          <p:nvPr/>
        </p:nvSpPr>
        <p:spPr>
          <a:xfrm>
            <a:off x="16132536" y="3901143"/>
            <a:ext cx="794890" cy="328886"/>
          </a:xfrm>
          <a:custGeom>
            <a:avLst/>
            <a:gdLst/>
            <a:ahLst/>
            <a:cxnLst/>
            <a:rect l="l" t="t" r="r" b="b"/>
            <a:pathLst>
              <a:path w="794890" h="328886">
                <a:moveTo>
                  <a:pt x="0" y="0"/>
                </a:moveTo>
                <a:lnTo>
                  <a:pt x="794890" y="0"/>
                </a:lnTo>
                <a:lnTo>
                  <a:pt x="794890" y="328886"/>
                </a:lnTo>
                <a:lnTo>
                  <a:pt x="0" y="32888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Freeform 103"/>
          <p:cNvSpPr/>
          <p:nvPr/>
        </p:nvSpPr>
        <p:spPr>
          <a:xfrm>
            <a:off x="12451670" y="2721306"/>
            <a:ext cx="767354" cy="520842"/>
          </a:xfrm>
          <a:custGeom>
            <a:avLst/>
            <a:gdLst/>
            <a:ahLst/>
            <a:cxnLst/>
            <a:rect l="l" t="t" r="r" b="b"/>
            <a:pathLst>
              <a:path w="767354" h="520842">
                <a:moveTo>
                  <a:pt x="0" y="0"/>
                </a:moveTo>
                <a:lnTo>
                  <a:pt x="767354" y="0"/>
                </a:lnTo>
                <a:lnTo>
                  <a:pt x="767354" y="520842"/>
                </a:lnTo>
                <a:lnTo>
                  <a:pt x="0" y="520842"/>
                </a:lnTo>
                <a:lnTo>
                  <a:pt x="0" y="0"/>
                </a:lnTo>
                <a:close/>
              </a:path>
            </a:pathLst>
          </a:custGeom>
          <a:blipFill>
            <a:blip r:embed="rId10"/>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Freeform 104"/>
          <p:cNvSpPr/>
          <p:nvPr/>
        </p:nvSpPr>
        <p:spPr>
          <a:xfrm>
            <a:off x="9529850" y="6649580"/>
            <a:ext cx="564341" cy="657166"/>
          </a:xfrm>
          <a:custGeom>
            <a:avLst/>
            <a:gdLst/>
            <a:ahLst/>
            <a:cxnLst/>
            <a:rect l="l" t="t" r="r" b="b"/>
            <a:pathLst>
              <a:path w="564341" h="657166">
                <a:moveTo>
                  <a:pt x="0" y="0"/>
                </a:moveTo>
                <a:lnTo>
                  <a:pt x="564341" y="0"/>
                </a:lnTo>
                <a:lnTo>
                  <a:pt x="564341" y="657166"/>
                </a:lnTo>
                <a:lnTo>
                  <a:pt x="0" y="657166"/>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5" name="Freeform 105"/>
          <p:cNvSpPr/>
          <p:nvPr/>
        </p:nvSpPr>
        <p:spPr>
          <a:xfrm rot="2166638">
            <a:off x="16210831" y="3861180"/>
            <a:ext cx="689979" cy="408812"/>
          </a:xfrm>
          <a:custGeom>
            <a:avLst/>
            <a:gdLst/>
            <a:ahLst/>
            <a:cxnLst/>
            <a:rect l="l" t="t" r="r" b="b"/>
            <a:pathLst>
              <a:path w="689979" h="408812">
                <a:moveTo>
                  <a:pt x="0" y="0"/>
                </a:moveTo>
                <a:lnTo>
                  <a:pt x="689978" y="0"/>
                </a:lnTo>
                <a:lnTo>
                  <a:pt x="689978" y="408812"/>
                </a:lnTo>
                <a:lnTo>
                  <a:pt x="0" y="408812"/>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 name="Freeform 106"/>
          <p:cNvSpPr/>
          <p:nvPr/>
        </p:nvSpPr>
        <p:spPr>
          <a:xfrm>
            <a:off x="5607624" y="6649580"/>
            <a:ext cx="445893" cy="658144"/>
          </a:xfrm>
          <a:custGeom>
            <a:avLst/>
            <a:gdLst/>
            <a:ahLst/>
            <a:cxnLst/>
            <a:rect l="l" t="t" r="r" b="b"/>
            <a:pathLst>
              <a:path w="445893" h="658144">
                <a:moveTo>
                  <a:pt x="0" y="0"/>
                </a:moveTo>
                <a:lnTo>
                  <a:pt x="445893" y="0"/>
                </a:lnTo>
                <a:lnTo>
                  <a:pt x="445893" y="658144"/>
                </a:lnTo>
                <a:lnTo>
                  <a:pt x="0" y="658144"/>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B109E-5971-557F-04B1-78749A6CF2BB}"/>
              </a:ext>
            </a:extLst>
          </p:cNvPr>
          <p:cNvSpPr>
            <a:spLocks noGrp="1"/>
          </p:cNvSpPr>
          <p:nvPr>
            <p:ph type="title"/>
          </p:nvPr>
        </p:nvSpPr>
        <p:spPr>
          <a:xfrm>
            <a:off x="457200" y="0"/>
            <a:ext cx="16916400" cy="1143000"/>
          </a:xfrm>
        </p:spPr>
        <p:txBody>
          <a:bodyPr>
            <a:normAutofit/>
          </a:bodyPr>
          <a:lstStyle/>
          <a:p>
            <a:r>
              <a:rPr lang="en-US" sz="6600" dirty="0">
                <a:solidFill>
                  <a:schemeClr val="tx2"/>
                </a:solidFill>
              </a:rPr>
              <a:t>Introduction</a:t>
            </a:r>
          </a:p>
        </p:txBody>
      </p:sp>
      <p:sp>
        <p:nvSpPr>
          <p:cNvPr id="5" name="Freeform 2"/>
          <p:cNvSpPr/>
          <p:nvPr/>
        </p:nvSpPr>
        <p:spPr>
          <a:xfrm flipH="1">
            <a:off x="14249400" y="7124700"/>
            <a:ext cx="5124450" cy="4614680"/>
          </a:xfrm>
          <a:custGeom>
            <a:avLst/>
            <a:gdLst/>
            <a:ahLst/>
            <a:cxnLst/>
            <a:rect l="l" t="t" r="r" b="b"/>
            <a:pathLst>
              <a:path w="6191250" h="6333760">
                <a:moveTo>
                  <a:pt x="6191250" y="0"/>
                </a:moveTo>
                <a:lnTo>
                  <a:pt x="0" y="0"/>
                </a:lnTo>
                <a:lnTo>
                  <a:pt x="0" y="6333759"/>
                </a:lnTo>
                <a:lnTo>
                  <a:pt x="6191250" y="6333759"/>
                </a:lnTo>
                <a:lnTo>
                  <a:pt x="619125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3" name="Content Placeholder 2">
            <a:extLst>
              <a:ext uri="{FF2B5EF4-FFF2-40B4-BE49-F238E27FC236}">
                <a16:creationId xmlns:a16="http://schemas.microsoft.com/office/drawing/2014/main" id="{20904670-F702-784E-47C5-ACE958771B8E}"/>
              </a:ext>
            </a:extLst>
          </p:cNvPr>
          <p:cNvSpPr>
            <a:spLocks noGrp="1"/>
          </p:cNvSpPr>
          <p:nvPr>
            <p:ph sz="half" idx="1"/>
          </p:nvPr>
        </p:nvSpPr>
        <p:spPr>
          <a:xfrm>
            <a:off x="457200" y="1257300"/>
            <a:ext cx="17221200" cy="9067800"/>
          </a:xfrm>
        </p:spPr>
        <p:txBody>
          <a:bodyPr>
            <a:normAutofit/>
          </a:bodyPr>
          <a:lstStyle/>
          <a:p>
            <a:r>
              <a:rPr lang="en-US" sz="3600" b="1" dirty="0"/>
              <a:t>Real-world time series data </a:t>
            </a:r>
            <a:r>
              <a:rPr lang="en-US" sz="3600" dirty="0"/>
              <a:t>is rarely, if ever, clean, fully observed, and made of regularly sampled sequences</a:t>
            </a:r>
          </a:p>
          <a:p>
            <a:r>
              <a:rPr lang="en-US" sz="3600" b="1" dirty="0"/>
              <a:t>Prior research</a:t>
            </a:r>
            <a:r>
              <a:rPr lang="en-US" sz="3600" dirty="0"/>
              <a:t>:</a:t>
            </a:r>
          </a:p>
          <a:p>
            <a:pPr lvl="1"/>
            <a:r>
              <a:rPr lang="en-US" sz="3200" dirty="0"/>
              <a:t>Traditional time series approaches require non-uniformly sampled data be converted into uniform or textual data but these transformations face interpretability results</a:t>
            </a:r>
          </a:p>
          <a:p>
            <a:pPr lvl="2"/>
            <a:r>
              <a:rPr lang="en-US" sz="2800" b="1" dirty="0"/>
              <a:t>Missingness</a:t>
            </a:r>
            <a:r>
              <a:rPr lang="en-US" sz="2800" dirty="0"/>
              <a:t> in time series is especially informative in real world time series data and should not be discarded</a:t>
            </a:r>
          </a:p>
          <a:p>
            <a:pPr lvl="2"/>
            <a:r>
              <a:rPr lang="en-US" sz="2800" dirty="0"/>
              <a:t> </a:t>
            </a:r>
            <a:r>
              <a:rPr lang="en-US" sz="2800" b="1" dirty="0"/>
              <a:t>Text alignment </a:t>
            </a:r>
            <a:r>
              <a:rPr lang="en-US" sz="2800" dirty="0"/>
              <a:t>with LLMs is known to improve prediction accuracy and enhance interpretability</a:t>
            </a:r>
          </a:p>
          <a:p>
            <a:pPr lvl="1"/>
            <a:r>
              <a:rPr lang="en-US" sz="3200" dirty="0"/>
              <a:t>Gated recurrent neural networks (</a:t>
            </a:r>
            <a:r>
              <a:rPr lang="en-US" sz="3200" b="1" dirty="0"/>
              <a:t>RNN-GRU</a:t>
            </a:r>
            <a:r>
              <a:rPr lang="en-US" sz="3200" dirty="0"/>
              <a:t>) can model consecutive data due to update and reset gates</a:t>
            </a:r>
          </a:p>
          <a:p>
            <a:pPr lvl="2"/>
            <a:r>
              <a:rPr lang="en-US" sz="2800" dirty="0"/>
              <a:t>Determine the necessary information to be kept in the memory</a:t>
            </a:r>
          </a:p>
          <a:p>
            <a:pPr lvl="2"/>
            <a:r>
              <a:rPr lang="en-US" sz="2800" dirty="0"/>
              <a:t>RNN-GRU is a simpler structure of long short-term memory (RNN-LSTM) </a:t>
            </a:r>
          </a:p>
          <a:p>
            <a:pPr lvl="1"/>
            <a:r>
              <a:rPr lang="en-US" sz="3600" dirty="0"/>
              <a:t>t-</a:t>
            </a:r>
            <a:r>
              <a:rPr lang="en-US" sz="3600" dirty="0" err="1"/>
              <a:t>PatchGNN</a:t>
            </a:r>
            <a:r>
              <a:rPr lang="en-US" sz="3600" dirty="0"/>
              <a:t>, designed specifically for application in irregular multivariate                              time-series, provides </a:t>
            </a:r>
            <a:r>
              <a:rPr lang="en-US" sz="3600"/>
              <a:t>better forecasting</a:t>
            </a:r>
            <a:endParaRPr lang="en-US" sz="3600" dirty="0"/>
          </a:p>
        </p:txBody>
      </p:sp>
    </p:spTree>
    <p:extLst>
      <p:ext uri="{BB962C8B-B14F-4D97-AF65-F5344CB8AC3E}">
        <p14:creationId xmlns:p14="http://schemas.microsoft.com/office/powerpoint/2010/main" val="4183037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A004-543B-7C20-1F07-7C5D2FA4D196}"/>
              </a:ext>
            </a:extLst>
          </p:cNvPr>
          <p:cNvSpPr>
            <a:spLocks noGrp="1"/>
          </p:cNvSpPr>
          <p:nvPr>
            <p:ph type="title"/>
          </p:nvPr>
        </p:nvSpPr>
        <p:spPr>
          <a:xfrm>
            <a:off x="178380" y="132057"/>
            <a:ext cx="17373600" cy="1143000"/>
          </a:xfrm>
        </p:spPr>
        <p:txBody>
          <a:bodyPr>
            <a:normAutofit/>
          </a:bodyPr>
          <a:lstStyle/>
          <a:p>
            <a:pPr algn="l"/>
            <a:r>
              <a:rPr lang="en-US" sz="6600" b="1" dirty="0">
                <a:solidFill>
                  <a:schemeClr val="tx2"/>
                </a:solidFill>
              </a:rPr>
              <a:t>Introduction</a:t>
            </a:r>
          </a:p>
        </p:txBody>
      </p:sp>
      <p:sp>
        <p:nvSpPr>
          <p:cNvPr id="3" name="Content Placeholder 2">
            <a:extLst>
              <a:ext uri="{FF2B5EF4-FFF2-40B4-BE49-F238E27FC236}">
                <a16:creationId xmlns:a16="http://schemas.microsoft.com/office/drawing/2014/main" id="{90CE0F4B-AC42-E0FF-6BCA-62BB12569FE4}"/>
              </a:ext>
            </a:extLst>
          </p:cNvPr>
          <p:cNvSpPr>
            <a:spLocks noGrp="1"/>
          </p:cNvSpPr>
          <p:nvPr>
            <p:ph sz="half" idx="1"/>
          </p:nvPr>
        </p:nvSpPr>
        <p:spPr>
          <a:xfrm>
            <a:off x="431732" y="1275057"/>
            <a:ext cx="10058400" cy="8763000"/>
          </a:xfrm>
        </p:spPr>
        <p:txBody>
          <a:bodyPr vert="horz" lIns="91440" tIns="45720" rIns="91440" bIns="45720" rtlCol="0" anchor="t">
            <a:normAutofit fontScale="85000" lnSpcReduction="10000"/>
          </a:bodyPr>
          <a:lstStyle/>
          <a:p>
            <a:r>
              <a:rPr lang="en-US" sz="3600" dirty="0"/>
              <a:t>The need for modeling frameworks that utilize irregular, asynchronous, multimodal, and missing-rich data was the motivation for: </a:t>
            </a:r>
          </a:p>
          <a:p>
            <a:pPr lvl="1"/>
            <a:r>
              <a:rPr lang="en-US" sz="3200" dirty="0"/>
              <a:t>Chang, C. et al. (2025). Time-IMM: A dataset and benchmark for irregular multimodal multivariate time series. </a:t>
            </a:r>
            <a:r>
              <a:rPr lang="en-US" sz="3200" dirty="0" err="1"/>
              <a:t>arXiv</a:t>
            </a:r>
            <a:r>
              <a:rPr lang="en-US" sz="3200" dirty="0"/>
              <a:t>. </a:t>
            </a:r>
            <a:r>
              <a:rPr lang="en-US" sz="3200"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https://doi.org/10.48550/arXiv.2506.10412</a:t>
            </a:r>
            <a:r>
              <a:rPr lang="en-US" sz="3200" dirty="0">
                <a:solidFill>
                  <a:schemeClr val="accent6">
                    <a:lumMod val="60000"/>
                    <a:lumOff val="40000"/>
                  </a:schemeClr>
                </a:solidFill>
              </a:rPr>
              <a:t> </a:t>
            </a:r>
          </a:p>
          <a:p>
            <a:r>
              <a:rPr lang="en-US" sz="3600" dirty="0"/>
              <a:t>The paper defines 3 types of irregularity mechanisms:</a:t>
            </a:r>
          </a:p>
          <a:p>
            <a:pPr lvl="1"/>
            <a:r>
              <a:rPr lang="en-US" sz="3200" dirty="0"/>
              <a:t>Trigger based</a:t>
            </a:r>
          </a:p>
          <a:p>
            <a:pPr lvl="1"/>
            <a:r>
              <a:rPr lang="en-US" sz="3200" dirty="0"/>
              <a:t>Artifact based</a:t>
            </a:r>
          </a:p>
          <a:p>
            <a:pPr lvl="1"/>
            <a:r>
              <a:rPr lang="en-US" sz="3200" dirty="0"/>
              <a:t>Constraint based</a:t>
            </a:r>
          </a:p>
          <a:p>
            <a:r>
              <a:rPr lang="en-US" sz="3900" b="1" dirty="0"/>
              <a:t>The purpose of this project was:</a:t>
            </a:r>
          </a:p>
          <a:p>
            <a:pPr marL="1028700" lvl="1" indent="-571500">
              <a:spcBef>
                <a:spcPts val="0"/>
              </a:spcBef>
              <a:buSzPct val="50000"/>
              <a:buFont typeface="Times New Roman" panose="02020603050405020304" pitchFamily="18" charset="0"/>
              <a:buChar char="►"/>
            </a:pPr>
            <a:r>
              <a:rPr lang="en-US" sz="4200" b="1" dirty="0"/>
              <a:t>First</a:t>
            </a:r>
            <a:r>
              <a:rPr lang="en-US" sz="4200" dirty="0"/>
              <a:t>, to develop a reliability-aware gated fusion (RA-</a:t>
            </a:r>
            <a:r>
              <a:rPr lang="en-US" sz="4200" dirty="0" err="1"/>
              <a:t>GRAdd</a:t>
            </a:r>
            <a:r>
              <a:rPr lang="en-US" sz="4200" dirty="0"/>
              <a:t>) variant of the IMM-TSF framework.</a:t>
            </a:r>
          </a:p>
          <a:p>
            <a:pPr marL="1485900" lvl="2" indent="-571500">
              <a:spcBef>
                <a:spcPts val="0"/>
              </a:spcBef>
              <a:buSzPct val="50000"/>
              <a:buFont typeface="Courier New" panose="02070309020205020404" pitchFamily="49" charset="0"/>
              <a:buChar char="o"/>
            </a:pPr>
            <a:r>
              <a:rPr lang="en-US" sz="3800" dirty="0"/>
              <a:t>Weighting asynchronous text relative to irregular time-series observations</a:t>
            </a:r>
          </a:p>
          <a:p>
            <a:pPr marL="1485900" lvl="2" indent="-571500">
              <a:spcBef>
                <a:spcPts val="0"/>
              </a:spcBef>
              <a:buSzPct val="50000"/>
              <a:buFont typeface="Courier New" panose="02070309020205020404" pitchFamily="49" charset="0"/>
              <a:buChar char="o"/>
            </a:pPr>
            <a:r>
              <a:rPr lang="en-US" sz="3800" dirty="0"/>
              <a:t>Taking text recency, density in time, alignment, and missingness into account prior to inclusion</a:t>
            </a:r>
          </a:p>
          <a:p>
            <a:pPr marL="1028700" lvl="1" indent="-571500">
              <a:spcBef>
                <a:spcPts val="0"/>
              </a:spcBef>
              <a:buSzPct val="50000"/>
              <a:buFont typeface="Times New Roman" panose="02020603050405020304" pitchFamily="18" charset="0"/>
              <a:buChar char="►"/>
            </a:pPr>
            <a:r>
              <a:rPr lang="en-US" sz="4200" b="1" dirty="0"/>
              <a:t>Second</a:t>
            </a:r>
            <a:r>
              <a:rPr lang="en-US" sz="4200" dirty="0"/>
              <a:t>, our study altered the original</a:t>
            </a:r>
          </a:p>
        </p:txBody>
      </p:sp>
      <p:pic>
        <p:nvPicPr>
          <p:cNvPr id="6" name="Content Placeholder 5">
            <a:extLst>
              <a:ext uri="{FF2B5EF4-FFF2-40B4-BE49-F238E27FC236}">
                <a16:creationId xmlns:a16="http://schemas.microsoft.com/office/drawing/2014/main" id="{A98D619C-884B-7BE6-46FD-62CBD6FF51C2}"/>
              </a:ext>
            </a:extLst>
          </p:cNvPr>
          <p:cNvPicPr>
            <a:picLocks noGrp="1" noChangeAspect="1"/>
          </p:cNvPicPr>
          <p:nvPr>
            <p:ph sz="half" idx="2"/>
          </p:nvPr>
        </p:nvPicPr>
        <p:blipFill>
          <a:blip r:embed="rId3"/>
          <a:srcRect l="15354" t="10153" r="15013"/>
          <a:stretch>
            <a:fillRect/>
          </a:stretch>
        </p:blipFill>
        <p:spPr>
          <a:xfrm>
            <a:off x="11287573" y="274638"/>
            <a:ext cx="6264407" cy="6139329"/>
          </a:xfrm>
          <a:prstGeom prst="rect">
            <a:avLst/>
          </a:prstGeom>
        </p:spPr>
      </p:pic>
      <p:pic>
        <p:nvPicPr>
          <p:cNvPr id="8" name="Picture 7">
            <a:extLst>
              <a:ext uri="{FF2B5EF4-FFF2-40B4-BE49-F238E27FC236}">
                <a16:creationId xmlns:a16="http://schemas.microsoft.com/office/drawing/2014/main" id="{3D5903AC-5F9A-D6C5-D012-8E5E3AD670A7}"/>
              </a:ext>
            </a:extLst>
          </p:cNvPr>
          <p:cNvPicPr>
            <a:picLocks noChangeAspect="1"/>
          </p:cNvPicPr>
          <p:nvPr/>
        </p:nvPicPr>
        <p:blipFill>
          <a:blip r:embed="rId4"/>
          <a:srcRect l="7311" t="5861"/>
          <a:stretch>
            <a:fillRect/>
          </a:stretch>
        </p:blipFill>
        <p:spPr>
          <a:xfrm>
            <a:off x="10525574" y="5321595"/>
            <a:ext cx="7229026" cy="4716462"/>
          </a:xfrm>
          <a:prstGeom prst="rect">
            <a:avLst/>
          </a:prstGeom>
        </p:spPr>
      </p:pic>
    </p:spTree>
    <p:extLst>
      <p:ext uri="{BB962C8B-B14F-4D97-AF65-F5344CB8AC3E}">
        <p14:creationId xmlns:p14="http://schemas.microsoft.com/office/powerpoint/2010/main" val="3846642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F8041-FCE8-AF7C-8C70-1CC92AEE1AB3}"/>
              </a:ext>
            </a:extLst>
          </p:cNvPr>
          <p:cNvSpPr>
            <a:spLocks noGrp="1"/>
          </p:cNvSpPr>
          <p:nvPr>
            <p:ph type="title"/>
          </p:nvPr>
        </p:nvSpPr>
        <p:spPr>
          <a:xfrm>
            <a:off x="457200" y="274638"/>
            <a:ext cx="16764000" cy="1143000"/>
          </a:xfrm>
        </p:spPr>
        <p:txBody>
          <a:bodyPr>
            <a:normAutofit/>
          </a:bodyPr>
          <a:lstStyle/>
          <a:p>
            <a:r>
              <a:rPr lang="en-US" sz="6000" b="1" dirty="0">
                <a:solidFill>
                  <a:schemeClr val="tx2"/>
                </a:solidFill>
              </a:rPr>
              <a:t>Methods</a:t>
            </a:r>
          </a:p>
        </p:txBody>
      </p:sp>
      <p:sp>
        <p:nvSpPr>
          <p:cNvPr id="3" name="Content Placeholder 2">
            <a:extLst>
              <a:ext uri="{FF2B5EF4-FFF2-40B4-BE49-F238E27FC236}">
                <a16:creationId xmlns:a16="http://schemas.microsoft.com/office/drawing/2014/main" id="{134FFC59-1C18-7752-94A6-1D7C1FBDAC74}"/>
              </a:ext>
            </a:extLst>
          </p:cNvPr>
          <p:cNvSpPr>
            <a:spLocks noGrp="1"/>
          </p:cNvSpPr>
          <p:nvPr>
            <p:ph sz="half" idx="1"/>
          </p:nvPr>
        </p:nvSpPr>
        <p:spPr>
          <a:xfrm>
            <a:off x="457200" y="1600200"/>
            <a:ext cx="17145000" cy="8267700"/>
          </a:xfrm>
        </p:spPr>
        <p:txBody>
          <a:bodyPr>
            <a:normAutofit/>
          </a:bodyPr>
          <a:lstStyle/>
          <a:p>
            <a:r>
              <a:rPr lang="en-US" sz="3600" b="1" dirty="0"/>
              <a:t>Reproduced</a:t>
            </a:r>
            <a:r>
              <a:rPr lang="en-US" sz="3600" dirty="0"/>
              <a:t> Chang et al. (2025) IMM-TSF methods for:</a:t>
            </a:r>
          </a:p>
          <a:p>
            <a:pPr lvl="1"/>
            <a:r>
              <a:rPr lang="en-US" sz="3600" dirty="0"/>
              <a:t>GDELT: Trigger Based</a:t>
            </a:r>
          </a:p>
          <a:p>
            <a:pPr lvl="1"/>
            <a:r>
              <a:rPr lang="en-US" sz="3600" dirty="0"/>
              <a:t>FNSPID: Artifact Based</a:t>
            </a:r>
          </a:p>
          <a:p>
            <a:pPr lvl="1"/>
            <a:r>
              <a:rPr lang="en-US" sz="3600" dirty="0"/>
              <a:t>CESNET: Constraint Based</a:t>
            </a:r>
          </a:p>
          <a:p>
            <a:pPr lvl="1"/>
            <a:r>
              <a:rPr lang="en-US" sz="3600" dirty="0" err="1"/>
              <a:t>ClusterTrace</a:t>
            </a:r>
            <a:r>
              <a:rPr lang="en-US" sz="3600" dirty="0"/>
              <a:t>: Artifact Based</a:t>
            </a:r>
          </a:p>
          <a:p>
            <a:pPr lvl="1"/>
            <a:r>
              <a:rPr lang="en-US" sz="3600" dirty="0"/>
              <a:t>MIMIC-IV: Trigger Based</a:t>
            </a:r>
          </a:p>
          <a:p>
            <a:r>
              <a:rPr lang="en-US" sz="3600" dirty="0"/>
              <a:t>Developed </a:t>
            </a:r>
            <a:r>
              <a:rPr lang="en-US" sz="3600" b="1" dirty="0"/>
              <a:t>reliability-aware gate</a:t>
            </a:r>
            <a:r>
              <a:rPr lang="en-US" sz="3600" dirty="0"/>
              <a:t> for multimodal fusion in IMM-TSF framework to make text inclusion more explicit</a:t>
            </a:r>
          </a:p>
          <a:p>
            <a:r>
              <a:rPr lang="en-US" sz="3600" dirty="0"/>
              <a:t>Forecasting head exchanged for </a:t>
            </a:r>
            <a:r>
              <a:rPr lang="en-US" sz="3600" b="1" dirty="0"/>
              <a:t>binary classification head</a:t>
            </a:r>
          </a:p>
          <a:p>
            <a:pPr lvl="1"/>
            <a:r>
              <a:rPr lang="en-US" sz="3600" dirty="0"/>
              <a:t>Binary cross entropy loss for classification</a:t>
            </a:r>
          </a:p>
          <a:p>
            <a:pPr marL="457200" lvl="1" indent="0">
              <a:buNone/>
            </a:pPr>
            <a:endParaRPr lang="en-US" sz="3600" dirty="0"/>
          </a:p>
          <a:p>
            <a:pPr marL="1371600" lvl="3" indent="0">
              <a:buNone/>
            </a:pPr>
            <a:r>
              <a:rPr lang="en-US" sz="3000" dirty="0"/>
              <a:t>				*</a:t>
            </a:r>
            <a:r>
              <a:rPr lang="en-US" sz="3200" i="1" dirty="0"/>
              <a:t>GPT-2, t-</a:t>
            </a:r>
            <a:r>
              <a:rPr lang="en-US" sz="3200" i="1" dirty="0" err="1"/>
              <a:t>PatchGNN</a:t>
            </a:r>
            <a:r>
              <a:rPr lang="en-US" sz="3200" i="1" dirty="0"/>
              <a:t> used for reproduction and extensions</a:t>
            </a:r>
          </a:p>
          <a:p>
            <a:pPr marL="1371600" lvl="3" indent="0">
              <a:buNone/>
            </a:pPr>
            <a:endParaRPr lang="en-US" sz="3000" dirty="0"/>
          </a:p>
        </p:txBody>
      </p:sp>
      <p:grpSp>
        <p:nvGrpSpPr>
          <p:cNvPr id="5" name="Group 60">
            <a:extLst>
              <a:ext uri="{FF2B5EF4-FFF2-40B4-BE49-F238E27FC236}">
                <a16:creationId xmlns:a16="http://schemas.microsoft.com/office/drawing/2014/main" id="{C84B9DFC-BE83-55CF-69D5-B7BA3E693CD5}"/>
              </a:ext>
            </a:extLst>
          </p:cNvPr>
          <p:cNvGrpSpPr/>
          <p:nvPr/>
        </p:nvGrpSpPr>
        <p:grpSpPr>
          <a:xfrm rot="5400000">
            <a:off x="11279269" y="252051"/>
            <a:ext cx="8853697" cy="269324"/>
            <a:chOff x="0" y="0"/>
            <a:chExt cx="2487343" cy="75663"/>
          </a:xfrm>
        </p:grpSpPr>
        <p:sp>
          <p:nvSpPr>
            <p:cNvPr id="6" name="Freeform 61">
              <a:extLst>
                <a:ext uri="{FF2B5EF4-FFF2-40B4-BE49-F238E27FC236}">
                  <a16:creationId xmlns:a16="http://schemas.microsoft.com/office/drawing/2014/main" id="{DC8FC9CB-D014-7F69-4F5D-4AB685387B8C}"/>
                </a:ext>
              </a:extLst>
            </p:cNvPr>
            <p:cNvSpPr/>
            <p:nvPr/>
          </p:nvSpPr>
          <p:spPr>
            <a:xfrm>
              <a:off x="0" y="0"/>
              <a:ext cx="2487344" cy="75663"/>
            </a:xfrm>
            <a:custGeom>
              <a:avLst/>
              <a:gdLst/>
              <a:ahLst/>
              <a:cxnLst/>
              <a:rect l="l" t="t" r="r" b="b"/>
              <a:pathLst>
                <a:path w="2487344" h="75663">
                  <a:moveTo>
                    <a:pt x="37832" y="0"/>
                  </a:moveTo>
                  <a:lnTo>
                    <a:pt x="2449512" y="0"/>
                  </a:lnTo>
                  <a:cubicBezTo>
                    <a:pt x="2470406" y="0"/>
                    <a:pt x="2487344" y="16938"/>
                    <a:pt x="2487344" y="37832"/>
                  </a:cubicBezTo>
                  <a:lnTo>
                    <a:pt x="2487344" y="37832"/>
                  </a:lnTo>
                  <a:cubicBezTo>
                    <a:pt x="2487344" y="47865"/>
                    <a:pt x="2483358" y="57488"/>
                    <a:pt x="2476263" y="64583"/>
                  </a:cubicBezTo>
                  <a:cubicBezTo>
                    <a:pt x="2469168" y="71678"/>
                    <a:pt x="2459545" y="75663"/>
                    <a:pt x="2449512"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62">
              <a:extLst>
                <a:ext uri="{FF2B5EF4-FFF2-40B4-BE49-F238E27FC236}">
                  <a16:creationId xmlns:a16="http://schemas.microsoft.com/office/drawing/2014/main" id="{EEB3C5AC-2407-6B92-2577-E2B0C592681C}"/>
                </a:ext>
              </a:extLst>
            </p:cNvPr>
            <p:cNvSpPr txBox="1"/>
            <p:nvPr/>
          </p:nvSpPr>
          <p:spPr>
            <a:xfrm>
              <a:off x="0" y="-28575"/>
              <a:ext cx="2487343"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95">
            <a:extLst>
              <a:ext uri="{FF2B5EF4-FFF2-40B4-BE49-F238E27FC236}">
                <a16:creationId xmlns:a16="http://schemas.microsoft.com/office/drawing/2014/main" id="{FAA1BEA9-FFFA-24F3-D79F-DA769C03EFCB}"/>
              </a:ext>
            </a:extLst>
          </p:cNvPr>
          <p:cNvGrpSpPr/>
          <p:nvPr/>
        </p:nvGrpSpPr>
        <p:grpSpPr>
          <a:xfrm rot="5400000">
            <a:off x="15215014" y="3933769"/>
            <a:ext cx="934436" cy="1476953"/>
            <a:chOff x="0" y="0"/>
            <a:chExt cx="1245915" cy="1969271"/>
          </a:xfrm>
        </p:grpSpPr>
        <p:grpSp>
          <p:nvGrpSpPr>
            <p:cNvPr id="9" name="Group 96">
              <a:extLst>
                <a:ext uri="{FF2B5EF4-FFF2-40B4-BE49-F238E27FC236}">
                  <a16:creationId xmlns:a16="http://schemas.microsoft.com/office/drawing/2014/main" id="{FD9BD527-436F-4505-B5D2-857FD3538353}"/>
                </a:ext>
              </a:extLst>
            </p:cNvPr>
            <p:cNvGrpSpPr/>
            <p:nvPr/>
          </p:nvGrpSpPr>
          <p:grpSpPr>
            <a:xfrm rot="2700000">
              <a:off x="-41282" y="427997"/>
              <a:ext cx="1359301" cy="359099"/>
              <a:chOff x="0" y="0"/>
              <a:chExt cx="286410" cy="75663"/>
            </a:xfrm>
          </p:grpSpPr>
          <p:sp>
            <p:nvSpPr>
              <p:cNvPr id="13" name="Freeform 97">
                <a:extLst>
                  <a:ext uri="{FF2B5EF4-FFF2-40B4-BE49-F238E27FC236}">
                    <a16:creationId xmlns:a16="http://schemas.microsoft.com/office/drawing/2014/main" id="{5461FD64-CA85-086E-AAC0-FCF041180BB1}"/>
                  </a:ext>
                </a:extLst>
              </p:cNvPr>
              <p:cNvSpPr/>
              <p:nvPr/>
            </p:nvSpPr>
            <p:spPr>
              <a:xfrm>
                <a:off x="0" y="0"/>
                <a:ext cx="286410" cy="75663"/>
              </a:xfrm>
              <a:custGeom>
                <a:avLst/>
                <a:gdLst/>
                <a:ahLst/>
                <a:cxnLst/>
                <a:rect l="l" t="t" r="r" b="b"/>
                <a:pathLst>
                  <a:path w="286410" h="75663">
                    <a:moveTo>
                      <a:pt x="37832" y="0"/>
                    </a:moveTo>
                    <a:lnTo>
                      <a:pt x="248578" y="0"/>
                    </a:lnTo>
                    <a:cubicBezTo>
                      <a:pt x="269472" y="0"/>
                      <a:pt x="286410" y="16938"/>
                      <a:pt x="286410" y="37832"/>
                    </a:cubicBezTo>
                    <a:lnTo>
                      <a:pt x="286410" y="37832"/>
                    </a:lnTo>
                    <a:cubicBezTo>
                      <a:pt x="286410" y="47865"/>
                      <a:pt x="282424" y="57488"/>
                      <a:pt x="275329" y="64583"/>
                    </a:cubicBezTo>
                    <a:cubicBezTo>
                      <a:pt x="268234" y="71678"/>
                      <a:pt x="258612" y="75663"/>
                      <a:pt x="248578"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98">
                <a:extLst>
                  <a:ext uri="{FF2B5EF4-FFF2-40B4-BE49-F238E27FC236}">
                    <a16:creationId xmlns:a16="http://schemas.microsoft.com/office/drawing/2014/main" id="{B65CA9E6-21FE-4D44-36C3-0B87D63EF438}"/>
                  </a:ext>
                </a:extLst>
              </p:cNvPr>
              <p:cNvSpPr txBox="1"/>
              <p:nvPr/>
            </p:nvSpPr>
            <p:spPr>
              <a:xfrm>
                <a:off x="0" y="-28575"/>
                <a:ext cx="286410"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0" name="Group 99">
              <a:extLst>
                <a:ext uri="{FF2B5EF4-FFF2-40B4-BE49-F238E27FC236}">
                  <a16:creationId xmlns:a16="http://schemas.microsoft.com/office/drawing/2014/main" id="{550B9154-F39E-0000-5448-B13FC494C7D2}"/>
                </a:ext>
              </a:extLst>
            </p:cNvPr>
            <p:cNvGrpSpPr/>
            <p:nvPr/>
          </p:nvGrpSpPr>
          <p:grpSpPr>
            <a:xfrm rot="-2700000">
              <a:off x="-78488" y="1166764"/>
              <a:ext cx="1402891" cy="359099"/>
              <a:chOff x="0" y="0"/>
              <a:chExt cx="295594" cy="75663"/>
            </a:xfrm>
          </p:grpSpPr>
          <p:sp>
            <p:nvSpPr>
              <p:cNvPr id="11" name="Freeform 100">
                <a:extLst>
                  <a:ext uri="{FF2B5EF4-FFF2-40B4-BE49-F238E27FC236}">
                    <a16:creationId xmlns:a16="http://schemas.microsoft.com/office/drawing/2014/main" id="{FE29B923-F7F1-C1EB-4A8C-3D834BA4F2E0}"/>
                  </a:ext>
                </a:extLst>
              </p:cNvPr>
              <p:cNvSpPr/>
              <p:nvPr/>
            </p:nvSpPr>
            <p:spPr>
              <a:xfrm>
                <a:off x="0" y="0"/>
                <a:ext cx="295594" cy="75663"/>
              </a:xfrm>
              <a:custGeom>
                <a:avLst/>
                <a:gdLst/>
                <a:ahLst/>
                <a:cxnLst/>
                <a:rect l="l" t="t" r="r" b="b"/>
                <a:pathLst>
                  <a:path w="295594" h="75663">
                    <a:moveTo>
                      <a:pt x="37832" y="0"/>
                    </a:moveTo>
                    <a:lnTo>
                      <a:pt x="257763" y="0"/>
                    </a:lnTo>
                    <a:cubicBezTo>
                      <a:pt x="267796" y="0"/>
                      <a:pt x="277419" y="3986"/>
                      <a:pt x="284514" y="11081"/>
                    </a:cubicBezTo>
                    <a:cubicBezTo>
                      <a:pt x="291609" y="18175"/>
                      <a:pt x="295594" y="27798"/>
                      <a:pt x="295594" y="37832"/>
                    </a:cubicBezTo>
                    <a:lnTo>
                      <a:pt x="295594" y="37832"/>
                    </a:lnTo>
                    <a:cubicBezTo>
                      <a:pt x="295594" y="58726"/>
                      <a:pt x="278657" y="75663"/>
                      <a:pt x="257763"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01">
                <a:extLst>
                  <a:ext uri="{FF2B5EF4-FFF2-40B4-BE49-F238E27FC236}">
                    <a16:creationId xmlns:a16="http://schemas.microsoft.com/office/drawing/2014/main" id="{04F60F0D-C1B9-412D-136C-7BAE1E1D7A76}"/>
                  </a:ext>
                </a:extLst>
              </p:cNvPr>
              <p:cNvSpPr txBox="1"/>
              <p:nvPr/>
            </p:nvSpPr>
            <p:spPr>
              <a:xfrm>
                <a:off x="0" y="-28575"/>
                <a:ext cx="295594"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pic>
        <p:nvPicPr>
          <p:cNvPr id="26" name="Picture 25">
            <a:extLst>
              <a:ext uri="{FF2B5EF4-FFF2-40B4-BE49-F238E27FC236}">
                <a16:creationId xmlns:a16="http://schemas.microsoft.com/office/drawing/2014/main" id="{C3CA78F0-7498-92F4-BCB5-FC0177141BD6}"/>
              </a:ext>
            </a:extLst>
          </p:cNvPr>
          <p:cNvPicPr>
            <a:picLocks noChangeAspect="1"/>
          </p:cNvPicPr>
          <p:nvPr/>
        </p:nvPicPr>
        <p:blipFill>
          <a:blip r:embed="rId2">
            <a:alphaModFix amt="31000"/>
          </a:blip>
          <a:stretch>
            <a:fillRect/>
          </a:stretch>
        </p:blipFill>
        <p:spPr>
          <a:xfrm>
            <a:off x="16447703" y="-5676900"/>
            <a:ext cx="1554615" cy="9254530"/>
          </a:xfrm>
          <a:prstGeom prst="rect">
            <a:avLst/>
          </a:prstGeom>
        </p:spPr>
      </p:pic>
    </p:spTree>
    <p:extLst>
      <p:ext uri="{BB962C8B-B14F-4D97-AF65-F5344CB8AC3E}">
        <p14:creationId xmlns:p14="http://schemas.microsoft.com/office/powerpoint/2010/main" val="1830112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38F8320-F7D1-38F9-78E0-895B9C99BAA9}"/>
              </a:ext>
            </a:extLst>
          </p:cNvPr>
          <p:cNvPicPr>
            <a:picLocks noChangeAspect="1"/>
          </p:cNvPicPr>
          <p:nvPr/>
        </p:nvPicPr>
        <p:blipFill>
          <a:blip r:embed="rId2"/>
          <a:srcRect l="66945" b="53969"/>
          <a:stretch>
            <a:fillRect/>
          </a:stretch>
        </p:blipFill>
        <p:spPr>
          <a:xfrm>
            <a:off x="1851659" y="7216642"/>
            <a:ext cx="3352801" cy="3184658"/>
          </a:xfrm>
          <a:prstGeom prst="rect">
            <a:avLst/>
          </a:prstGeom>
        </p:spPr>
      </p:pic>
      <p:pic>
        <p:nvPicPr>
          <p:cNvPr id="10" name="Picture 9">
            <a:extLst>
              <a:ext uri="{FF2B5EF4-FFF2-40B4-BE49-F238E27FC236}">
                <a16:creationId xmlns:a16="http://schemas.microsoft.com/office/drawing/2014/main" id="{17930E18-4D15-78FC-D90C-ADB66550B0CE}"/>
              </a:ext>
            </a:extLst>
          </p:cNvPr>
          <p:cNvPicPr>
            <a:picLocks noChangeAspect="1"/>
          </p:cNvPicPr>
          <p:nvPr/>
        </p:nvPicPr>
        <p:blipFill>
          <a:blip r:embed="rId2"/>
          <a:srcRect t="46702" r="67131"/>
          <a:stretch>
            <a:fillRect/>
          </a:stretch>
        </p:blipFill>
        <p:spPr>
          <a:xfrm>
            <a:off x="12115800" y="6692996"/>
            <a:ext cx="3352801" cy="3708304"/>
          </a:xfrm>
          <a:prstGeom prst="rect">
            <a:avLst/>
          </a:prstGeom>
        </p:spPr>
      </p:pic>
      <p:pic>
        <p:nvPicPr>
          <p:cNvPr id="6" name="Picture 5">
            <a:extLst>
              <a:ext uri="{FF2B5EF4-FFF2-40B4-BE49-F238E27FC236}">
                <a16:creationId xmlns:a16="http://schemas.microsoft.com/office/drawing/2014/main" id="{76711CD6-1CB5-510D-6223-78D321797501}"/>
              </a:ext>
            </a:extLst>
          </p:cNvPr>
          <p:cNvPicPr>
            <a:picLocks noChangeAspect="1"/>
          </p:cNvPicPr>
          <p:nvPr/>
        </p:nvPicPr>
        <p:blipFill>
          <a:blip r:embed="rId3"/>
          <a:srcRect l="7311" t="5861" r="49700" b="24176"/>
          <a:stretch>
            <a:fillRect/>
          </a:stretch>
        </p:blipFill>
        <p:spPr>
          <a:xfrm>
            <a:off x="6579108" y="6209677"/>
            <a:ext cx="3936492" cy="4115423"/>
          </a:xfrm>
          <a:prstGeom prst="rect">
            <a:avLst/>
          </a:prstGeom>
        </p:spPr>
      </p:pic>
      <p:sp>
        <p:nvSpPr>
          <p:cNvPr id="2" name="Title 1">
            <a:extLst>
              <a:ext uri="{FF2B5EF4-FFF2-40B4-BE49-F238E27FC236}">
                <a16:creationId xmlns:a16="http://schemas.microsoft.com/office/drawing/2014/main" id="{3C90AFB8-1BF6-F06D-713B-6DE72811A3A2}"/>
              </a:ext>
            </a:extLst>
          </p:cNvPr>
          <p:cNvSpPr>
            <a:spLocks noGrp="1"/>
          </p:cNvSpPr>
          <p:nvPr>
            <p:ph type="title"/>
          </p:nvPr>
        </p:nvSpPr>
        <p:spPr>
          <a:xfrm>
            <a:off x="4572000" y="-76823"/>
            <a:ext cx="8229600" cy="1143000"/>
          </a:xfrm>
        </p:spPr>
        <p:txBody>
          <a:bodyPr>
            <a:normAutofit/>
          </a:bodyPr>
          <a:lstStyle/>
          <a:p>
            <a:r>
              <a:rPr lang="en-US" sz="6000" b="1" dirty="0">
                <a:solidFill>
                  <a:schemeClr val="tx2"/>
                </a:solidFill>
              </a:rPr>
              <a:t>Datasets for Extensions:</a:t>
            </a:r>
          </a:p>
        </p:txBody>
      </p:sp>
      <p:sp>
        <p:nvSpPr>
          <p:cNvPr id="3" name="Content Placeholder 2">
            <a:extLst>
              <a:ext uri="{FF2B5EF4-FFF2-40B4-BE49-F238E27FC236}">
                <a16:creationId xmlns:a16="http://schemas.microsoft.com/office/drawing/2014/main" id="{69B4280D-994F-83F5-7038-7F9EF0490842}"/>
              </a:ext>
            </a:extLst>
          </p:cNvPr>
          <p:cNvSpPr>
            <a:spLocks noGrp="1"/>
          </p:cNvSpPr>
          <p:nvPr>
            <p:ph sz="half" idx="1"/>
          </p:nvPr>
        </p:nvSpPr>
        <p:spPr>
          <a:xfrm>
            <a:off x="593786" y="1181100"/>
            <a:ext cx="6858000" cy="7262004"/>
          </a:xfrm>
        </p:spPr>
        <p:txBody>
          <a:bodyPr>
            <a:normAutofit fontScale="77500" lnSpcReduction="20000"/>
          </a:bodyPr>
          <a:lstStyle/>
          <a:p>
            <a:r>
              <a:rPr lang="en-US" sz="3600" b="1" dirty="0"/>
              <a:t>MIMIC-IV</a:t>
            </a:r>
            <a:r>
              <a:rPr lang="en-US" sz="3600" dirty="0"/>
              <a:t> </a:t>
            </a:r>
            <a:r>
              <a:rPr lang="en-US" sz="3400" dirty="0"/>
              <a:t>is a large, deidentified electronic health record database with patients treated at Beth Israel Deaconess Medical Center (2008-2019)</a:t>
            </a:r>
          </a:p>
          <a:p>
            <a:r>
              <a:rPr lang="en-US" sz="3400" dirty="0"/>
              <a:t>N=299,712 patients and 431,231 hospital admissions</a:t>
            </a:r>
          </a:p>
          <a:p>
            <a:r>
              <a:rPr lang="en-US" sz="3400" dirty="0"/>
              <a:t>It contains multimodal clinical information including demographics, diagnoses, procedures, medications, laboratory results, ICU charted measurements, and linked clinical notes</a:t>
            </a:r>
          </a:p>
          <a:p>
            <a:r>
              <a:rPr lang="en-US" sz="3400" dirty="0"/>
              <a:t>Trigger based irregularity based on Chang et al.</a:t>
            </a:r>
          </a:p>
          <a:p>
            <a:r>
              <a:rPr lang="en-US" sz="3400" dirty="0"/>
              <a:t>Chosen because it provides both irregular structured time-series data and text data that can be fused in a single modeling pipeline</a:t>
            </a:r>
          </a:p>
          <a:p>
            <a:r>
              <a:rPr lang="en-US" sz="3400" dirty="0"/>
              <a:t>Allows modeling in the context of real-world complexity seen in health data</a:t>
            </a:r>
          </a:p>
        </p:txBody>
      </p:sp>
      <p:sp>
        <p:nvSpPr>
          <p:cNvPr id="4" name="Content Placeholder 3">
            <a:extLst>
              <a:ext uri="{FF2B5EF4-FFF2-40B4-BE49-F238E27FC236}">
                <a16:creationId xmlns:a16="http://schemas.microsoft.com/office/drawing/2014/main" id="{AF99B96C-E3FD-9611-DB83-D44F6F10D3CC}"/>
              </a:ext>
            </a:extLst>
          </p:cNvPr>
          <p:cNvSpPr>
            <a:spLocks noGrp="1"/>
          </p:cNvSpPr>
          <p:nvPr>
            <p:ph sz="half" idx="2"/>
          </p:nvPr>
        </p:nvSpPr>
        <p:spPr>
          <a:xfrm>
            <a:off x="9296400" y="1197864"/>
            <a:ext cx="7772402" cy="5890404"/>
          </a:xfrm>
        </p:spPr>
        <p:txBody>
          <a:bodyPr>
            <a:normAutofit fontScale="77500" lnSpcReduction="20000"/>
          </a:bodyPr>
          <a:lstStyle/>
          <a:p>
            <a:r>
              <a:rPr lang="en-US" sz="3600" b="1" dirty="0"/>
              <a:t>FNSPID</a:t>
            </a:r>
            <a:r>
              <a:rPr lang="en-US" sz="3600" dirty="0"/>
              <a:t> </a:t>
            </a:r>
            <a:r>
              <a:rPr lang="en-US" sz="3400" dirty="0"/>
              <a:t>is a finance-oriented multimodal dataset that combines structured financial time-series information with text-based financial news (1999 to 2023)</a:t>
            </a:r>
          </a:p>
          <a:p>
            <a:r>
              <a:rPr lang="en-US" sz="3400" dirty="0"/>
              <a:t>N=29.7 million stock price records, 15.7 million time-aligned financial news records covering 4,775 S&amp;P 500 companies </a:t>
            </a:r>
          </a:p>
          <a:p>
            <a:r>
              <a:rPr lang="en-US" sz="3400" dirty="0"/>
              <a:t>Artifact based irregularity based on Chang et al. </a:t>
            </a:r>
          </a:p>
          <a:p>
            <a:r>
              <a:rPr lang="en-US" sz="3400" dirty="0"/>
              <a:t>For studying irregular multimodal forecasting and classification in a non-clinical domain.</a:t>
            </a:r>
          </a:p>
          <a:p>
            <a:r>
              <a:rPr lang="en-US" sz="3400" dirty="0"/>
              <a:t>For our project, FNSPID functions allows us to test whether the same multimodal fusion extensions  that work in healthcare also transfer to market prediction tasks where asynchronous text and numeric signals are common</a:t>
            </a:r>
          </a:p>
        </p:txBody>
      </p:sp>
      <p:cxnSp>
        <p:nvCxnSpPr>
          <p:cNvPr id="14" name="Straight Arrow Connector 13">
            <a:extLst>
              <a:ext uri="{FF2B5EF4-FFF2-40B4-BE49-F238E27FC236}">
                <a16:creationId xmlns:a16="http://schemas.microsoft.com/office/drawing/2014/main" id="{03D1FE6F-7C8C-96C2-8B83-56D1002F9D44}"/>
              </a:ext>
            </a:extLst>
          </p:cNvPr>
          <p:cNvCxnSpPr>
            <a:cxnSpLocks/>
          </p:cNvCxnSpPr>
          <p:nvPr/>
        </p:nvCxnSpPr>
        <p:spPr>
          <a:xfrm flipV="1">
            <a:off x="4647438" y="7048500"/>
            <a:ext cx="4725162" cy="496968"/>
          </a:xfrm>
          <a:prstGeom prst="straightConnector1">
            <a:avLst/>
          </a:prstGeom>
          <a:ln w="57150">
            <a:solidFill>
              <a:srgbClr val="FFB376"/>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95CD764-0012-3DE5-58F5-752CDC8A9719}"/>
              </a:ext>
            </a:extLst>
          </p:cNvPr>
          <p:cNvCxnSpPr>
            <a:cxnSpLocks/>
          </p:cNvCxnSpPr>
          <p:nvPr/>
        </p:nvCxnSpPr>
        <p:spPr>
          <a:xfrm flipH="1">
            <a:off x="7234615" y="7088268"/>
            <a:ext cx="6060094" cy="878208"/>
          </a:xfrm>
          <a:prstGeom prst="straightConnector1">
            <a:avLst/>
          </a:prstGeom>
          <a:ln w="57150">
            <a:solidFill>
              <a:srgbClr val="FFB37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4102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DDC11-3B5E-2462-4D09-6F938A816B1E}"/>
              </a:ext>
            </a:extLst>
          </p:cNvPr>
          <p:cNvSpPr>
            <a:spLocks noGrp="1"/>
          </p:cNvSpPr>
          <p:nvPr>
            <p:ph type="title"/>
          </p:nvPr>
        </p:nvSpPr>
        <p:spPr>
          <a:xfrm>
            <a:off x="457200" y="274638"/>
            <a:ext cx="17221200" cy="1143000"/>
          </a:xfrm>
        </p:spPr>
        <p:txBody>
          <a:bodyPr>
            <a:normAutofit/>
          </a:bodyPr>
          <a:lstStyle/>
          <a:p>
            <a:r>
              <a:rPr lang="en-US" sz="6600" b="1" dirty="0">
                <a:solidFill>
                  <a:schemeClr val="tx2"/>
                </a:solidFill>
              </a:rPr>
              <a:t>Our Irregular Time Series Framework Extensions</a:t>
            </a:r>
          </a:p>
        </p:txBody>
      </p:sp>
      <p:pic>
        <p:nvPicPr>
          <p:cNvPr id="6" name="Picture 5">
            <a:extLst>
              <a:ext uri="{FF2B5EF4-FFF2-40B4-BE49-F238E27FC236}">
                <a16:creationId xmlns:a16="http://schemas.microsoft.com/office/drawing/2014/main" id="{BE8BA767-6663-3E7E-B5B9-AEBB4AF82862}"/>
              </a:ext>
            </a:extLst>
          </p:cNvPr>
          <p:cNvPicPr>
            <a:picLocks noChangeAspect="1"/>
          </p:cNvPicPr>
          <p:nvPr/>
        </p:nvPicPr>
        <p:blipFill>
          <a:blip r:embed="rId2"/>
          <a:stretch>
            <a:fillRect/>
          </a:stretch>
        </p:blipFill>
        <p:spPr>
          <a:xfrm>
            <a:off x="2209800" y="1562100"/>
            <a:ext cx="14503641" cy="8547333"/>
          </a:xfrm>
          <a:prstGeom prst="rect">
            <a:avLst/>
          </a:prstGeom>
        </p:spPr>
      </p:pic>
    </p:spTree>
    <p:extLst>
      <p:ext uri="{BB962C8B-B14F-4D97-AF65-F5344CB8AC3E}">
        <p14:creationId xmlns:p14="http://schemas.microsoft.com/office/powerpoint/2010/main" val="659819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 name="Freeform 2"/>
          <p:cNvSpPr/>
          <p:nvPr/>
        </p:nvSpPr>
        <p:spPr>
          <a:xfrm rot="5400000" flipV="1">
            <a:off x="4041915" y="-3787681"/>
            <a:ext cx="5976931" cy="12841560"/>
          </a:xfrm>
          <a:custGeom>
            <a:avLst/>
            <a:gdLst/>
            <a:ahLst/>
            <a:cxnLst/>
            <a:rect l="l" t="t" r="r" b="b"/>
            <a:pathLst>
              <a:path w="5976931" h="12841560">
                <a:moveTo>
                  <a:pt x="0" y="12841560"/>
                </a:moveTo>
                <a:lnTo>
                  <a:pt x="5976931" y="12841560"/>
                </a:lnTo>
                <a:lnTo>
                  <a:pt x="5976931" y="0"/>
                </a:lnTo>
                <a:lnTo>
                  <a:pt x="0" y="0"/>
                </a:lnTo>
                <a:lnTo>
                  <a:pt x="0" y="12841560"/>
                </a:lnTo>
                <a:close/>
              </a:path>
            </a:pathLst>
          </a:custGeom>
          <a:blipFill>
            <a:blip>
              <a:extLst>
                <a:ext uri="{96DAC541-7B7A-43D3-8B79-37D633B846F1}">
                  <asvg:svgBlip xmlns:asvg="http://schemas.microsoft.com/office/drawing/2016/SVG/main" r:embed="rId2"/>
                </a:ext>
              </a:extLst>
            </a:blip>
            <a:stretch>
              <a:fillRect l="-1427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3"/>
          <p:cNvSpPr txBox="1"/>
          <p:nvPr/>
        </p:nvSpPr>
        <p:spPr>
          <a:xfrm>
            <a:off x="2528131" y="5732962"/>
            <a:ext cx="2857500" cy="356235"/>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Recency</a:t>
            </a:r>
          </a:p>
        </p:txBody>
      </p:sp>
      <p:sp>
        <p:nvSpPr>
          <p:cNvPr id="5" name="TextBox 5"/>
          <p:cNvSpPr txBox="1"/>
          <p:nvPr/>
        </p:nvSpPr>
        <p:spPr>
          <a:xfrm>
            <a:off x="5326125" y="4705713"/>
            <a:ext cx="2857500" cy="356235"/>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Note Density</a:t>
            </a:r>
          </a:p>
        </p:txBody>
      </p:sp>
      <p:sp>
        <p:nvSpPr>
          <p:cNvPr id="7" name="TextBox 7"/>
          <p:cNvSpPr txBox="1"/>
          <p:nvPr/>
        </p:nvSpPr>
        <p:spPr>
          <a:xfrm>
            <a:off x="8361096" y="3763010"/>
            <a:ext cx="2857500" cy="356235"/>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Text-TS Alignment</a:t>
            </a:r>
          </a:p>
        </p:txBody>
      </p:sp>
      <p:sp>
        <p:nvSpPr>
          <p:cNvPr id="9" name="TextBox 9"/>
          <p:cNvSpPr txBox="1"/>
          <p:nvPr/>
        </p:nvSpPr>
        <p:spPr>
          <a:xfrm>
            <a:off x="11424746" y="2778351"/>
            <a:ext cx="2857500" cy="356235"/>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Missingness</a:t>
            </a:r>
          </a:p>
        </p:txBody>
      </p:sp>
      <p:sp>
        <p:nvSpPr>
          <p:cNvPr id="11" name="TextBox 11"/>
          <p:cNvSpPr txBox="1"/>
          <p:nvPr/>
        </p:nvSpPr>
        <p:spPr>
          <a:xfrm>
            <a:off x="12192000" y="6459310"/>
            <a:ext cx="5486400" cy="1538883"/>
          </a:xfrm>
          <a:prstGeom prst="rect">
            <a:avLst/>
          </a:prstGeom>
        </p:spPr>
        <p:txBody>
          <a:bodyPr lIns="0" tIns="0" rIns="0" bIns="0" rtlCol="0" anchor="t">
            <a:spAutoFit/>
          </a:bodyPr>
          <a:lstStyle/>
          <a:p>
            <a:pPr marL="0" marR="0" lvl="0" indent="0" algn="l" defTabSz="914400" rtl="0" eaLnBrk="1" fontAlgn="auto" latinLnBrk="0" hangingPunct="1">
              <a:lnSpc>
                <a:spcPts val="6032"/>
              </a:lnSpc>
              <a:spcBef>
                <a:spcPts val="0"/>
              </a:spcBef>
              <a:spcAft>
                <a:spcPts val="0"/>
              </a:spcAft>
              <a:buClrTx/>
              <a:buSzTx/>
              <a:buFontTx/>
              <a:buNone/>
              <a:tabLst/>
              <a:defRPr/>
            </a:pPr>
            <a:r>
              <a:rPr kumimoji="0" lang="en-US" sz="5200" b="1" i="0" u="none" strike="noStrike" kern="1200" cap="none" spc="0" normalizeH="0" baseline="0" noProof="0" dirty="0">
                <a:ln>
                  <a:noFill/>
                </a:ln>
                <a:solidFill>
                  <a:schemeClr val="tx2"/>
                </a:solidFill>
                <a:effectLst/>
                <a:uLnTx/>
                <a:uFillTx/>
                <a:latin typeface="Open Sauce Bold"/>
                <a:ea typeface="Open Sauce Bold"/>
                <a:cs typeface="Open Sauce Bold"/>
                <a:sym typeface="Open Sauce Bold"/>
              </a:rPr>
              <a:t>RA-</a:t>
            </a:r>
            <a:r>
              <a:rPr kumimoji="0" lang="en-US" sz="5200" b="1" i="0" u="none" strike="noStrike" kern="1200" cap="none" spc="0" normalizeH="0" baseline="0" noProof="0" dirty="0" err="1">
                <a:ln>
                  <a:noFill/>
                </a:ln>
                <a:solidFill>
                  <a:schemeClr val="tx2"/>
                </a:solidFill>
                <a:effectLst/>
                <a:uLnTx/>
                <a:uFillTx/>
                <a:latin typeface="Open Sauce Bold"/>
                <a:ea typeface="Open Sauce Bold"/>
                <a:cs typeface="Open Sauce Bold"/>
                <a:sym typeface="Open Sauce Bold"/>
              </a:rPr>
              <a:t>GRAdd</a:t>
            </a:r>
            <a:r>
              <a:rPr kumimoji="0" lang="en-US" sz="5200" b="1" i="0" u="none" strike="noStrike" kern="1200" cap="none" spc="0" normalizeH="0" baseline="0" noProof="0" dirty="0">
                <a:ln>
                  <a:noFill/>
                </a:ln>
                <a:solidFill>
                  <a:schemeClr val="tx2"/>
                </a:solidFill>
                <a:effectLst/>
                <a:uLnTx/>
                <a:uFillTx/>
                <a:latin typeface="Open Sauce Bold"/>
                <a:ea typeface="Open Sauce Bold"/>
                <a:cs typeface="Open Sauce Bold"/>
                <a:sym typeface="Open Sauce Bold"/>
              </a:rPr>
              <a:t> Extension:</a:t>
            </a:r>
          </a:p>
        </p:txBody>
      </p:sp>
      <p:sp>
        <p:nvSpPr>
          <p:cNvPr id="12" name="TextBox 12"/>
          <p:cNvSpPr txBox="1"/>
          <p:nvPr/>
        </p:nvSpPr>
        <p:spPr>
          <a:xfrm>
            <a:off x="12246934" y="8034958"/>
            <a:ext cx="5067300" cy="720325"/>
          </a:xfrm>
          <a:prstGeom prst="rect">
            <a:avLst/>
          </a:prstGeom>
        </p:spPr>
        <p:txBody>
          <a:bodyPr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nva Sans"/>
                <a:ea typeface="Canva Sans"/>
                <a:cs typeface="Canva Sans"/>
                <a:sym typeface="Canva Sans"/>
              </a:rPr>
              <a:t>Making text inclusion for forecasting more explicit/smarter</a:t>
            </a:r>
          </a:p>
        </p:txBody>
      </p:sp>
      <p:sp>
        <p:nvSpPr>
          <p:cNvPr id="13" name="Freeform 13"/>
          <p:cNvSpPr/>
          <p:nvPr/>
        </p:nvSpPr>
        <p:spPr>
          <a:xfrm>
            <a:off x="3200400" y="3751807"/>
            <a:ext cx="793433" cy="793433"/>
          </a:xfrm>
          <a:custGeom>
            <a:avLst/>
            <a:gdLst/>
            <a:ahLst/>
            <a:cxnLst/>
            <a:rect l="l" t="t" r="r" b="b"/>
            <a:pathLst>
              <a:path w="793433" h="793433">
                <a:moveTo>
                  <a:pt x="0" y="0"/>
                </a:moveTo>
                <a:lnTo>
                  <a:pt x="793433" y="0"/>
                </a:lnTo>
                <a:lnTo>
                  <a:pt x="793433" y="793433"/>
                </a:lnTo>
                <a:lnTo>
                  <a:pt x="0" y="79343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Freeform 14"/>
          <p:cNvSpPr/>
          <p:nvPr/>
        </p:nvSpPr>
        <p:spPr>
          <a:xfrm>
            <a:off x="8936188" y="2134592"/>
            <a:ext cx="720423" cy="660088"/>
          </a:xfrm>
          <a:custGeom>
            <a:avLst/>
            <a:gdLst/>
            <a:ahLst/>
            <a:cxnLst/>
            <a:rect l="l" t="t" r="r" b="b"/>
            <a:pathLst>
              <a:path w="720423" h="660088">
                <a:moveTo>
                  <a:pt x="0" y="0"/>
                </a:moveTo>
                <a:lnTo>
                  <a:pt x="720424" y="0"/>
                </a:lnTo>
                <a:lnTo>
                  <a:pt x="720424" y="660088"/>
                </a:lnTo>
                <a:lnTo>
                  <a:pt x="0" y="6600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Freeform 15"/>
          <p:cNvSpPr/>
          <p:nvPr/>
        </p:nvSpPr>
        <p:spPr>
          <a:xfrm>
            <a:off x="11887200" y="1228302"/>
            <a:ext cx="719470" cy="719470"/>
          </a:xfrm>
          <a:custGeom>
            <a:avLst/>
            <a:gdLst/>
            <a:ahLst/>
            <a:cxnLst/>
            <a:rect l="l" t="t" r="r" b="b"/>
            <a:pathLst>
              <a:path w="719470" h="719470">
                <a:moveTo>
                  <a:pt x="0" y="0"/>
                </a:moveTo>
                <a:lnTo>
                  <a:pt x="719470" y="0"/>
                </a:lnTo>
                <a:lnTo>
                  <a:pt x="719470" y="719470"/>
                </a:lnTo>
                <a:lnTo>
                  <a:pt x="0" y="71947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Freeform 16"/>
          <p:cNvSpPr/>
          <p:nvPr/>
        </p:nvSpPr>
        <p:spPr>
          <a:xfrm>
            <a:off x="6204946" y="2926830"/>
            <a:ext cx="608007" cy="669059"/>
          </a:xfrm>
          <a:custGeom>
            <a:avLst/>
            <a:gdLst/>
            <a:ahLst/>
            <a:cxnLst/>
            <a:rect l="l" t="t" r="r" b="b"/>
            <a:pathLst>
              <a:path w="608007" h="669059">
                <a:moveTo>
                  <a:pt x="0" y="0"/>
                </a:moveTo>
                <a:lnTo>
                  <a:pt x="608008" y="0"/>
                </a:lnTo>
                <a:lnTo>
                  <a:pt x="608008" y="669058"/>
                </a:lnTo>
                <a:lnTo>
                  <a:pt x="0" y="66905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11E800D8-0810-CE7B-F91E-3467290F5E51}"/>
              </a:ext>
            </a:extLst>
          </p:cNvPr>
          <p:cNvSpPr/>
          <p:nvPr/>
        </p:nvSpPr>
        <p:spPr>
          <a:xfrm>
            <a:off x="3048000" y="3751807"/>
            <a:ext cx="1107877" cy="934493"/>
          </a:xfrm>
          <a:prstGeom prst="rect">
            <a:avLst/>
          </a:prstGeom>
          <a:solidFill>
            <a:srgbClr val="3895FF"/>
          </a:solidFill>
          <a:ln>
            <a:solidFill>
              <a:srgbClr val="389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D9ED1B02-C70E-72F9-9483-B6427508237C}"/>
              </a:ext>
            </a:extLst>
          </p:cNvPr>
          <p:cNvSpPr/>
          <p:nvPr/>
        </p:nvSpPr>
        <p:spPr>
          <a:xfrm>
            <a:off x="5972413" y="2778351"/>
            <a:ext cx="1107877" cy="934493"/>
          </a:xfrm>
          <a:prstGeom prst="rect">
            <a:avLst/>
          </a:prstGeom>
          <a:solidFill>
            <a:srgbClr val="AB87FF"/>
          </a:solidFill>
          <a:ln>
            <a:solidFill>
              <a:srgbClr val="AB8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5FEB830C-B011-C5D5-020D-4ABADD2D9383}"/>
              </a:ext>
            </a:extLst>
          </p:cNvPr>
          <p:cNvSpPr/>
          <p:nvPr/>
        </p:nvSpPr>
        <p:spPr>
          <a:xfrm>
            <a:off x="8742460" y="2032477"/>
            <a:ext cx="1107877" cy="934493"/>
          </a:xfrm>
          <a:prstGeom prst="rect">
            <a:avLst/>
          </a:prstGeom>
          <a:solidFill>
            <a:srgbClr val="FF94A0"/>
          </a:solidFill>
          <a:ln>
            <a:solidFill>
              <a:srgbClr val="FF9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48C815EE-8428-8E88-55EB-85414A953512}"/>
              </a:ext>
            </a:extLst>
          </p:cNvPr>
          <p:cNvSpPr/>
          <p:nvPr/>
        </p:nvSpPr>
        <p:spPr>
          <a:xfrm>
            <a:off x="11692996" y="1134409"/>
            <a:ext cx="1107877" cy="934493"/>
          </a:xfrm>
          <a:prstGeom prst="rect">
            <a:avLst/>
          </a:prstGeom>
          <a:solidFill>
            <a:srgbClr val="FFB376"/>
          </a:solidFill>
          <a:ln>
            <a:solidFill>
              <a:srgbClr val="FFB3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7E90F08C-EDF9-C2D6-1360-CEEB01B70503}"/>
              </a:ext>
            </a:extLst>
          </p:cNvPr>
          <p:cNvPicPr>
            <a:picLocks noChangeAspect="1"/>
          </p:cNvPicPr>
          <p:nvPr/>
        </p:nvPicPr>
        <p:blipFill>
          <a:blip r:embed="rId7"/>
          <a:stretch>
            <a:fillRect/>
          </a:stretch>
        </p:blipFill>
        <p:spPr>
          <a:xfrm>
            <a:off x="11277600" y="9058698"/>
            <a:ext cx="6774076" cy="844561"/>
          </a:xfrm>
          <a:prstGeom prst="rect">
            <a:avLst/>
          </a:prstGeom>
          <a:ln w="60325" cmpd="sng">
            <a:solidFill>
              <a:schemeClr val="accent1"/>
            </a:solidFill>
          </a:ln>
        </p:spPr>
      </p:pic>
      <p:pic>
        <p:nvPicPr>
          <p:cNvPr id="25" name="Picture 24">
            <a:extLst>
              <a:ext uri="{FF2B5EF4-FFF2-40B4-BE49-F238E27FC236}">
                <a16:creationId xmlns:a16="http://schemas.microsoft.com/office/drawing/2014/main" id="{89887B56-C1F2-A981-71A1-F151B9F18371}"/>
              </a:ext>
            </a:extLst>
          </p:cNvPr>
          <p:cNvPicPr>
            <a:picLocks noChangeAspect="1"/>
          </p:cNvPicPr>
          <p:nvPr/>
        </p:nvPicPr>
        <p:blipFill>
          <a:blip r:embed="rId8"/>
          <a:stretch>
            <a:fillRect/>
          </a:stretch>
        </p:blipFill>
        <p:spPr>
          <a:xfrm>
            <a:off x="863227" y="6131241"/>
            <a:ext cx="3798137" cy="1908213"/>
          </a:xfrm>
          <a:prstGeom prst="rect">
            <a:avLst/>
          </a:prstGeom>
        </p:spPr>
      </p:pic>
      <p:pic>
        <p:nvPicPr>
          <p:cNvPr id="36" name="Picture 35">
            <a:extLst>
              <a:ext uri="{FF2B5EF4-FFF2-40B4-BE49-F238E27FC236}">
                <a16:creationId xmlns:a16="http://schemas.microsoft.com/office/drawing/2014/main" id="{CEE17AB9-77DF-5BE4-9C17-FC0DAD094C8E}"/>
              </a:ext>
            </a:extLst>
          </p:cNvPr>
          <p:cNvPicPr>
            <a:picLocks noChangeAspect="1"/>
          </p:cNvPicPr>
          <p:nvPr/>
        </p:nvPicPr>
        <p:blipFill>
          <a:blip r:embed="rId9"/>
          <a:stretch>
            <a:fillRect/>
          </a:stretch>
        </p:blipFill>
        <p:spPr>
          <a:xfrm>
            <a:off x="8703995" y="4221244"/>
            <a:ext cx="2755486" cy="3572730"/>
          </a:xfrm>
          <a:prstGeom prst="rect">
            <a:avLst/>
          </a:prstGeom>
        </p:spPr>
      </p:pic>
      <p:pic>
        <p:nvPicPr>
          <p:cNvPr id="49" name="Picture 48">
            <a:extLst>
              <a:ext uri="{FF2B5EF4-FFF2-40B4-BE49-F238E27FC236}">
                <a16:creationId xmlns:a16="http://schemas.microsoft.com/office/drawing/2014/main" id="{B724D090-A407-4766-C523-C09DC36EFC25}"/>
              </a:ext>
            </a:extLst>
          </p:cNvPr>
          <p:cNvPicPr>
            <a:picLocks noChangeAspect="1"/>
          </p:cNvPicPr>
          <p:nvPr/>
        </p:nvPicPr>
        <p:blipFill>
          <a:blip r:embed="rId10"/>
          <a:stretch>
            <a:fillRect/>
          </a:stretch>
        </p:blipFill>
        <p:spPr>
          <a:xfrm>
            <a:off x="4854124" y="5252002"/>
            <a:ext cx="3608986" cy="1782602"/>
          </a:xfrm>
          <a:prstGeom prst="rect">
            <a:avLst/>
          </a:prstGeom>
        </p:spPr>
      </p:pic>
      <p:pic>
        <p:nvPicPr>
          <p:cNvPr id="52" name="Picture 51">
            <a:extLst>
              <a:ext uri="{FF2B5EF4-FFF2-40B4-BE49-F238E27FC236}">
                <a16:creationId xmlns:a16="http://schemas.microsoft.com/office/drawing/2014/main" id="{3AC6FCAD-F6C3-4A7E-7183-13EB7965F5F9}"/>
              </a:ext>
            </a:extLst>
          </p:cNvPr>
          <p:cNvPicPr>
            <a:picLocks noChangeAspect="1"/>
          </p:cNvPicPr>
          <p:nvPr/>
        </p:nvPicPr>
        <p:blipFill>
          <a:blip r:embed="rId11"/>
          <a:stretch>
            <a:fillRect/>
          </a:stretch>
        </p:blipFill>
        <p:spPr>
          <a:xfrm>
            <a:off x="11700366" y="3171351"/>
            <a:ext cx="5163760" cy="28836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a:extLst>
            <a:ext uri="{FF2B5EF4-FFF2-40B4-BE49-F238E27FC236}">
              <a16:creationId xmlns:a16="http://schemas.microsoft.com/office/drawing/2014/main" id="{D37B3D0F-B15C-3740-3EEB-849BB4201B41}"/>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39B1FDB7-8161-3F1E-26AC-C7D944D00DEC}"/>
              </a:ext>
            </a:extLst>
          </p:cNvPr>
          <p:cNvSpPr/>
          <p:nvPr/>
        </p:nvSpPr>
        <p:spPr>
          <a:xfrm>
            <a:off x="11463378" y="7750626"/>
            <a:ext cx="4114800" cy="2219382"/>
          </a:xfrm>
          <a:prstGeom prst="rect">
            <a:avLst/>
          </a:prstGeom>
          <a:solidFill>
            <a:srgbClr val="FFFFFF"/>
          </a:solidFill>
          <a:ln w="101600">
            <a:solidFill>
              <a:srgbClr val="389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reeform 2">
            <a:extLst>
              <a:ext uri="{FF2B5EF4-FFF2-40B4-BE49-F238E27FC236}">
                <a16:creationId xmlns:a16="http://schemas.microsoft.com/office/drawing/2014/main" id="{942DCC6B-F4F5-3749-F64A-B5C7C6934A6D}"/>
              </a:ext>
            </a:extLst>
          </p:cNvPr>
          <p:cNvSpPr/>
          <p:nvPr/>
        </p:nvSpPr>
        <p:spPr>
          <a:xfrm flipV="1">
            <a:off x="-95199" y="-687818"/>
            <a:ext cx="5976931" cy="12841560"/>
          </a:xfrm>
          <a:custGeom>
            <a:avLst/>
            <a:gdLst/>
            <a:ahLst/>
            <a:cxnLst/>
            <a:rect l="l" t="t" r="r" b="b"/>
            <a:pathLst>
              <a:path w="5976931" h="12841560">
                <a:moveTo>
                  <a:pt x="0" y="12841560"/>
                </a:moveTo>
                <a:lnTo>
                  <a:pt x="5976931" y="12841560"/>
                </a:lnTo>
                <a:lnTo>
                  <a:pt x="5976931" y="0"/>
                </a:lnTo>
                <a:lnTo>
                  <a:pt x="0" y="0"/>
                </a:lnTo>
                <a:lnTo>
                  <a:pt x="0" y="12841560"/>
                </a:lnTo>
                <a:close/>
              </a:path>
            </a:pathLst>
          </a:custGeom>
          <a:blipFill>
            <a:blip>
              <a:extLst>
                <a:ext uri="{96DAC541-7B7A-43D3-8B79-37D633B846F1}">
                  <asvg:svgBlip xmlns:asvg="http://schemas.microsoft.com/office/drawing/2016/SVG/main" r:embed="rId2"/>
                </a:ext>
              </a:extLst>
            </a:blip>
            <a:stretch>
              <a:fillRect l="-1427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extBox 3">
            <a:extLst>
              <a:ext uri="{FF2B5EF4-FFF2-40B4-BE49-F238E27FC236}">
                <a16:creationId xmlns:a16="http://schemas.microsoft.com/office/drawing/2014/main" id="{C89286F3-6FAC-9879-A235-584AC16A40FB}"/>
              </a:ext>
            </a:extLst>
          </p:cNvPr>
          <p:cNvSpPr txBox="1"/>
          <p:nvPr/>
        </p:nvSpPr>
        <p:spPr>
          <a:xfrm>
            <a:off x="11327667" y="6710787"/>
            <a:ext cx="4386222" cy="720325"/>
          </a:xfrm>
          <a:prstGeom prst="rect">
            <a:avLst/>
          </a:prstGeom>
        </p:spPr>
        <p:txBody>
          <a:bodyPr wrap="square" lIns="0" tIns="0" rIns="0" bIns="0" rtlCol="0" anchor="t">
            <a:spAutoFit/>
          </a:bodyPr>
          <a:lstStyle/>
          <a:p>
            <a:pPr marL="0" marR="0" lvl="0" indent="0" algn="ctr"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Final Decision Threshold Tuned By Maximizing Validation F1: </a:t>
            </a:r>
          </a:p>
        </p:txBody>
      </p:sp>
      <p:sp>
        <p:nvSpPr>
          <p:cNvPr id="5" name="TextBox 5">
            <a:extLst>
              <a:ext uri="{FF2B5EF4-FFF2-40B4-BE49-F238E27FC236}">
                <a16:creationId xmlns:a16="http://schemas.microsoft.com/office/drawing/2014/main" id="{6AA3C61C-B43A-B290-8DFA-3323D31F5463}"/>
              </a:ext>
            </a:extLst>
          </p:cNvPr>
          <p:cNvSpPr txBox="1"/>
          <p:nvPr/>
        </p:nvSpPr>
        <p:spPr>
          <a:xfrm>
            <a:off x="6188997" y="4530100"/>
            <a:ext cx="5011916" cy="720325"/>
          </a:xfrm>
          <a:prstGeom prst="rect">
            <a:avLst/>
          </a:prstGeom>
        </p:spPr>
        <p:txBody>
          <a:bodyPr wrap="square"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To Account for Class Imbalance Binary Cross Entropy Loss </a:t>
            </a:r>
            <a:r>
              <a:rPr lang="en-US" sz="2100" b="1" dirty="0">
                <a:solidFill>
                  <a:srgbClr val="000000"/>
                </a:solidFill>
                <a:latin typeface="Canva Sans Bold"/>
                <a:ea typeface="Canva Sans Bold"/>
                <a:cs typeface="Canva Sans Bold"/>
                <a:sym typeface="Canva Sans Bold"/>
              </a:rPr>
              <a:t>Used:</a:t>
            </a:r>
            <a:endPar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endParaRPr>
          </a:p>
        </p:txBody>
      </p:sp>
      <p:sp>
        <p:nvSpPr>
          <p:cNvPr id="9" name="TextBox 9">
            <a:extLst>
              <a:ext uri="{FF2B5EF4-FFF2-40B4-BE49-F238E27FC236}">
                <a16:creationId xmlns:a16="http://schemas.microsoft.com/office/drawing/2014/main" id="{D1052BAB-E4DB-404A-3783-EE4F9B9AA93B}"/>
              </a:ext>
            </a:extLst>
          </p:cNvPr>
          <p:cNvSpPr txBox="1"/>
          <p:nvPr/>
        </p:nvSpPr>
        <p:spPr>
          <a:xfrm>
            <a:off x="12026959" y="2728984"/>
            <a:ext cx="4071446" cy="348429"/>
          </a:xfrm>
          <a:prstGeom prst="rect">
            <a:avLst/>
          </a:prstGeom>
        </p:spPr>
        <p:txBody>
          <a:bodyPr wrap="square"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00000"/>
                </a:solidFill>
                <a:effectLst/>
                <a:uLnTx/>
                <a:uFillTx/>
                <a:latin typeface="Canva Sans Bold"/>
                <a:ea typeface="Canva Sans Bold"/>
                <a:cs typeface="Canva Sans Bold"/>
                <a:sym typeface="Canva Sans Bold"/>
              </a:rPr>
              <a:t>Predicted Event Probability:</a:t>
            </a:r>
          </a:p>
        </p:txBody>
      </p:sp>
      <p:sp>
        <p:nvSpPr>
          <p:cNvPr id="11" name="TextBox 11">
            <a:extLst>
              <a:ext uri="{FF2B5EF4-FFF2-40B4-BE49-F238E27FC236}">
                <a16:creationId xmlns:a16="http://schemas.microsoft.com/office/drawing/2014/main" id="{1EDD8515-3ED7-FADC-7EAD-7B4127AA6D62}"/>
              </a:ext>
            </a:extLst>
          </p:cNvPr>
          <p:cNvSpPr txBox="1"/>
          <p:nvPr/>
        </p:nvSpPr>
        <p:spPr>
          <a:xfrm>
            <a:off x="3048000" y="333827"/>
            <a:ext cx="11734800" cy="769441"/>
          </a:xfrm>
          <a:prstGeom prst="rect">
            <a:avLst/>
          </a:prstGeom>
        </p:spPr>
        <p:txBody>
          <a:bodyPr wrap="square" lIns="0" tIns="0" rIns="0" bIns="0" rtlCol="0" anchor="t">
            <a:spAutoFit/>
          </a:bodyPr>
          <a:lstStyle/>
          <a:p>
            <a:pPr marL="0" marR="0" lvl="0" indent="0" algn="l" defTabSz="914400" rtl="0" eaLnBrk="1" fontAlgn="auto" latinLnBrk="0" hangingPunct="1">
              <a:lnSpc>
                <a:spcPts val="6032"/>
              </a:lnSpc>
              <a:spcBef>
                <a:spcPts val="0"/>
              </a:spcBef>
              <a:spcAft>
                <a:spcPts val="0"/>
              </a:spcAft>
              <a:buClrTx/>
              <a:buSzTx/>
              <a:buFontTx/>
              <a:buNone/>
              <a:tabLst/>
              <a:defRPr/>
            </a:pPr>
            <a:r>
              <a:rPr kumimoji="0" lang="en-US" sz="6000" b="1" i="0" u="none" strike="noStrike" kern="1200" cap="none" spc="0" normalizeH="0" baseline="0" noProof="0" dirty="0">
                <a:ln>
                  <a:noFill/>
                </a:ln>
                <a:solidFill>
                  <a:schemeClr val="tx2"/>
                </a:solidFill>
                <a:effectLst/>
                <a:uLnTx/>
                <a:uFillTx/>
                <a:latin typeface="Open Sauce Bold"/>
                <a:ea typeface="Open Sauce Bold"/>
                <a:cs typeface="Open Sauce Bold"/>
                <a:sym typeface="Open Sauce Bold"/>
              </a:rPr>
              <a:t>Classification Extension:</a:t>
            </a:r>
          </a:p>
        </p:txBody>
      </p:sp>
      <p:sp>
        <p:nvSpPr>
          <p:cNvPr id="12" name="TextBox 12">
            <a:extLst>
              <a:ext uri="{FF2B5EF4-FFF2-40B4-BE49-F238E27FC236}">
                <a16:creationId xmlns:a16="http://schemas.microsoft.com/office/drawing/2014/main" id="{9CBCECA4-E078-A572-C2D3-6841D32A8B2C}"/>
              </a:ext>
            </a:extLst>
          </p:cNvPr>
          <p:cNvSpPr txBox="1"/>
          <p:nvPr/>
        </p:nvSpPr>
        <p:spPr>
          <a:xfrm>
            <a:off x="3616351" y="1484961"/>
            <a:ext cx="8118186" cy="756746"/>
          </a:xfrm>
          <a:prstGeom prst="rect">
            <a:avLst/>
          </a:prstGeom>
        </p:spPr>
        <p:txBody>
          <a:bodyPr wrap="square" lIns="0" tIns="0" rIns="0" bIns="0" rtlCol="0" anchor="t">
            <a:spAutoFit/>
          </a:bodyPr>
          <a:lstStyle/>
          <a:p>
            <a:pPr marL="0" marR="0" lvl="0" indent="0" algn="l" defTabSz="914400" rtl="0" eaLnBrk="1" fontAlgn="auto" latinLnBrk="0" hangingPunct="1">
              <a:lnSpc>
                <a:spcPts val="294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Canva Sans"/>
                <a:ea typeface="Canva Sans"/>
                <a:cs typeface="Canva Sans"/>
                <a:sym typeface="Canva Sans"/>
              </a:rPr>
              <a:t>After fusion, latent vector is passed through multilayer perception: </a:t>
            </a:r>
          </a:p>
        </p:txBody>
      </p:sp>
      <p:sp>
        <p:nvSpPr>
          <p:cNvPr id="16" name="Freeform 16">
            <a:extLst>
              <a:ext uri="{FF2B5EF4-FFF2-40B4-BE49-F238E27FC236}">
                <a16:creationId xmlns:a16="http://schemas.microsoft.com/office/drawing/2014/main" id="{8B4BC48D-4A14-3A76-B26F-6F7AE93AE635}"/>
              </a:ext>
            </a:extLst>
          </p:cNvPr>
          <p:cNvSpPr/>
          <p:nvPr/>
        </p:nvSpPr>
        <p:spPr>
          <a:xfrm>
            <a:off x="6204946" y="2926830"/>
            <a:ext cx="608007" cy="669059"/>
          </a:xfrm>
          <a:custGeom>
            <a:avLst/>
            <a:gdLst/>
            <a:ahLst/>
            <a:cxnLst/>
            <a:rect l="l" t="t" r="r" b="b"/>
            <a:pathLst>
              <a:path w="608007" h="669059">
                <a:moveTo>
                  <a:pt x="0" y="0"/>
                </a:moveTo>
                <a:lnTo>
                  <a:pt x="608008" y="0"/>
                </a:lnTo>
                <a:lnTo>
                  <a:pt x="608008" y="669058"/>
                </a:lnTo>
                <a:lnTo>
                  <a:pt x="0" y="6690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291BB912-B7BB-9FBC-BFC1-102163107266}"/>
              </a:ext>
            </a:extLst>
          </p:cNvPr>
          <p:cNvPicPr>
            <a:picLocks noChangeAspect="1"/>
          </p:cNvPicPr>
          <p:nvPr/>
        </p:nvPicPr>
        <p:blipFill>
          <a:blip r:embed="rId4"/>
          <a:stretch>
            <a:fillRect/>
          </a:stretch>
        </p:blipFill>
        <p:spPr>
          <a:xfrm>
            <a:off x="6320822" y="2487003"/>
            <a:ext cx="3682296" cy="1292845"/>
          </a:xfrm>
          <a:prstGeom prst="rect">
            <a:avLst/>
          </a:prstGeom>
          <a:ln w="69850">
            <a:solidFill>
              <a:srgbClr val="FFB376"/>
            </a:solidFill>
          </a:ln>
        </p:spPr>
      </p:pic>
      <p:pic>
        <p:nvPicPr>
          <p:cNvPr id="21" name="Picture 20">
            <a:extLst>
              <a:ext uri="{FF2B5EF4-FFF2-40B4-BE49-F238E27FC236}">
                <a16:creationId xmlns:a16="http://schemas.microsoft.com/office/drawing/2014/main" id="{77BC4AF5-A82B-2F27-1215-AF47DA813C13}"/>
              </a:ext>
            </a:extLst>
          </p:cNvPr>
          <p:cNvPicPr>
            <a:picLocks noChangeAspect="1"/>
          </p:cNvPicPr>
          <p:nvPr/>
        </p:nvPicPr>
        <p:blipFill>
          <a:blip r:embed="rId5"/>
          <a:stretch>
            <a:fillRect/>
          </a:stretch>
        </p:blipFill>
        <p:spPr>
          <a:xfrm>
            <a:off x="11234583" y="3320202"/>
            <a:ext cx="5590581" cy="720325"/>
          </a:xfrm>
          <a:prstGeom prst="rect">
            <a:avLst/>
          </a:prstGeom>
          <a:ln w="95250">
            <a:solidFill>
              <a:srgbClr val="FF94A0"/>
            </a:solidFill>
          </a:ln>
        </p:spPr>
      </p:pic>
      <p:pic>
        <p:nvPicPr>
          <p:cNvPr id="23" name="Picture 22">
            <a:extLst>
              <a:ext uri="{FF2B5EF4-FFF2-40B4-BE49-F238E27FC236}">
                <a16:creationId xmlns:a16="http://schemas.microsoft.com/office/drawing/2014/main" id="{0123BC87-89AF-ECF7-78AA-B04972860957}"/>
              </a:ext>
            </a:extLst>
          </p:cNvPr>
          <p:cNvPicPr>
            <a:picLocks noChangeAspect="1"/>
          </p:cNvPicPr>
          <p:nvPr/>
        </p:nvPicPr>
        <p:blipFill>
          <a:blip r:embed="rId6"/>
          <a:stretch>
            <a:fillRect/>
          </a:stretch>
        </p:blipFill>
        <p:spPr>
          <a:xfrm>
            <a:off x="5105400" y="5573617"/>
            <a:ext cx="6712426" cy="715663"/>
          </a:xfrm>
          <a:prstGeom prst="rect">
            <a:avLst/>
          </a:prstGeom>
          <a:ln w="79375">
            <a:solidFill>
              <a:srgbClr val="AB87FF"/>
            </a:solidFill>
          </a:ln>
        </p:spPr>
      </p:pic>
      <p:pic>
        <p:nvPicPr>
          <p:cNvPr id="26" name="Picture 25">
            <a:extLst>
              <a:ext uri="{FF2B5EF4-FFF2-40B4-BE49-F238E27FC236}">
                <a16:creationId xmlns:a16="http://schemas.microsoft.com/office/drawing/2014/main" id="{F8CB26A4-3024-1185-06B4-E341B2C433DB}"/>
              </a:ext>
            </a:extLst>
          </p:cNvPr>
          <p:cNvPicPr>
            <a:picLocks noChangeAspect="1"/>
          </p:cNvPicPr>
          <p:nvPr/>
        </p:nvPicPr>
        <p:blipFill>
          <a:blip r:embed="rId7"/>
          <a:stretch>
            <a:fillRect/>
          </a:stretch>
        </p:blipFill>
        <p:spPr>
          <a:xfrm>
            <a:off x="11746942" y="7887775"/>
            <a:ext cx="3547674" cy="981828"/>
          </a:xfrm>
          <a:prstGeom prst="rect">
            <a:avLst/>
          </a:prstGeom>
        </p:spPr>
      </p:pic>
      <p:pic>
        <p:nvPicPr>
          <p:cNvPr id="28" name="Picture 27">
            <a:extLst>
              <a:ext uri="{FF2B5EF4-FFF2-40B4-BE49-F238E27FC236}">
                <a16:creationId xmlns:a16="http://schemas.microsoft.com/office/drawing/2014/main" id="{A61A2285-B66B-C1D1-6B2A-8E26904486BD}"/>
              </a:ext>
            </a:extLst>
          </p:cNvPr>
          <p:cNvPicPr>
            <a:picLocks noChangeAspect="1"/>
          </p:cNvPicPr>
          <p:nvPr/>
        </p:nvPicPr>
        <p:blipFill>
          <a:blip r:embed="rId8"/>
          <a:stretch>
            <a:fillRect/>
          </a:stretch>
        </p:blipFill>
        <p:spPr>
          <a:xfrm>
            <a:off x="12025187" y="8801100"/>
            <a:ext cx="2991183" cy="826136"/>
          </a:xfrm>
          <a:prstGeom prst="rect">
            <a:avLst/>
          </a:prstGeom>
        </p:spPr>
      </p:pic>
    </p:spTree>
    <p:extLst>
      <p:ext uri="{BB962C8B-B14F-4D97-AF65-F5344CB8AC3E}">
        <p14:creationId xmlns:p14="http://schemas.microsoft.com/office/powerpoint/2010/main" val="4276748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34E8B-00CC-89EB-217B-A24787866BDC}"/>
              </a:ext>
            </a:extLst>
          </p:cNvPr>
          <p:cNvSpPr>
            <a:spLocks noGrp="1"/>
          </p:cNvSpPr>
          <p:nvPr>
            <p:ph type="title"/>
          </p:nvPr>
        </p:nvSpPr>
        <p:spPr>
          <a:xfrm>
            <a:off x="1295400" y="419100"/>
            <a:ext cx="11506200" cy="1143000"/>
          </a:xfrm>
        </p:spPr>
        <p:txBody>
          <a:bodyPr>
            <a:noAutofit/>
          </a:bodyPr>
          <a:lstStyle/>
          <a:p>
            <a:r>
              <a:rPr lang="en-US" sz="6000" b="1" dirty="0">
                <a:solidFill>
                  <a:schemeClr val="tx2"/>
                </a:solidFill>
              </a:rPr>
              <a:t>Forecast and Classification Runs:</a:t>
            </a:r>
          </a:p>
        </p:txBody>
      </p:sp>
      <p:sp>
        <p:nvSpPr>
          <p:cNvPr id="3" name="Content Placeholder 2">
            <a:extLst>
              <a:ext uri="{FF2B5EF4-FFF2-40B4-BE49-F238E27FC236}">
                <a16:creationId xmlns:a16="http://schemas.microsoft.com/office/drawing/2014/main" id="{A554DEA7-9519-5B7A-EED5-4A02348EE21E}"/>
              </a:ext>
            </a:extLst>
          </p:cNvPr>
          <p:cNvSpPr>
            <a:spLocks noGrp="1"/>
          </p:cNvSpPr>
          <p:nvPr>
            <p:ph sz="half" idx="1"/>
          </p:nvPr>
        </p:nvSpPr>
        <p:spPr>
          <a:xfrm>
            <a:off x="1752600" y="2171700"/>
            <a:ext cx="7918560" cy="6779142"/>
          </a:xfrm>
        </p:spPr>
        <p:txBody>
          <a:bodyPr>
            <a:normAutofit/>
          </a:bodyPr>
          <a:lstStyle/>
          <a:p>
            <a:r>
              <a:rPr lang="en-US" sz="3600" dirty="0"/>
              <a:t>Ablation study used to assess one gate extension at a time</a:t>
            </a:r>
          </a:p>
          <a:p>
            <a:r>
              <a:rPr lang="en-US" sz="3600" dirty="0"/>
              <a:t>Ablation used in both forecasting and classification models</a:t>
            </a:r>
          </a:p>
          <a:p>
            <a:r>
              <a:rPr lang="en-US" sz="3600" dirty="0"/>
              <a:t>Forecasting and Classification models run for MIMIC and FNSPID</a:t>
            </a:r>
          </a:p>
        </p:txBody>
      </p:sp>
      <p:pic>
        <p:nvPicPr>
          <p:cNvPr id="6" name="Picture 5">
            <a:extLst>
              <a:ext uri="{FF2B5EF4-FFF2-40B4-BE49-F238E27FC236}">
                <a16:creationId xmlns:a16="http://schemas.microsoft.com/office/drawing/2014/main" id="{CD051B47-9BC3-0261-46A8-DDC3E6D3B439}"/>
              </a:ext>
            </a:extLst>
          </p:cNvPr>
          <p:cNvPicPr>
            <a:picLocks noChangeAspect="1"/>
          </p:cNvPicPr>
          <p:nvPr/>
        </p:nvPicPr>
        <p:blipFill>
          <a:blip r:embed="rId2"/>
          <a:stretch>
            <a:fillRect/>
          </a:stretch>
        </p:blipFill>
        <p:spPr>
          <a:xfrm>
            <a:off x="10210800" y="2171700"/>
            <a:ext cx="6629400" cy="6866870"/>
          </a:xfrm>
          <a:prstGeom prst="rect">
            <a:avLst/>
          </a:prstGeom>
          <a:ln w="85725">
            <a:solidFill>
              <a:srgbClr val="AB87FF"/>
            </a:solidFill>
          </a:ln>
        </p:spPr>
      </p:pic>
      <p:pic>
        <p:nvPicPr>
          <p:cNvPr id="7" name="Picture 6">
            <a:extLst>
              <a:ext uri="{FF2B5EF4-FFF2-40B4-BE49-F238E27FC236}">
                <a16:creationId xmlns:a16="http://schemas.microsoft.com/office/drawing/2014/main" id="{6532B5A4-09A1-B6C4-6C40-C9A22F004FD7}"/>
              </a:ext>
            </a:extLst>
          </p:cNvPr>
          <p:cNvPicPr>
            <a:picLocks noChangeAspect="1"/>
          </p:cNvPicPr>
          <p:nvPr/>
        </p:nvPicPr>
        <p:blipFill>
          <a:blip r:embed="rId3">
            <a:alphaModFix amt="31000"/>
          </a:blip>
          <a:stretch>
            <a:fillRect/>
          </a:stretch>
        </p:blipFill>
        <p:spPr>
          <a:xfrm rot="16200000">
            <a:off x="11416135" y="5188613"/>
            <a:ext cx="1554615" cy="9254530"/>
          </a:xfrm>
          <a:prstGeom prst="rect">
            <a:avLst/>
          </a:prstGeom>
        </p:spPr>
      </p:pic>
      <p:pic>
        <p:nvPicPr>
          <p:cNvPr id="8" name="Picture 7">
            <a:extLst>
              <a:ext uri="{FF2B5EF4-FFF2-40B4-BE49-F238E27FC236}">
                <a16:creationId xmlns:a16="http://schemas.microsoft.com/office/drawing/2014/main" id="{7A631085-07F3-DCE5-4FF0-3E47DC5A7BE5}"/>
              </a:ext>
            </a:extLst>
          </p:cNvPr>
          <p:cNvPicPr>
            <a:picLocks noChangeAspect="1"/>
          </p:cNvPicPr>
          <p:nvPr/>
        </p:nvPicPr>
        <p:blipFill>
          <a:blip r:embed="rId3">
            <a:alphaModFix amt="31000"/>
          </a:blip>
          <a:stretch>
            <a:fillRect/>
          </a:stretch>
        </p:blipFill>
        <p:spPr>
          <a:xfrm rot="16200000">
            <a:off x="3316558" y="1711313"/>
            <a:ext cx="1554615" cy="9254530"/>
          </a:xfrm>
          <a:prstGeom prst="rect">
            <a:avLst/>
          </a:prstGeom>
        </p:spPr>
      </p:pic>
      <p:pic>
        <p:nvPicPr>
          <p:cNvPr id="9" name="Picture 8">
            <a:extLst>
              <a:ext uri="{FF2B5EF4-FFF2-40B4-BE49-F238E27FC236}">
                <a16:creationId xmlns:a16="http://schemas.microsoft.com/office/drawing/2014/main" id="{F84AB60E-FB02-2785-1BE9-ADD195B21988}"/>
              </a:ext>
            </a:extLst>
          </p:cNvPr>
          <p:cNvPicPr>
            <a:picLocks noChangeAspect="1"/>
          </p:cNvPicPr>
          <p:nvPr/>
        </p:nvPicPr>
        <p:blipFill>
          <a:blip r:embed="rId3">
            <a:alphaModFix amt="31000"/>
          </a:blip>
          <a:stretch>
            <a:fillRect/>
          </a:stretch>
        </p:blipFill>
        <p:spPr>
          <a:xfrm rot="16200000">
            <a:off x="-3236642" y="-2889181"/>
            <a:ext cx="1554615" cy="9254530"/>
          </a:xfrm>
          <a:prstGeom prst="rect">
            <a:avLst/>
          </a:prstGeom>
        </p:spPr>
      </p:pic>
    </p:spTree>
    <p:extLst>
      <p:ext uri="{BB962C8B-B14F-4D97-AF65-F5344CB8AC3E}">
        <p14:creationId xmlns:p14="http://schemas.microsoft.com/office/powerpoint/2010/main" val="4181666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1B6DD-3A63-E878-9165-9BC6AD428B65}"/>
              </a:ext>
            </a:extLst>
          </p:cNvPr>
          <p:cNvSpPr>
            <a:spLocks noGrp="1"/>
          </p:cNvSpPr>
          <p:nvPr>
            <p:ph type="title"/>
          </p:nvPr>
        </p:nvSpPr>
        <p:spPr>
          <a:xfrm>
            <a:off x="0" y="254222"/>
            <a:ext cx="8991600" cy="1517871"/>
          </a:xfrm>
        </p:spPr>
        <p:txBody>
          <a:bodyPr>
            <a:noAutofit/>
          </a:bodyPr>
          <a:lstStyle/>
          <a:p>
            <a:r>
              <a:rPr lang="en-US" sz="6000" b="1" dirty="0">
                <a:solidFill>
                  <a:schemeClr val="tx2"/>
                </a:solidFill>
              </a:rPr>
              <a:t>Reproduction of Paper Results</a:t>
            </a:r>
          </a:p>
        </p:txBody>
      </p:sp>
      <p:sp>
        <p:nvSpPr>
          <p:cNvPr id="3" name="Content Placeholder 2">
            <a:extLst>
              <a:ext uri="{FF2B5EF4-FFF2-40B4-BE49-F238E27FC236}">
                <a16:creationId xmlns:a16="http://schemas.microsoft.com/office/drawing/2014/main" id="{1D544292-4D82-2A47-2639-D12075E01EC8}"/>
              </a:ext>
            </a:extLst>
          </p:cNvPr>
          <p:cNvSpPr>
            <a:spLocks noGrp="1"/>
          </p:cNvSpPr>
          <p:nvPr>
            <p:ph sz="half" idx="1"/>
          </p:nvPr>
        </p:nvSpPr>
        <p:spPr>
          <a:xfrm>
            <a:off x="636181" y="2171700"/>
            <a:ext cx="8534400" cy="7086600"/>
          </a:xfrm>
        </p:spPr>
        <p:txBody>
          <a:bodyPr>
            <a:normAutofit/>
          </a:bodyPr>
          <a:lstStyle/>
          <a:p>
            <a:r>
              <a:rPr lang="en-US" sz="3600" dirty="0"/>
              <a:t>We reproduced IMM-TSF results for 5 of the benchmark datasets across the 3 types of proposed irregularity</a:t>
            </a:r>
          </a:p>
          <a:p>
            <a:pPr lvl="1"/>
            <a:r>
              <a:rPr lang="en-US" sz="3600" dirty="0"/>
              <a:t>GDELT: Trigger Based</a:t>
            </a:r>
          </a:p>
          <a:p>
            <a:pPr lvl="1"/>
            <a:r>
              <a:rPr lang="en-US" sz="3600" dirty="0"/>
              <a:t>FNSPID: Artifact Based</a:t>
            </a:r>
          </a:p>
          <a:p>
            <a:pPr lvl="1"/>
            <a:r>
              <a:rPr lang="en-US" sz="3600" dirty="0"/>
              <a:t>CESNET: Constraint Based</a:t>
            </a:r>
          </a:p>
          <a:p>
            <a:pPr lvl="1"/>
            <a:r>
              <a:rPr lang="en-US" sz="3600" dirty="0" err="1"/>
              <a:t>ClusterTrace</a:t>
            </a:r>
            <a:r>
              <a:rPr lang="en-US" sz="3600" dirty="0"/>
              <a:t>: Artifact Based</a:t>
            </a:r>
          </a:p>
          <a:p>
            <a:pPr lvl="1"/>
            <a:r>
              <a:rPr lang="en-US" sz="3600" dirty="0"/>
              <a:t>MIMIC-IV: Trigger Based</a:t>
            </a:r>
          </a:p>
          <a:p>
            <a:r>
              <a:rPr lang="en-US" sz="3600" dirty="0"/>
              <a:t>Using GPT-2 and t-</a:t>
            </a:r>
            <a:r>
              <a:rPr lang="en-US" sz="3600" dirty="0" err="1"/>
              <a:t>PatchGNN</a:t>
            </a:r>
            <a:endParaRPr lang="en-US" sz="3600" dirty="0"/>
          </a:p>
          <a:p>
            <a:pPr marL="0" indent="0">
              <a:buNone/>
            </a:pPr>
            <a:endParaRPr lang="en-US" sz="3600" dirty="0"/>
          </a:p>
        </p:txBody>
      </p:sp>
      <p:sp>
        <p:nvSpPr>
          <p:cNvPr id="9" name="TextBox 8">
            <a:extLst>
              <a:ext uri="{FF2B5EF4-FFF2-40B4-BE49-F238E27FC236}">
                <a16:creationId xmlns:a16="http://schemas.microsoft.com/office/drawing/2014/main" id="{072F6DDF-590F-9E73-015A-C7C9195CA595}"/>
              </a:ext>
            </a:extLst>
          </p:cNvPr>
          <p:cNvSpPr txBox="1"/>
          <p:nvPr/>
        </p:nvSpPr>
        <p:spPr>
          <a:xfrm>
            <a:off x="9448800" y="8648700"/>
            <a:ext cx="9191139" cy="1569660"/>
          </a:xfrm>
          <a:prstGeom prst="rect">
            <a:avLst/>
          </a:prstGeom>
          <a:noFill/>
        </p:spPr>
        <p:txBody>
          <a:bodyPr wrap="square">
            <a:spAutoFit/>
          </a:bodyPr>
          <a:lstStyle/>
          <a:p>
            <a:pPr>
              <a:lnSpc>
                <a:spcPct val="100000"/>
              </a:lnSpc>
              <a:spcBef>
                <a:spcPts val="0"/>
              </a:spcBef>
            </a:pPr>
            <a:r>
              <a:rPr lang="en-US" sz="3200" i="1" dirty="0"/>
              <a:t>Table 1.</a:t>
            </a:r>
            <a:r>
              <a:rPr lang="en-US" sz="3200" b="0" i="1" dirty="0"/>
              <a:t> Model performance comparisons for 		     reproduction results from </a:t>
            </a:r>
          </a:p>
          <a:p>
            <a:pPr>
              <a:lnSpc>
                <a:spcPct val="100000"/>
              </a:lnSpc>
              <a:spcBef>
                <a:spcPts val="0"/>
              </a:spcBef>
            </a:pPr>
            <a:r>
              <a:rPr lang="en-US" sz="3200" i="1" dirty="0"/>
              <a:t>	     </a:t>
            </a:r>
            <a:r>
              <a:rPr lang="en-US" sz="3200" b="0" i="1" dirty="0"/>
              <a:t>Chang et al., 2025 IMM-TSF</a:t>
            </a:r>
          </a:p>
        </p:txBody>
      </p:sp>
      <p:graphicFrame>
        <p:nvGraphicFramePr>
          <p:cNvPr id="10" name="Table 9">
            <a:extLst>
              <a:ext uri="{FF2B5EF4-FFF2-40B4-BE49-F238E27FC236}">
                <a16:creationId xmlns:a16="http://schemas.microsoft.com/office/drawing/2014/main" id="{3DE5CB3F-1094-E3BA-D802-0EC3656B4BC0}"/>
              </a:ext>
            </a:extLst>
          </p:cNvPr>
          <p:cNvGraphicFramePr>
            <a:graphicFrameLocks noGrp="1"/>
          </p:cNvGraphicFramePr>
          <p:nvPr>
            <p:extLst>
              <p:ext uri="{D42A27DB-BD31-4B8C-83A1-F6EECF244321}">
                <p14:modId xmlns:p14="http://schemas.microsoft.com/office/powerpoint/2010/main" val="2113715930"/>
              </p:ext>
            </p:extLst>
          </p:nvPr>
        </p:nvGraphicFramePr>
        <p:xfrm>
          <a:off x="9296400" y="272829"/>
          <a:ext cx="8534400" cy="8096506"/>
        </p:xfrm>
        <a:graphic>
          <a:graphicData uri="http://schemas.openxmlformats.org/drawingml/2006/table">
            <a:tbl>
              <a:tblPr/>
              <a:tblGrid>
                <a:gridCol w="1639315">
                  <a:extLst>
                    <a:ext uri="{9D8B030D-6E8A-4147-A177-3AD203B41FA5}">
                      <a16:colId xmlns:a16="http://schemas.microsoft.com/office/drawing/2014/main" val="347509223"/>
                    </a:ext>
                  </a:extLst>
                </a:gridCol>
                <a:gridCol w="3008885">
                  <a:extLst>
                    <a:ext uri="{9D8B030D-6E8A-4147-A177-3AD203B41FA5}">
                      <a16:colId xmlns:a16="http://schemas.microsoft.com/office/drawing/2014/main" val="3980417026"/>
                    </a:ext>
                  </a:extLst>
                </a:gridCol>
                <a:gridCol w="1082726">
                  <a:extLst>
                    <a:ext uri="{9D8B030D-6E8A-4147-A177-3AD203B41FA5}">
                      <a16:colId xmlns:a16="http://schemas.microsoft.com/office/drawing/2014/main" val="3985619348"/>
                    </a:ext>
                  </a:extLst>
                </a:gridCol>
                <a:gridCol w="974674">
                  <a:extLst>
                    <a:ext uri="{9D8B030D-6E8A-4147-A177-3AD203B41FA5}">
                      <a16:colId xmlns:a16="http://schemas.microsoft.com/office/drawing/2014/main" val="1945792390"/>
                    </a:ext>
                  </a:extLst>
                </a:gridCol>
                <a:gridCol w="1119949">
                  <a:extLst>
                    <a:ext uri="{9D8B030D-6E8A-4147-A177-3AD203B41FA5}">
                      <a16:colId xmlns:a16="http://schemas.microsoft.com/office/drawing/2014/main" val="403839876"/>
                    </a:ext>
                  </a:extLst>
                </a:gridCol>
                <a:gridCol w="708851">
                  <a:extLst>
                    <a:ext uri="{9D8B030D-6E8A-4147-A177-3AD203B41FA5}">
                      <a16:colId xmlns:a16="http://schemas.microsoft.com/office/drawing/2014/main" val="2738948510"/>
                    </a:ext>
                  </a:extLst>
                </a:gridCol>
              </a:tblGrid>
              <a:tr h="1011895">
                <a:tc gridSpan="2">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t">
                        <a:buNone/>
                      </a:pPr>
                      <a:r>
                        <a:rPr lang="en-US" sz="2400" b="1" i="0" u="none" strike="noStrike">
                          <a:solidFill>
                            <a:srgbClr val="000000"/>
                          </a:solidFill>
                          <a:effectLst/>
                          <a:latin typeface="+mj-lt"/>
                        </a:rPr>
                        <a:t>Model Reproduction Results </a:t>
                      </a:r>
                    </a:p>
                  </a:txBody>
                  <a:tcPr marL="6350" marR="6350" marT="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hMerge="1">
                  <a:txBody>
                    <a:bodyPr/>
                    <a:lstStyle/>
                    <a:p>
                      <a:endParaRPr lang="en-US"/>
                    </a:p>
                  </a:txBody>
                  <a:tcPr/>
                </a:tc>
                <a:tc gridSpan="2">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1" i="0" u="none" strike="noStrike" dirty="0">
                          <a:solidFill>
                            <a:srgbClr val="000000"/>
                          </a:solidFill>
                          <a:effectLst/>
                          <a:latin typeface="+mj-lt"/>
                        </a:rPr>
                        <a:t>Multimodal MSE</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hMerge="1">
                  <a:txBody>
                    <a:bodyPr/>
                    <a:lstStyle/>
                    <a:p>
                      <a:endParaRPr lang="en-US"/>
                    </a:p>
                  </a:txBody>
                  <a:tcPr/>
                </a:tc>
                <a:tc gridSpan="2">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1" i="0" u="none" strike="noStrike">
                          <a:solidFill>
                            <a:srgbClr val="000000"/>
                          </a:solidFill>
                          <a:effectLst/>
                          <a:latin typeface="+mj-lt"/>
                        </a:rPr>
                        <a:t>Unimodal MSE </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hMerge="1">
                  <a:txBody>
                    <a:bodyPr/>
                    <a:lstStyle/>
                    <a:p>
                      <a:endParaRPr lang="en-US"/>
                    </a:p>
                  </a:txBody>
                  <a:tcPr/>
                </a:tc>
                <a:extLst>
                  <a:ext uri="{0D108BD9-81ED-4DB2-BD59-A6C34878D82A}">
                    <a16:rowId xmlns:a16="http://schemas.microsoft.com/office/drawing/2014/main" val="3614756834"/>
                  </a:ext>
                </a:extLst>
              </a:tr>
              <a:tr h="841818">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1" i="0" u="none" strike="noStrike">
                          <a:solidFill>
                            <a:srgbClr val="000000"/>
                          </a:solidFill>
                          <a:effectLst/>
                          <a:latin typeface="+mn-lt"/>
                        </a:rPr>
                        <a:t>Dataset</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1" i="0" u="none" strike="noStrike">
                          <a:solidFill>
                            <a:srgbClr val="000000"/>
                          </a:solidFill>
                          <a:effectLst/>
                          <a:latin typeface="+mn-lt"/>
                        </a:rPr>
                        <a:t>Irregularity Type</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69092460"/>
                  </a:ext>
                </a:extLst>
              </a:tr>
              <a:tr h="1352644">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GDELT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Trigger-Based</a:t>
                      </a:r>
                    </a:p>
                    <a:p>
                      <a:pPr algn="ctr" fontAlgn="b">
                        <a:buNone/>
                      </a:pPr>
                      <a:r>
                        <a:rPr lang="en-US" sz="2400" b="0" i="0" u="none" strike="noStrike">
                          <a:solidFill>
                            <a:srgbClr val="000000"/>
                          </a:solidFill>
                          <a:effectLst/>
                          <a:latin typeface="+mn-lt"/>
                        </a:rPr>
                        <a:t> (</a:t>
                      </a:r>
                      <a:r>
                        <a:rPr lang="en-US" sz="2400">
                          <a:latin typeface="+mn-lt"/>
                        </a:rPr>
                        <a:t>Event-Based Logging</a:t>
                      </a:r>
                      <a:r>
                        <a:rPr lang="en-US" sz="2400" b="0" i="0" u="none" strike="noStrike">
                          <a:solidFill>
                            <a:srgbClr val="000000"/>
                          </a:solidFill>
                          <a:effectLst/>
                          <a:latin typeface="+mn-lt"/>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1.02</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1.04</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42921678"/>
                  </a:ext>
                </a:extLst>
              </a:tr>
              <a:tr h="1185881">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FNSPID</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Artifact-Based </a:t>
                      </a:r>
                    </a:p>
                    <a:p>
                      <a:pPr algn="ctr" fontAlgn="b">
                        <a:buNone/>
                      </a:pPr>
                      <a:r>
                        <a:rPr lang="en-US" sz="2400" b="0" i="0" u="none" strike="noStrike">
                          <a:solidFill>
                            <a:srgbClr val="000000"/>
                          </a:solidFill>
                          <a:effectLst/>
                          <a:latin typeface="+mn-lt"/>
                        </a:rPr>
                        <a:t>(</a:t>
                      </a:r>
                      <a:r>
                        <a:rPr lang="en-US" sz="2400">
                          <a:latin typeface="+mn-lt"/>
                        </a:rPr>
                        <a:t>Operational Window Sampling</a:t>
                      </a:r>
                      <a:r>
                        <a:rPr lang="en-US" sz="2400" b="0" i="0" u="none" strike="noStrike">
                          <a:solidFill>
                            <a:srgbClr val="000000"/>
                          </a:solidFill>
                          <a:effectLst/>
                          <a:latin typeface="+mn-lt"/>
                        </a:rPr>
                        <a:t> )</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83399887"/>
                  </a:ext>
                </a:extLst>
              </a:tr>
              <a:tr h="1234756">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CLUSTER TRACE</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Artifact-Based </a:t>
                      </a:r>
                    </a:p>
                    <a:p>
                      <a:pPr algn="ctr" fontAlgn="b">
                        <a:buNone/>
                      </a:pPr>
                      <a:r>
                        <a:rPr lang="en-US" sz="2400" b="0" i="0" u="none" strike="noStrike">
                          <a:solidFill>
                            <a:srgbClr val="000000"/>
                          </a:solidFill>
                          <a:effectLst/>
                          <a:latin typeface="+mn-lt"/>
                        </a:rPr>
                        <a:t>(</a:t>
                      </a:r>
                      <a:r>
                        <a:rPr lang="en-US" sz="2400">
                          <a:latin typeface="+mn-lt"/>
                        </a:rPr>
                        <a:t>Resource-Aware Collection</a:t>
                      </a:r>
                      <a:r>
                        <a:rPr lang="en-US" sz="2400" b="0" i="0" u="none" strike="noStrike">
                          <a:solidFill>
                            <a:srgbClr val="000000"/>
                          </a:solidFill>
                          <a:effectLst/>
                          <a:latin typeface="+mn-lt"/>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0.61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0.85</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0.87</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21850367"/>
                  </a:ext>
                </a:extLst>
              </a:tr>
              <a:tr h="1234756">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CESNET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400" b="0" i="0" u="none" strike="noStrike">
                          <a:solidFill>
                            <a:srgbClr val="000000"/>
                          </a:solidFill>
                          <a:effectLst/>
                          <a:latin typeface="+mn-lt"/>
                        </a:rPr>
                        <a:t>Constraint-Based </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2400" b="0" i="0" u="none" strike="noStrike">
                          <a:solidFill>
                            <a:srgbClr val="000000"/>
                          </a:solidFill>
                          <a:effectLst/>
                          <a:latin typeface="+mn-lt"/>
                        </a:rPr>
                        <a:t>(</a:t>
                      </a:r>
                      <a:r>
                        <a:rPr lang="en-US" sz="2400">
                          <a:latin typeface="+mn-lt"/>
                        </a:rPr>
                        <a:t>Scheduling Jitter / Delay</a:t>
                      </a:r>
                      <a:r>
                        <a:rPr lang="en-US" sz="2400" b="0" i="0" u="none" strike="noStrike">
                          <a:solidFill>
                            <a:srgbClr val="000000"/>
                          </a:solidFill>
                          <a:effectLst/>
                          <a:latin typeface="+mn-lt"/>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0.91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0.96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2400" b="0" i="0" u="none" strike="noStrike">
                          <a:solidFill>
                            <a:srgbClr val="000000"/>
                          </a:solidFill>
                          <a:effectLst/>
                          <a:latin typeface="+mn-lt"/>
                        </a:rPr>
                        <a:t>1.03</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247621506"/>
                  </a:ext>
                </a:extLst>
              </a:tr>
              <a:tr h="1234756">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2400" b="0" i="0" u="none" strike="noStrike">
                          <a:solidFill>
                            <a:srgbClr val="000000"/>
                          </a:solidFill>
                          <a:effectLst/>
                          <a:latin typeface="+mn-lt"/>
                        </a:rPr>
                        <a:t>MIMIC-IV</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2400" b="0" i="0" u="none" strike="noStrike" noProof="0">
                          <a:solidFill>
                            <a:srgbClr val="000000"/>
                          </a:solidFill>
                          <a:effectLst/>
                          <a:latin typeface="+mn-lt"/>
                        </a:rPr>
                        <a:t>Trigger-Based</a:t>
                      </a:r>
                    </a:p>
                    <a:p>
                      <a:pPr lvl="0" algn="ctr">
                        <a:buNone/>
                      </a:pPr>
                      <a:r>
                        <a:rPr lang="en-US" sz="2400" b="0" i="0" u="none" strike="noStrike" noProof="0">
                          <a:solidFill>
                            <a:srgbClr val="000000"/>
                          </a:solidFill>
                          <a:effectLst/>
                          <a:latin typeface="+mn-lt"/>
                        </a:rPr>
                        <a:t>(Event-Based Logging)</a:t>
                      </a:r>
                      <a:endParaRPr lang="en-US" sz="2400">
                        <a:latin typeface="+mn-lt"/>
                      </a:endParaRP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2400" b="0" i="0" u="none" strike="noStrike">
                          <a:solidFill>
                            <a:srgbClr val="000000"/>
                          </a:solidFill>
                          <a:effectLst/>
                          <a:latin typeface="+mn-lt"/>
                        </a:rPr>
                        <a:t>0.77</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2400" b="0" i="0" u="none" strike="noStrike">
                          <a:solidFill>
                            <a:srgbClr val="000000"/>
                          </a:solidFill>
                          <a:effectLst/>
                          <a:latin typeface="+mn-lt"/>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2400" b="0" i="0" u="none" strike="noStrike">
                          <a:solidFill>
                            <a:srgbClr val="000000"/>
                          </a:solidFill>
                          <a:effectLst/>
                          <a:latin typeface="+mn-lt"/>
                        </a:rPr>
                        <a:t>0.73</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2400" b="0" i="0" u="none" strike="noStrike" dirty="0">
                          <a:solidFill>
                            <a:srgbClr val="000000"/>
                          </a:solidFill>
                          <a:effectLst/>
                          <a:latin typeface="+mn-lt"/>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99131304"/>
                  </a:ext>
                </a:extLst>
              </a:tr>
            </a:tbl>
          </a:graphicData>
        </a:graphic>
      </p:graphicFrame>
      <p:sp>
        <p:nvSpPr>
          <p:cNvPr id="11" name="Freeform 2">
            <a:extLst>
              <a:ext uri="{FF2B5EF4-FFF2-40B4-BE49-F238E27FC236}">
                <a16:creationId xmlns:a16="http://schemas.microsoft.com/office/drawing/2014/main" id="{BAB310E5-BC0B-CB6D-CD26-DF5655969416}"/>
              </a:ext>
            </a:extLst>
          </p:cNvPr>
          <p:cNvSpPr/>
          <p:nvPr/>
        </p:nvSpPr>
        <p:spPr>
          <a:xfrm rot="13643382" flipH="1">
            <a:off x="3444922" y="8265182"/>
            <a:ext cx="5124450" cy="4614680"/>
          </a:xfrm>
          <a:custGeom>
            <a:avLst/>
            <a:gdLst/>
            <a:ahLst/>
            <a:cxnLst/>
            <a:rect l="l" t="t" r="r" b="b"/>
            <a:pathLst>
              <a:path w="6191250" h="6333760">
                <a:moveTo>
                  <a:pt x="6191250" y="0"/>
                </a:moveTo>
                <a:lnTo>
                  <a:pt x="0" y="0"/>
                </a:lnTo>
                <a:lnTo>
                  <a:pt x="0" y="6333759"/>
                </a:lnTo>
                <a:lnTo>
                  <a:pt x="6191250" y="6333759"/>
                </a:lnTo>
                <a:lnTo>
                  <a:pt x="619125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spTree>
    <p:extLst>
      <p:ext uri="{BB962C8B-B14F-4D97-AF65-F5344CB8AC3E}">
        <p14:creationId xmlns:p14="http://schemas.microsoft.com/office/powerpoint/2010/main" val="2580690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a:extLst>
              <a:ext uri="{FF2B5EF4-FFF2-40B4-BE49-F238E27FC236}">
                <a16:creationId xmlns:a16="http://schemas.microsoft.com/office/drawing/2014/main" id="{840FB0AD-6232-BE64-BB9B-51289C9C43F1}"/>
              </a:ext>
            </a:extLst>
          </p:cNvPr>
          <p:cNvSpPr/>
          <p:nvPr/>
        </p:nvSpPr>
        <p:spPr>
          <a:xfrm>
            <a:off x="3848100" y="283464"/>
            <a:ext cx="10591799" cy="8991600"/>
          </a:xfrm>
          <a:custGeom>
            <a:avLst/>
            <a:gdLst/>
            <a:ahLst/>
            <a:cxnLst/>
            <a:rect l="l" t="t" r="r" b="b"/>
            <a:pathLst>
              <a:path w="5059310" h="5059310">
                <a:moveTo>
                  <a:pt x="0" y="0"/>
                </a:moveTo>
                <a:lnTo>
                  <a:pt x="5059310" y="0"/>
                </a:lnTo>
                <a:lnTo>
                  <a:pt x="5059310" y="5059309"/>
                </a:lnTo>
                <a:lnTo>
                  <a:pt x="0" y="5059309"/>
                </a:lnTo>
                <a:lnTo>
                  <a:pt x="0" y="0"/>
                </a:lnTo>
                <a:close/>
              </a:path>
            </a:pathLst>
          </a:custGeom>
          <a:blipFill>
            <a:blip>
              <a:alphaModFix amt="7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2" name="Title 1">
            <a:extLst>
              <a:ext uri="{FF2B5EF4-FFF2-40B4-BE49-F238E27FC236}">
                <a16:creationId xmlns:a16="http://schemas.microsoft.com/office/drawing/2014/main" id="{55CE5AA1-EAE5-45DB-A536-B448755B7733}"/>
              </a:ext>
            </a:extLst>
          </p:cNvPr>
          <p:cNvSpPr>
            <a:spLocks noGrp="1"/>
          </p:cNvSpPr>
          <p:nvPr>
            <p:ph type="title"/>
          </p:nvPr>
        </p:nvSpPr>
        <p:spPr>
          <a:xfrm>
            <a:off x="381000" y="266700"/>
            <a:ext cx="17526000" cy="1143000"/>
          </a:xfrm>
        </p:spPr>
        <p:txBody>
          <a:bodyPr>
            <a:normAutofit/>
          </a:bodyPr>
          <a:lstStyle/>
          <a:p>
            <a:r>
              <a:rPr lang="en-US" sz="6000" b="1" dirty="0">
                <a:solidFill>
                  <a:schemeClr val="tx2"/>
                </a:solidFill>
              </a:rPr>
              <a:t>Results: Classification</a:t>
            </a:r>
          </a:p>
        </p:txBody>
      </p:sp>
      <p:sp>
        <p:nvSpPr>
          <p:cNvPr id="3" name="Content Placeholder 2">
            <a:extLst>
              <a:ext uri="{FF2B5EF4-FFF2-40B4-BE49-F238E27FC236}">
                <a16:creationId xmlns:a16="http://schemas.microsoft.com/office/drawing/2014/main" id="{DA4B8867-616C-CD61-8668-A86D19023DCA}"/>
              </a:ext>
            </a:extLst>
          </p:cNvPr>
          <p:cNvSpPr>
            <a:spLocks noGrp="1"/>
          </p:cNvSpPr>
          <p:nvPr>
            <p:ph sz="half" idx="1"/>
          </p:nvPr>
        </p:nvSpPr>
        <p:spPr>
          <a:xfrm>
            <a:off x="381000" y="1562100"/>
            <a:ext cx="17754600" cy="6858000"/>
          </a:xfrm>
        </p:spPr>
        <p:txBody>
          <a:bodyPr/>
          <a:lstStyle/>
          <a:p>
            <a:r>
              <a:rPr lang="en-US" sz="3600" dirty="0"/>
              <a:t>MIMIC mortality classification cohort was restricted to:</a:t>
            </a:r>
          </a:p>
          <a:p>
            <a:pPr lvl="1"/>
            <a:r>
              <a:rPr lang="en-US" sz="2800" dirty="0"/>
              <a:t>adult patients older than 15 years, </a:t>
            </a:r>
          </a:p>
          <a:p>
            <a:pPr lvl="1"/>
            <a:r>
              <a:rPr lang="en-US" sz="2800" dirty="0"/>
              <a:t>single-admission subjects, </a:t>
            </a:r>
          </a:p>
          <a:p>
            <a:pPr lvl="1"/>
            <a:r>
              <a:rPr lang="en-US" sz="2800" dirty="0"/>
              <a:t>admissions with length of stay greater than 30 days, and </a:t>
            </a:r>
          </a:p>
          <a:p>
            <a:pPr lvl="1"/>
            <a:r>
              <a:rPr lang="en-US" sz="2800" dirty="0"/>
              <a:t>admissions with available chart events / structured time-series data sufficient to build the multimodal representation.</a:t>
            </a:r>
          </a:p>
          <a:p>
            <a:pPr lvl="1"/>
            <a:r>
              <a:rPr lang="en-US" sz="2800" b="1" dirty="0"/>
              <a:t>N=1108</a:t>
            </a:r>
          </a:p>
          <a:p>
            <a:r>
              <a:rPr lang="en-US" sz="3600" dirty="0"/>
              <a:t>FNSPID dataset is extremely large, analytic classification sample is a processed subset:</a:t>
            </a:r>
          </a:p>
          <a:p>
            <a:pPr lvl="1"/>
            <a:r>
              <a:rPr lang="en-US" sz="2800" dirty="0"/>
              <a:t>usable structured market time-series segment</a:t>
            </a:r>
          </a:p>
          <a:p>
            <a:pPr lvl="1"/>
            <a:r>
              <a:rPr lang="en-US" sz="2800" dirty="0"/>
              <a:t>corresponding time-aligned text/news information, and</a:t>
            </a:r>
          </a:p>
          <a:p>
            <a:pPr lvl="1"/>
            <a:r>
              <a:rPr lang="en-US" sz="2800" dirty="0"/>
              <a:t>sufficient processed information to construct the multimodal input used by the t-</a:t>
            </a:r>
            <a:r>
              <a:rPr lang="en-US" sz="2800" dirty="0" err="1"/>
              <a:t>PatchGNN</a:t>
            </a:r>
            <a:r>
              <a:rPr lang="en-US" sz="2800" dirty="0"/>
              <a:t> plus fusion architecture.</a:t>
            </a:r>
          </a:p>
          <a:p>
            <a:pPr lvl="1"/>
            <a:r>
              <a:rPr lang="en-US" sz="2800" b="1" dirty="0"/>
              <a:t>N=678</a:t>
            </a:r>
          </a:p>
        </p:txBody>
      </p:sp>
    </p:spTree>
    <p:extLst>
      <p:ext uri="{BB962C8B-B14F-4D97-AF65-F5344CB8AC3E}">
        <p14:creationId xmlns:p14="http://schemas.microsoft.com/office/powerpoint/2010/main" val="3890994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9" name="Freeform 6">
            <a:extLst>
              <a:ext uri="{FF2B5EF4-FFF2-40B4-BE49-F238E27FC236}">
                <a16:creationId xmlns:a16="http://schemas.microsoft.com/office/drawing/2014/main" id="{A0C6F924-B02E-5AF2-EAEB-740687DCE33A}"/>
              </a:ext>
            </a:extLst>
          </p:cNvPr>
          <p:cNvSpPr/>
          <p:nvPr/>
        </p:nvSpPr>
        <p:spPr>
          <a:xfrm rot="1181750">
            <a:off x="-429873" y="-2218292"/>
            <a:ext cx="5059310" cy="5059310"/>
          </a:xfrm>
          <a:custGeom>
            <a:avLst/>
            <a:gdLst/>
            <a:ahLst/>
            <a:cxnLst/>
            <a:rect l="l" t="t" r="r" b="b"/>
            <a:pathLst>
              <a:path w="5059310" h="5059310">
                <a:moveTo>
                  <a:pt x="0" y="0"/>
                </a:moveTo>
                <a:lnTo>
                  <a:pt x="5059310" y="0"/>
                </a:lnTo>
                <a:lnTo>
                  <a:pt x="5059310" y="5059309"/>
                </a:lnTo>
                <a:lnTo>
                  <a:pt x="0" y="5059309"/>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6" name="Freeform 6"/>
          <p:cNvSpPr/>
          <p:nvPr/>
        </p:nvSpPr>
        <p:spPr>
          <a:xfrm rot="17102416">
            <a:off x="14209583" y="6551483"/>
            <a:ext cx="5059310" cy="5059310"/>
          </a:xfrm>
          <a:custGeom>
            <a:avLst/>
            <a:gdLst/>
            <a:ahLst/>
            <a:cxnLst/>
            <a:rect l="l" t="t" r="r" b="b"/>
            <a:pathLst>
              <a:path w="5059310" h="5059310">
                <a:moveTo>
                  <a:pt x="0" y="0"/>
                </a:moveTo>
                <a:lnTo>
                  <a:pt x="5059310" y="0"/>
                </a:lnTo>
                <a:lnTo>
                  <a:pt x="5059310" y="5059309"/>
                </a:lnTo>
                <a:lnTo>
                  <a:pt x="0" y="5059309"/>
                </a:lnTo>
                <a:lnTo>
                  <a:pt x="0" y="0"/>
                </a:lnTo>
                <a:close/>
              </a:path>
            </a:pathLst>
          </a:custGeom>
          <a:blipFill>
            <a:blip>
              <a:alphaModFix amt="52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9" name="TextBox 9"/>
          <p:cNvSpPr txBox="1"/>
          <p:nvPr/>
        </p:nvSpPr>
        <p:spPr>
          <a:xfrm>
            <a:off x="3352800" y="419100"/>
            <a:ext cx="3860115" cy="398058"/>
          </a:xfrm>
          <a:prstGeom prst="rect">
            <a:avLst/>
          </a:prstGeom>
        </p:spPr>
        <p:txBody>
          <a:bodyPr lIns="0" tIns="0" rIns="0" bIns="0" rtlCol="0" anchor="t">
            <a:spAutoFit/>
          </a:bodyPr>
          <a:lstStyle/>
          <a:p>
            <a:pPr algn="l">
              <a:lnSpc>
                <a:spcPts val="2940"/>
              </a:lnSpc>
            </a:pPr>
            <a:r>
              <a:rPr lang="en-US" sz="3600" b="1" dirty="0">
                <a:solidFill>
                  <a:srgbClr val="000000"/>
                </a:solidFill>
                <a:latin typeface="Canva Sans Bold"/>
                <a:ea typeface="Canva Sans Bold"/>
                <a:cs typeface="Canva Sans Bold"/>
                <a:sym typeface="Canva Sans Bold"/>
              </a:rPr>
              <a:t>Forecasting</a:t>
            </a:r>
          </a:p>
        </p:txBody>
      </p:sp>
      <p:sp>
        <p:nvSpPr>
          <p:cNvPr id="15" name="TextBox 15"/>
          <p:cNvSpPr txBox="1"/>
          <p:nvPr/>
        </p:nvSpPr>
        <p:spPr>
          <a:xfrm>
            <a:off x="-4267200" y="99409"/>
            <a:ext cx="12033998" cy="828548"/>
          </a:xfrm>
          <a:prstGeom prst="rect">
            <a:avLst/>
          </a:prstGeom>
        </p:spPr>
        <p:txBody>
          <a:bodyPr lIns="0" tIns="0" rIns="0" bIns="0" rtlCol="0" anchor="t">
            <a:spAutoFit/>
          </a:bodyPr>
          <a:lstStyle/>
          <a:p>
            <a:pPr algn="ctr">
              <a:lnSpc>
                <a:spcPts val="6496"/>
              </a:lnSpc>
            </a:pPr>
            <a:r>
              <a:rPr lang="en-US" sz="5600" b="1" dirty="0">
                <a:solidFill>
                  <a:schemeClr val="tx2"/>
                </a:solidFill>
                <a:latin typeface="Open Sauce Bold"/>
                <a:ea typeface="Open Sauce Bold"/>
                <a:cs typeface="Open Sauce Bold"/>
                <a:sym typeface="Open Sauce Bold"/>
              </a:rPr>
              <a:t>Results:</a:t>
            </a:r>
          </a:p>
        </p:txBody>
      </p:sp>
      <p:pic>
        <p:nvPicPr>
          <p:cNvPr id="22" name="Picture 21">
            <a:extLst>
              <a:ext uri="{FF2B5EF4-FFF2-40B4-BE49-F238E27FC236}">
                <a16:creationId xmlns:a16="http://schemas.microsoft.com/office/drawing/2014/main" id="{DDB71F8C-5773-3162-2F15-3238DDAF364E}"/>
              </a:ext>
            </a:extLst>
          </p:cNvPr>
          <p:cNvPicPr>
            <a:picLocks noChangeAspect="1"/>
          </p:cNvPicPr>
          <p:nvPr/>
        </p:nvPicPr>
        <p:blipFill>
          <a:blip r:embed="rId3"/>
          <a:stretch>
            <a:fillRect/>
          </a:stretch>
        </p:blipFill>
        <p:spPr>
          <a:xfrm>
            <a:off x="6282922" y="1203949"/>
            <a:ext cx="8576078" cy="4373901"/>
          </a:xfrm>
          <a:prstGeom prst="rect">
            <a:avLst/>
          </a:prstGeom>
          <a:ln w="73025">
            <a:solidFill>
              <a:schemeClr val="accent3">
                <a:lumMod val="60000"/>
                <a:lumOff val="40000"/>
              </a:schemeClr>
            </a:solidFill>
          </a:ln>
        </p:spPr>
      </p:pic>
      <p:pic>
        <p:nvPicPr>
          <p:cNvPr id="24" name="Picture 23">
            <a:extLst>
              <a:ext uri="{FF2B5EF4-FFF2-40B4-BE49-F238E27FC236}">
                <a16:creationId xmlns:a16="http://schemas.microsoft.com/office/drawing/2014/main" id="{7009C28F-0CAE-6C73-E5D3-B7098C4839DA}"/>
              </a:ext>
            </a:extLst>
          </p:cNvPr>
          <p:cNvPicPr>
            <a:picLocks noChangeAspect="1"/>
          </p:cNvPicPr>
          <p:nvPr/>
        </p:nvPicPr>
        <p:blipFill>
          <a:blip r:embed="rId4"/>
          <a:stretch>
            <a:fillRect/>
          </a:stretch>
        </p:blipFill>
        <p:spPr>
          <a:xfrm>
            <a:off x="876302" y="5834900"/>
            <a:ext cx="8915400" cy="4344717"/>
          </a:xfrm>
          <a:prstGeom prst="rect">
            <a:avLst/>
          </a:prstGeom>
          <a:solidFill>
            <a:srgbClr val="00B0F0"/>
          </a:solidFill>
          <a:ln w="50800">
            <a:solidFill>
              <a:srgbClr val="00B0F0"/>
            </a:solidFill>
          </a:ln>
        </p:spPr>
      </p:pic>
      <p:sp>
        <p:nvSpPr>
          <p:cNvPr id="30" name="Rectangle 29">
            <a:extLst>
              <a:ext uri="{FF2B5EF4-FFF2-40B4-BE49-F238E27FC236}">
                <a16:creationId xmlns:a16="http://schemas.microsoft.com/office/drawing/2014/main" id="{DAB51851-E7FD-6AA7-EFD1-1ACA0B610B81}"/>
              </a:ext>
            </a:extLst>
          </p:cNvPr>
          <p:cNvSpPr/>
          <p:nvPr/>
        </p:nvSpPr>
        <p:spPr>
          <a:xfrm>
            <a:off x="6532361" y="3674774"/>
            <a:ext cx="8077200" cy="478126"/>
          </a:xfrm>
          <a:prstGeom prst="rect">
            <a:avLst/>
          </a:prstGeom>
          <a:noFill/>
          <a:ln>
            <a:solidFill>
              <a:srgbClr val="AB8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9AE58FA-A18C-DE58-BDAB-CAE279F8E27D}"/>
              </a:ext>
            </a:extLst>
          </p:cNvPr>
          <p:cNvSpPr/>
          <p:nvPr/>
        </p:nvSpPr>
        <p:spPr>
          <a:xfrm>
            <a:off x="1028702" y="7368555"/>
            <a:ext cx="8686800" cy="521462"/>
          </a:xfrm>
          <a:prstGeom prst="rect">
            <a:avLst/>
          </a:prstGeom>
          <a:noFill/>
          <a:ln>
            <a:solidFill>
              <a:srgbClr val="AB87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951BDEA2-21D9-6113-6B1A-1525C5D24714}"/>
              </a:ext>
            </a:extLst>
          </p:cNvPr>
          <p:cNvPicPr>
            <a:picLocks noChangeAspect="1"/>
          </p:cNvPicPr>
          <p:nvPr/>
        </p:nvPicPr>
        <p:blipFill>
          <a:blip r:embed="rId5"/>
          <a:srcRect b="18406"/>
          <a:stretch>
            <a:fillRect/>
          </a:stretch>
        </p:blipFill>
        <p:spPr>
          <a:xfrm>
            <a:off x="10820400" y="6896100"/>
            <a:ext cx="5353562" cy="1620612"/>
          </a:xfrm>
          <a:prstGeom prst="rect">
            <a:avLst/>
          </a:prstGeom>
          <a:ln w="73025">
            <a:solidFill>
              <a:srgbClr val="FF94A0"/>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a:extLst>
            <a:ext uri="{FF2B5EF4-FFF2-40B4-BE49-F238E27FC236}">
              <a16:creationId xmlns:a16="http://schemas.microsoft.com/office/drawing/2014/main" id="{1ED05D5D-6E15-64F6-0CB2-24D204E77995}"/>
            </a:ext>
          </a:extLst>
        </p:cNvPr>
        <p:cNvGrpSpPr/>
        <p:nvPr/>
      </p:nvGrpSpPr>
      <p:grpSpPr>
        <a:xfrm>
          <a:off x="0" y="0"/>
          <a:ext cx="0" cy="0"/>
          <a:chOff x="0" y="0"/>
          <a:chExt cx="0" cy="0"/>
        </a:xfrm>
      </p:grpSpPr>
      <p:sp>
        <p:nvSpPr>
          <p:cNvPr id="29" name="Freeform 6">
            <a:extLst>
              <a:ext uri="{FF2B5EF4-FFF2-40B4-BE49-F238E27FC236}">
                <a16:creationId xmlns:a16="http://schemas.microsoft.com/office/drawing/2014/main" id="{B546A0AB-08D8-A00A-C2BE-3C39C2E12A21}"/>
              </a:ext>
            </a:extLst>
          </p:cNvPr>
          <p:cNvSpPr/>
          <p:nvPr/>
        </p:nvSpPr>
        <p:spPr>
          <a:xfrm rot="1181750">
            <a:off x="-429873" y="-2218292"/>
            <a:ext cx="5059310" cy="5059310"/>
          </a:xfrm>
          <a:custGeom>
            <a:avLst/>
            <a:gdLst/>
            <a:ahLst/>
            <a:cxnLst/>
            <a:rect l="l" t="t" r="r" b="b"/>
            <a:pathLst>
              <a:path w="5059310" h="5059310">
                <a:moveTo>
                  <a:pt x="0" y="0"/>
                </a:moveTo>
                <a:lnTo>
                  <a:pt x="5059310" y="0"/>
                </a:lnTo>
                <a:lnTo>
                  <a:pt x="5059310" y="5059309"/>
                </a:lnTo>
                <a:lnTo>
                  <a:pt x="0" y="5059309"/>
                </a:lnTo>
                <a:lnTo>
                  <a:pt x="0" y="0"/>
                </a:lnTo>
                <a:close/>
              </a:path>
            </a:pathLst>
          </a:custGeom>
          <a:blipFill>
            <a:blip>
              <a:alphaModFix amt="40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6" name="Freeform 6">
            <a:extLst>
              <a:ext uri="{FF2B5EF4-FFF2-40B4-BE49-F238E27FC236}">
                <a16:creationId xmlns:a16="http://schemas.microsoft.com/office/drawing/2014/main" id="{C24CF56B-ABC9-A96F-7C48-332B4155C6B5}"/>
              </a:ext>
            </a:extLst>
          </p:cNvPr>
          <p:cNvSpPr/>
          <p:nvPr/>
        </p:nvSpPr>
        <p:spPr>
          <a:xfrm rot="17102416">
            <a:off x="14209583" y="6551483"/>
            <a:ext cx="5059310" cy="5059310"/>
          </a:xfrm>
          <a:custGeom>
            <a:avLst/>
            <a:gdLst/>
            <a:ahLst/>
            <a:cxnLst/>
            <a:rect l="l" t="t" r="r" b="b"/>
            <a:pathLst>
              <a:path w="5059310" h="5059310">
                <a:moveTo>
                  <a:pt x="0" y="0"/>
                </a:moveTo>
                <a:lnTo>
                  <a:pt x="5059310" y="0"/>
                </a:lnTo>
                <a:lnTo>
                  <a:pt x="5059310" y="5059309"/>
                </a:lnTo>
                <a:lnTo>
                  <a:pt x="0" y="5059309"/>
                </a:lnTo>
                <a:lnTo>
                  <a:pt x="0" y="0"/>
                </a:lnTo>
                <a:close/>
              </a:path>
            </a:pathLst>
          </a:custGeom>
          <a:blipFill>
            <a:blip>
              <a:alphaModFix amt="52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8" name="TextBox 8">
            <a:extLst>
              <a:ext uri="{FF2B5EF4-FFF2-40B4-BE49-F238E27FC236}">
                <a16:creationId xmlns:a16="http://schemas.microsoft.com/office/drawing/2014/main" id="{85FF9CBA-7155-12E6-7379-7675BB87F25F}"/>
              </a:ext>
            </a:extLst>
          </p:cNvPr>
          <p:cNvSpPr txBox="1"/>
          <p:nvPr/>
        </p:nvSpPr>
        <p:spPr>
          <a:xfrm>
            <a:off x="9782174" y="513683"/>
            <a:ext cx="3857625" cy="398058"/>
          </a:xfrm>
          <a:prstGeom prst="rect">
            <a:avLst/>
          </a:prstGeom>
        </p:spPr>
        <p:txBody>
          <a:bodyPr lIns="0" tIns="0" rIns="0" bIns="0" rtlCol="0" anchor="t">
            <a:spAutoFit/>
          </a:bodyPr>
          <a:lstStyle/>
          <a:p>
            <a:pPr algn="r">
              <a:lnSpc>
                <a:spcPts val="2940"/>
              </a:lnSpc>
            </a:pPr>
            <a:r>
              <a:rPr lang="en-US" sz="3600" b="1" dirty="0">
                <a:solidFill>
                  <a:srgbClr val="000000"/>
                </a:solidFill>
                <a:latin typeface="Canva Sans Bold"/>
                <a:ea typeface="Canva Sans Bold"/>
                <a:cs typeface="Canva Sans Bold"/>
                <a:sym typeface="Canva Sans Bold"/>
              </a:rPr>
              <a:t>Classification</a:t>
            </a:r>
          </a:p>
        </p:txBody>
      </p:sp>
      <p:sp>
        <p:nvSpPr>
          <p:cNvPr id="15" name="TextBox 15">
            <a:extLst>
              <a:ext uri="{FF2B5EF4-FFF2-40B4-BE49-F238E27FC236}">
                <a16:creationId xmlns:a16="http://schemas.microsoft.com/office/drawing/2014/main" id="{1E029375-67E6-1863-F81F-A0225B3D7C63}"/>
              </a:ext>
            </a:extLst>
          </p:cNvPr>
          <p:cNvSpPr txBox="1"/>
          <p:nvPr/>
        </p:nvSpPr>
        <p:spPr>
          <a:xfrm>
            <a:off x="2743200" y="99409"/>
            <a:ext cx="12033998" cy="828548"/>
          </a:xfrm>
          <a:prstGeom prst="rect">
            <a:avLst/>
          </a:prstGeom>
        </p:spPr>
        <p:txBody>
          <a:bodyPr lIns="0" tIns="0" rIns="0" bIns="0" rtlCol="0" anchor="t">
            <a:spAutoFit/>
          </a:bodyPr>
          <a:lstStyle/>
          <a:p>
            <a:pPr algn="ctr">
              <a:lnSpc>
                <a:spcPts val="6496"/>
              </a:lnSpc>
            </a:pPr>
            <a:r>
              <a:rPr lang="en-US" sz="5600" b="1" dirty="0">
                <a:solidFill>
                  <a:schemeClr val="tx2"/>
                </a:solidFill>
                <a:latin typeface="Open Sauce Bold"/>
                <a:ea typeface="Open Sauce Bold"/>
                <a:cs typeface="Open Sauce Bold"/>
                <a:sym typeface="Open Sauce Bold"/>
              </a:rPr>
              <a:t>Results:</a:t>
            </a:r>
          </a:p>
        </p:txBody>
      </p:sp>
      <p:graphicFrame>
        <p:nvGraphicFramePr>
          <p:cNvPr id="25" name="Object 24">
            <a:extLst>
              <a:ext uri="{FF2B5EF4-FFF2-40B4-BE49-F238E27FC236}">
                <a16:creationId xmlns:a16="http://schemas.microsoft.com/office/drawing/2014/main" id="{F71C3112-0186-22B6-92CB-E84C2093F972}"/>
              </a:ext>
            </a:extLst>
          </p:cNvPr>
          <p:cNvGraphicFramePr>
            <a:graphicFrameLocks noChangeAspect="1"/>
          </p:cNvGraphicFramePr>
          <p:nvPr>
            <p:extLst>
              <p:ext uri="{D42A27DB-BD31-4B8C-83A1-F6EECF244321}">
                <p14:modId xmlns:p14="http://schemas.microsoft.com/office/powerpoint/2010/main" val="3722676468"/>
              </p:ext>
            </p:extLst>
          </p:nvPr>
        </p:nvGraphicFramePr>
        <p:xfrm>
          <a:off x="2057399" y="5360907"/>
          <a:ext cx="13974977" cy="3103251"/>
        </p:xfrm>
        <a:graphic>
          <a:graphicData uri="http://schemas.openxmlformats.org/presentationml/2006/ole">
            <mc:AlternateContent xmlns:mc="http://schemas.openxmlformats.org/markup-compatibility/2006">
              <mc:Choice xmlns:v="urn:schemas-microsoft-com:vml" Requires="v">
                <p:oleObj name="Worksheet" r:id="rId3" imgW="9067918" imgH="2279620" progId="Excel.Sheet.12">
                  <p:embed/>
                </p:oleObj>
              </mc:Choice>
              <mc:Fallback>
                <p:oleObj name="Worksheet" r:id="rId3" imgW="9067918" imgH="2279620" progId="Excel.Sheet.12">
                  <p:embed/>
                  <p:pic>
                    <p:nvPicPr>
                      <p:cNvPr id="25" name="Object 24">
                        <a:extLst>
                          <a:ext uri="{FF2B5EF4-FFF2-40B4-BE49-F238E27FC236}">
                            <a16:creationId xmlns:a16="http://schemas.microsoft.com/office/drawing/2014/main" id="{F71C3112-0186-22B6-92CB-E84C2093F972}"/>
                          </a:ext>
                        </a:extLst>
                      </p:cNvPr>
                      <p:cNvPicPr/>
                      <p:nvPr/>
                    </p:nvPicPr>
                    <p:blipFill>
                      <a:blip r:embed="rId4"/>
                      <a:stretch>
                        <a:fillRect/>
                      </a:stretch>
                    </p:blipFill>
                    <p:spPr>
                      <a:xfrm>
                        <a:off x="2057399" y="5360907"/>
                        <a:ext cx="13974977" cy="3103251"/>
                      </a:xfrm>
                      <a:prstGeom prst="rect">
                        <a:avLst/>
                      </a:prstGeom>
                    </p:spPr>
                  </p:pic>
                </p:oleObj>
              </mc:Fallback>
            </mc:AlternateContent>
          </a:graphicData>
        </a:graphic>
      </p:graphicFrame>
      <p:pic>
        <p:nvPicPr>
          <p:cNvPr id="26" name="Picture 25" descr="A table with numbers and text&#10;&#10;AI-generated content may be incorrect.">
            <a:extLst>
              <a:ext uri="{FF2B5EF4-FFF2-40B4-BE49-F238E27FC236}">
                <a16:creationId xmlns:a16="http://schemas.microsoft.com/office/drawing/2014/main" id="{0A829148-30E4-1F57-8E61-6FCA33F06C56}"/>
              </a:ext>
            </a:extLst>
          </p:cNvPr>
          <p:cNvPicPr>
            <a:picLocks noChangeAspect="1"/>
          </p:cNvPicPr>
          <p:nvPr/>
        </p:nvPicPr>
        <p:blipFill>
          <a:blip r:embed="rId5"/>
          <a:stretch>
            <a:fillRect/>
          </a:stretch>
        </p:blipFill>
        <p:spPr>
          <a:xfrm>
            <a:off x="2085605" y="1351978"/>
            <a:ext cx="13827478" cy="3038435"/>
          </a:xfrm>
          <a:prstGeom prst="rect">
            <a:avLst/>
          </a:prstGeom>
        </p:spPr>
      </p:pic>
      <p:sp>
        <p:nvSpPr>
          <p:cNvPr id="27" name="TextBox 26">
            <a:extLst>
              <a:ext uri="{FF2B5EF4-FFF2-40B4-BE49-F238E27FC236}">
                <a16:creationId xmlns:a16="http://schemas.microsoft.com/office/drawing/2014/main" id="{0049D9C0-5C20-5BD3-2303-D9383B0B168E}"/>
              </a:ext>
            </a:extLst>
          </p:cNvPr>
          <p:cNvSpPr txBox="1"/>
          <p:nvPr/>
        </p:nvSpPr>
        <p:spPr>
          <a:xfrm>
            <a:off x="6058370" y="8560702"/>
            <a:ext cx="12229630" cy="461665"/>
          </a:xfrm>
          <a:prstGeom prst="rect">
            <a:avLst/>
          </a:prstGeom>
          <a:noFill/>
        </p:spPr>
        <p:txBody>
          <a:bodyPr wrap="square">
            <a:spAutoFit/>
          </a:bodyPr>
          <a:lstStyle/>
          <a:p>
            <a:r>
              <a:rPr lang="en-US" sz="2400" i="1" dirty="0"/>
              <a:t>Table 4  .</a:t>
            </a:r>
            <a:r>
              <a:rPr lang="en-US" sz="2400" b="0" i="1" dirty="0"/>
              <a:t> Final Mortality Classification Model Results</a:t>
            </a:r>
          </a:p>
        </p:txBody>
      </p:sp>
      <p:sp>
        <p:nvSpPr>
          <p:cNvPr id="28" name="TextBox 27">
            <a:extLst>
              <a:ext uri="{FF2B5EF4-FFF2-40B4-BE49-F238E27FC236}">
                <a16:creationId xmlns:a16="http://schemas.microsoft.com/office/drawing/2014/main" id="{A7CC861D-CD6C-C585-D627-721152C27BD9}"/>
              </a:ext>
            </a:extLst>
          </p:cNvPr>
          <p:cNvSpPr txBox="1"/>
          <p:nvPr/>
        </p:nvSpPr>
        <p:spPr>
          <a:xfrm>
            <a:off x="5715000" y="4452401"/>
            <a:ext cx="12229630" cy="461665"/>
          </a:xfrm>
          <a:prstGeom prst="rect">
            <a:avLst/>
          </a:prstGeom>
          <a:noFill/>
        </p:spPr>
        <p:txBody>
          <a:bodyPr wrap="square">
            <a:spAutoFit/>
          </a:bodyPr>
          <a:lstStyle/>
          <a:p>
            <a:r>
              <a:rPr lang="en-US" sz="2400" i="1" dirty="0"/>
              <a:t>Table 3.</a:t>
            </a:r>
            <a:r>
              <a:rPr lang="en-US" sz="2400" b="0" i="1" dirty="0"/>
              <a:t> Final Financial Classification Model Results</a:t>
            </a:r>
          </a:p>
        </p:txBody>
      </p:sp>
    </p:spTree>
    <p:extLst>
      <p:ext uri="{BB962C8B-B14F-4D97-AF65-F5344CB8AC3E}">
        <p14:creationId xmlns:p14="http://schemas.microsoft.com/office/powerpoint/2010/main" val="493849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7F773-2FA7-C64C-42AF-5A92CDCFAFAF}"/>
              </a:ext>
            </a:extLst>
          </p:cNvPr>
          <p:cNvSpPr>
            <a:spLocks noGrp="1"/>
          </p:cNvSpPr>
          <p:nvPr>
            <p:ph type="title"/>
          </p:nvPr>
        </p:nvSpPr>
        <p:spPr>
          <a:xfrm>
            <a:off x="5029200" y="114300"/>
            <a:ext cx="8229600" cy="1143000"/>
          </a:xfrm>
        </p:spPr>
        <p:txBody>
          <a:bodyPr>
            <a:normAutofit/>
          </a:bodyPr>
          <a:lstStyle/>
          <a:p>
            <a:r>
              <a:rPr lang="en-US" sz="6000" b="1" dirty="0">
                <a:solidFill>
                  <a:schemeClr val="tx2"/>
                </a:solidFill>
              </a:rPr>
              <a:t>Results</a:t>
            </a:r>
          </a:p>
        </p:txBody>
      </p:sp>
      <p:sp>
        <p:nvSpPr>
          <p:cNvPr id="4" name="Content Placeholder 3">
            <a:extLst>
              <a:ext uri="{FF2B5EF4-FFF2-40B4-BE49-F238E27FC236}">
                <a16:creationId xmlns:a16="http://schemas.microsoft.com/office/drawing/2014/main" id="{42A0F16D-CE27-B898-4BE4-76943302FA48}"/>
              </a:ext>
            </a:extLst>
          </p:cNvPr>
          <p:cNvSpPr>
            <a:spLocks noGrp="1"/>
          </p:cNvSpPr>
          <p:nvPr>
            <p:ph sz="half" idx="2"/>
          </p:nvPr>
        </p:nvSpPr>
        <p:spPr>
          <a:xfrm>
            <a:off x="13106400" y="2705100"/>
            <a:ext cx="4038600" cy="4525963"/>
          </a:xfrm>
        </p:spPr>
        <p:txBody>
          <a:bodyPr/>
          <a:lstStyle/>
          <a:p>
            <a:endParaRPr lang="en-US"/>
          </a:p>
        </p:txBody>
      </p:sp>
      <p:pic>
        <p:nvPicPr>
          <p:cNvPr id="5" name="Picture 4">
            <a:extLst>
              <a:ext uri="{FF2B5EF4-FFF2-40B4-BE49-F238E27FC236}">
                <a16:creationId xmlns:a16="http://schemas.microsoft.com/office/drawing/2014/main" id="{BC264250-E016-19AF-AD0E-C60F4F016025}"/>
              </a:ext>
            </a:extLst>
          </p:cNvPr>
          <p:cNvPicPr>
            <a:picLocks noChangeAspect="1"/>
          </p:cNvPicPr>
          <p:nvPr/>
        </p:nvPicPr>
        <p:blipFill>
          <a:blip r:embed="rId2">
            <a:extLst>
              <a:ext uri="{28A0092B-C50C-407E-A947-70E740481C1C}">
                <a14:useLocalDpi xmlns:a14="http://schemas.microsoft.com/office/drawing/2010/main" val="0"/>
              </a:ext>
            </a:extLst>
          </a:blip>
          <a:srcRect t="7373" r="1970"/>
          <a:stretch>
            <a:fillRect/>
          </a:stretch>
        </p:blipFill>
        <p:spPr>
          <a:xfrm>
            <a:off x="521446" y="1704793"/>
            <a:ext cx="8037205" cy="6021174"/>
          </a:xfrm>
          <a:prstGeom prst="rect">
            <a:avLst/>
          </a:prstGeom>
        </p:spPr>
      </p:pic>
      <p:sp>
        <p:nvSpPr>
          <p:cNvPr id="6" name="TextBox 5">
            <a:extLst>
              <a:ext uri="{FF2B5EF4-FFF2-40B4-BE49-F238E27FC236}">
                <a16:creationId xmlns:a16="http://schemas.microsoft.com/office/drawing/2014/main" id="{11897C97-5DA7-D626-6ADC-8941C8DD74DF}"/>
              </a:ext>
            </a:extLst>
          </p:cNvPr>
          <p:cNvSpPr txBox="1"/>
          <p:nvPr/>
        </p:nvSpPr>
        <p:spPr>
          <a:xfrm>
            <a:off x="9662878" y="7865912"/>
            <a:ext cx="7521179" cy="1077218"/>
          </a:xfrm>
          <a:prstGeom prst="rect">
            <a:avLst/>
          </a:prstGeom>
          <a:noFill/>
        </p:spPr>
        <p:txBody>
          <a:bodyPr wrap="square">
            <a:spAutoFit/>
          </a:bodyPr>
          <a:lstStyle/>
          <a:p>
            <a:pPr algn="ctr" eaLnBrk="0" fontAlgn="base" hangingPunct="0">
              <a:spcAft>
                <a:spcPct val="0"/>
              </a:spcAft>
            </a:pPr>
            <a:r>
              <a:rPr lang="en-US" sz="3200" b="1" i="1">
                <a:solidFill>
                  <a:srgbClr val="000000"/>
                </a:solidFill>
                <a:latin typeface="Times New Roman" pitchFamily="18" charset="0"/>
              </a:rPr>
              <a:t>Figure 5.</a:t>
            </a:r>
            <a:r>
              <a:rPr lang="en-US" sz="3200" i="1">
                <a:solidFill>
                  <a:srgbClr val="000000"/>
                </a:solidFill>
                <a:latin typeface="Times New Roman" pitchFamily="18" charset="0"/>
              </a:rPr>
              <a:t> Best Model: Financial RA-</a:t>
            </a:r>
            <a:r>
              <a:rPr lang="en-US" sz="3200" i="1" err="1">
                <a:solidFill>
                  <a:srgbClr val="000000"/>
                </a:solidFill>
                <a:latin typeface="Times New Roman" pitchFamily="18" charset="0"/>
              </a:rPr>
              <a:t>GRAdd</a:t>
            </a:r>
            <a:r>
              <a:rPr lang="en-US" sz="3200" i="1">
                <a:solidFill>
                  <a:srgbClr val="000000"/>
                </a:solidFill>
                <a:latin typeface="Times New Roman" pitchFamily="18" charset="0"/>
              </a:rPr>
              <a:t> Classification AUROC</a:t>
            </a:r>
            <a:endParaRPr lang="en-US" sz="2400" i="1">
              <a:solidFill>
                <a:srgbClr val="000000"/>
              </a:solidFill>
              <a:latin typeface="Times New Roman" pitchFamily="18" charset="0"/>
            </a:endParaRPr>
          </a:p>
        </p:txBody>
      </p:sp>
      <p:sp>
        <p:nvSpPr>
          <p:cNvPr id="7" name="TextBox 6">
            <a:extLst>
              <a:ext uri="{FF2B5EF4-FFF2-40B4-BE49-F238E27FC236}">
                <a16:creationId xmlns:a16="http://schemas.microsoft.com/office/drawing/2014/main" id="{D17A36CA-D122-2B6A-81D0-EF379F01E006}"/>
              </a:ext>
            </a:extLst>
          </p:cNvPr>
          <p:cNvSpPr txBox="1"/>
          <p:nvPr/>
        </p:nvSpPr>
        <p:spPr>
          <a:xfrm>
            <a:off x="898927" y="7863363"/>
            <a:ext cx="8037204" cy="1446550"/>
          </a:xfrm>
          <a:prstGeom prst="rect">
            <a:avLst/>
          </a:prstGeom>
          <a:noFill/>
        </p:spPr>
        <p:txBody>
          <a:bodyPr wrap="square">
            <a:spAutoFit/>
          </a:bodyPr>
          <a:lstStyle/>
          <a:p>
            <a:pPr algn="ctr" eaLnBrk="0" fontAlgn="base" hangingPunct="0">
              <a:spcAft>
                <a:spcPct val="0"/>
              </a:spcAft>
            </a:pPr>
            <a:r>
              <a:rPr lang="en-US" sz="3200" b="1" i="1" dirty="0">
                <a:solidFill>
                  <a:srgbClr val="000000"/>
                </a:solidFill>
                <a:latin typeface="Times New Roman" pitchFamily="18" charset="0"/>
              </a:rPr>
              <a:t>Figure 4.</a:t>
            </a:r>
            <a:r>
              <a:rPr lang="en-US" sz="3200" i="1" dirty="0">
                <a:solidFill>
                  <a:srgbClr val="000000"/>
                </a:solidFill>
                <a:latin typeface="Times New Roman" pitchFamily="18" charset="0"/>
              </a:rPr>
              <a:t> Best Model: Mortality RA-</a:t>
            </a:r>
            <a:r>
              <a:rPr lang="en-US" sz="3200" i="1" dirty="0" err="1">
                <a:solidFill>
                  <a:srgbClr val="000000"/>
                </a:solidFill>
                <a:latin typeface="Times New Roman" pitchFamily="18" charset="0"/>
              </a:rPr>
              <a:t>GRAdd</a:t>
            </a:r>
            <a:r>
              <a:rPr lang="en-US" sz="3200" i="1" dirty="0">
                <a:solidFill>
                  <a:srgbClr val="000000"/>
                </a:solidFill>
                <a:latin typeface="Times New Roman" pitchFamily="18" charset="0"/>
              </a:rPr>
              <a:t> Classification AUROC</a:t>
            </a:r>
            <a:endParaRPr lang="en-US" sz="3200" b="1" dirty="0">
              <a:solidFill>
                <a:srgbClr val="000000"/>
              </a:solidFill>
              <a:latin typeface="Times New Roman" pitchFamily="18" charset="0"/>
            </a:endParaRPr>
          </a:p>
          <a:p>
            <a:pPr eaLnBrk="0" fontAlgn="base" hangingPunct="0">
              <a:spcAft>
                <a:spcPct val="0"/>
              </a:spcAft>
            </a:pPr>
            <a:endParaRPr lang="en-US" sz="2400" i="1" dirty="0">
              <a:solidFill>
                <a:srgbClr val="000000"/>
              </a:solidFill>
              <a:latin typeface="Times New Roman" pitchFamily="18" charset="0"/>
            </a:endParaRPr>
          </a:p>
        </p:txBody>
      </p:sp>
      <p:pic>
        <p:nvPicPr>
          <p:cNvPr id="8" name="Picture 7" descr="A graph with a line&#10;&#10;AI-generated content may be incorrect.">
            <a:extLst>
              <a:ext uri="{FF2B5EF4-FFF2-40B4-BE49-F238E27FC236}">
                <a16:creationId xmlns:a16="http://schemas.microsoft.com/office/drawing/2014/main" id="{1DCC1345-AA10-7862-08F6-36833EDEE751}"/>
              </a:ext>
            </a:extLst>
          </p:cNvPr>
          <p:cNvPicPr>
            <a:picLocks noChangeAspect="1"/>
          </p:cNvPicPr>
          <p:nvPr/>
        </p:nvPicPr>
        <p:blipFill>
          <a:blip r:embed="rId3"/>
          <a:srcRect l="4290" t="11806" r="4748" b="500"/>
          <a:stretch>
            <a:fillRect/>
          </a:stretch>
        </p:blipFill>
        <p:spPr>
          <a:xfrm>
            <a:off x="9056966" y="1714500"/>
            <a:ext cx="8403668" cy="6000353"/>
          </a:xfrm>
          <a:prstGeom prst="rect">
            <a:avLst/>
          </a:prstGeom>
        </p:spPr>
      </p:pic>
    </p:spTree>
    <p:extLst>
      <p:ext uri="{BB962C8B-B14F-4D97-AF65-F5344CB8AC3E}">
        <p14:creationId xmlns:p14="http://schemas.microsoft.com/office/powerpoint/2010/main" val="3655013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6E0B9-AB35-7B4E-7E0F-47741E4CAC26}"/>
              </a:ext>
            </a:extLst>
          </p:cNvPr>
          <p:cNvSpPr>
            <a:spLocks noGrp="1"/>
          </p:cNvSpPr>
          <p:nvPr>
            <p:ph type="title"/>
          </p:nvPr>
        </p:nvSpPr>
        <p:spPr>
          <a:xfrm>
            <a:off x="304800" y="274638"/>
            <a:ext cx="17678400" cy="1143000"/>
          </a:xfrm>
        </p:spPr>
        <p:txBody>
          <a:bodyPr>
            <a:normAutofit fontScale="90000"/>
          </a:bodyPr>
          <a:lstStyle/>
          <a:p>
            <a:r>
              <a:rPr lang="en-US" b="1" dirty="0">
                <a:solidFill>
                  <a:schemeClr val="tx2"/>
                </a:solidFill>
              </a:rPr>
              <a:t>Permutation Feature Importance for Mortality Prediction from Text Embeddings </a:t>
            </a:r>
          </a:p>
        </p:txBody>
      </p:sp>
      <p:pic>
        <p:nvPicPr>
          <p:cNvPr id="5" name="Picture 4">
            <a:extLst>
              <a:ext uri="{FF2B5EF4-FFF2-40B4-BE49-F238E27FC236}">
                <a16:creationId xmlns:a16="http://schemas.microsoft.com/office/drawing/2014/main" id="{F6A071BD-EB27-79F8-B1A3-E4E4C8B5E2B1}"/>
              </a:ext>
            </a:extLst>
          </p:cNvPr>
          <p:cNvPicPr>
            <a:picLocks noChangeAspect="1"/>
          </p:cNvPicPr>
          <p:nvPr/>
        </p:nvPicPr>
        <p:blipFill>
          <a:blip r:embed="rId2"/>
          <a:srcRect t="3885"/>
          <a:stretch>
            <a:fillRect/>
          </a:stretch>
        </p:blipFill>
        <p:spPr>
          <a:xfrm>
            <a:off x="457200" y="1587096"/>
            <a:ext cx="10137208" cy="6937532"/>
          </a:xfrm>
          <a:prstGeom prst="rect">
            <a:avLst/>
          </a:prstGeom>
        </p:spPr>
      </p:pic>
      <p:sp>
        <p:nvSpPr>
          <p:cNvPr id="6" name="TextBox 5">
            <a:extLst>
              <a:ext uri="{FF2B5EF4-FFF2-40B4-BE49-F238E27FC236}">
                <a16:creationId xmlns:a16="http://schemas.microsoft.com/office/drawing/2014/main" id="{C0A000BA-B5C9-A2E4-2B00-F7E3591402B0}"/>
              </a:ext>
            </a:extLst>
          </p:cNvPr>
          <p:cNvSpPr txBox="1"/>
          <p:nvPr/>
        </p:nvSpPr>
        <p:spPr>
          <a:xfrm>
            <a:off x="4135099" y="8801100"/>
            <a:ext cx="10082293" cy="1077218"/>
          </a:xfrm>
          <a:prstGeom prst="rect">
            <a:avLst/>
          </a:prstGeom>
          <a:noFill/>
        </p:spPr>
        <p:txBody>
          <a:bodyPr wrap="square">
            <a:spAutoFit/>
          </a:bodyPr>
          <a:lstStyle/>
          <a:p>
            <a:pPr algn="ctr" eaLnBrk="0" fontAlgn="base" hangingPunct="0">
              <a:spcAft>
                <a:spcPct val="0"/>
              </a:spcAft>
            </a:pPr>
            <a:r>
              <a:rPr lang="en-US" sz="3200" b="1" i="1" dirty="0">
                <a:solidFill>
                  <a:srgbClr val="000000"/>
                </a:solidFill>
                <a:latin typeface="Times New Roman" pitchFamily="18" charset="0"/>
              </a:rPr>
              <a:t>Figure 3.</a:t>
            </a:r>
            <a:r>
              <a:rPr lang="en-US" sz="3200" i="1" dirty="0">
                <a:solidFill>
                  <a:srgbClr val="000000"/>
                </a:solidFill>
                <a:latin typeface="Times New Roman" pitchFamily="18" charset="0"/>
              </a:rPr>
              <a:t> Permutation Feature Importance from Mortality Classification with Text Embedding Interpretations</a:t>
            </a:r>
            <a:endParaRPr lang="en-US" sz="2400" i="1" dirty="0">
              <a:solidFill>
                <a:srgbClr val="000000"/>
              </a:solidFill>
              <a:latin typeface="Times New Roman" pitchFamily="18" charset="0"/>
            </a:endParaRPr>
          </a:p>
        </p:txBody>
      </p:sp>
      <p:graphicFrame>
        <p:nvGraphicFramePr>
          <p:cNvPr id="7" name="Object 6">
            <a:extLst>
              <a:ext uri="{FF2B5EF4-FFF2-40B4-BE49-F238E27FC236}">
                <a16:creationId xmlns:a16="http://schemas.microsoft.com/office/drawing/2014/main" id="{7E7F46A3-85C9-049B-9431-C3F8D996DA56}"/>
              </a:ext>
            </a:extLst>
          </p:cNvPr>
          <p:cNvGraphicFramePr>
            <a:graphicFrameLocks noChangeAspect="1"/>
          </p:cNvGraphicFramePr>
          <p:nvPr>
            <p:extLst>
              <p:ext uri="{D42A27DB-BD31-4B8C-83A1-F6EECF244321}">
                <p14:modId xmlns:p14="http://schemas.microsoft.com/office/powerpoint/2010/main" val="2825450732"/>
              </p:ext>
            </p:extLst>
          </p:nvPr>
        </p:nvGraphicFramePr>
        <p:xfrm>
          <a:off x="10992551" y="1790700"/>
          <a:ext cx="6449681" cy="6172200"/>
        </p:xfrm>
        <a:graphic>
          <a:graphicData uri="http://schemas.openxmlformats.org/presentationml/2006/ole">
            <mc:AlternateContent xmlns:mc="http://schemas.openxmlformats.org/markup-compatibility/2006">
              <mc:Choice xmlns:v="urn:schemas-microsoft-com:vml" Requires="v">
                <p:oleObj name="Worksheet" r:id="rId3" imgW="10261600" imgH="10693518" progId="Excel.Sheet.12">
                  <p:embed/>
                </p:oleObj>
              </mc:Choice>
              <mc:Fallback>
                <p:oleObj name="Worksheet" r:id="rId3" imgW="10261600" imgH="10693518" progId="Excel.Sheet.12">
                  <p:embed/>
                  <p:pic>
                    <p:nvPicPr>
                      <p:cNvPr id="7" name="Object 6">
                        <a:extLst>
                          <a:ext uri="{FF2B5EF4-FFF2-40B4-BE49-F238E27FC236}">
                            <a16:creationId xmlns:a16="http://schemas.microsoft.com/office/drawing/2014/main" id="{7E7F46A3-85C9-049B-9431-C3F8D996DA56}"/>
                          </a:ext>
                        </a:extLst>
                      </p:cNvPr>
                      <p:cNvPicPr/>
                      <p:nvPr/>
                    </p:nvPicPr>
                    <p:blipFill>
                      <a:blip r:embed="rId4"/>
                      <a:stretch>
                        <a:fillRect/>
                      </a:stretch>
                    </p:blipFill>
                    <p:spPr>
                      <a:xfrm>
                        <a:off x="10992551" y="1790700"/>
                        <a:ext cx="6449681" cy="6172200"/>
                      </a:xfrm>
                      <a:prstGeom prst="rect">
                        <a:avLst/>
                      </a:prstGeom>
                      <a:ln w="31750">
                        <a:solidFill>
                          <a:srgbClr val="DAE9F8"/>
                        </a:solidFill>
                      </a:ln>
                    </p:spPr>
                  </p:pic>
                </p:oleObj>
              </mc:Fallback>
            </mc:AlternateContent>
          </a:graphicData>
        </a:graphic>
      </p:graphicFrame>
    </p:spTree>
    <p:extLst>
      <p:ext uri="{BB962C8B-B14F-4D97-AF65-F5344CB8AC3E}">
        <p14:creationId xmlns:p14="http://schemas.microsoft.com/office/powerpoint/2010/main" val="2327404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1DC7C-D8A2-20D3-9F8B-75730216EC7B}"/>
              </a:ext>
            </a:extLst>
          </p:cNvPr>
          <p:cNvSpPr>
            <a:spLocks noGrp="1"/>
          </p:cNvSpPr>
          <p:nvPr>
            <p:ph type="title"/>
          </p:nvPr>
        </p:nvSpPr>
        <p:spPr>
          <a:xfrm>
            <a:off x="381000" y="266700"/>
            <a:ext cx="17526000" cy="1143000"/>
          </a:xfrm>
        </p:spPr>
        <p:txBody>
          <a:bodyPr>
            <a:normAutofit/>
          </a:bodyPr>
          <a:lstStyle/>
          <a:p>
            <a:r>
              <a:rPr lang="en-US" sz="6000" b="1" dirty="0">
                <a:solidFill>
                  <a:schemeClr val="tx2"/>
                </a:solidFill>
              </a:rPr>
              <a:t>Conclusions</a:t>
            </a:r>
          </a:p>
        </p:txBody>
      </p:sp>
      <p:sp>
        <p:nvSpPr>
          <p:cNvPr id="5" name="Freeform 6">
            <a:extLst>
              <a:ext uri="{FF2B5EF4-FFF2-40B4-BE49-F238E27FC236}">
                <a16:creationId xmlns:a16="http://schemas.microsoft.com/office/drawing/2014/main" id="{461AC159-74CC-DBE4-CFD5-A01EAEB65D62}"/>
              </a:ext>
            </a:extLst>
          </p:cNvPr>
          <p:cNvSpPr/>
          <p:nvPr/>
        </p:nvSpPr>
        <p:spPr>
          <a:xfrm>
            <a:off x="3848100" y="723900"/>
            <a:ext cx="10591799" cy="8991600"/>
          </a:xfrm>
          <a:custGeom>
            <a:avLst/>
            <a:gdLst/>
            <a:ahLst/>
            <a:cxnLst/>
            <a:rect l="l" t="t" r="r" b="b"/>
            <a:pathLst>
              <a:path w="5059310" h="5059310">
                <a:moveTo>
                  <a:pt x="0" y="0"/>
                </a:moveTo>
                <a:lnTo>
                  <a:pt x="5059310" y="0"/>
                </a:lnTo>
                <a:lnTo>
                  <a:pt x="5059310" y="5059309"/>
                </a:lnTo>
                <a:lnTo>
                  <a:pt x="0" y="5059309"/>
                </a:lnTo>
                <a:lnTo>
                  <a:pt x="0" y="0"/>
                </a:lnTo>
                <a:close/>
              </a:path>
            </a:pathLst>
          </a:custGeom>
          <a:blipFill>
            <a:blip>
              <a:alphaModFix amt="7000"/>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3" name="Content Placeholder 2">
            <a:extLst>
              <a:ext uri="{FF2B5EF4-FFF2-40B4-BE49-F238E27FC236}">
                <a16:creationId xmlns:a16="http://schemas.microsoft.com/office/drawing/2014/main" id="{7D097901-2FF3-C0F7-3AED-9C986ECA1C7D}"/>
              </a:ext>
            </a:extLst>
          </p:cNvPr>
          <p:cNvSpPr>
            <a:spLocks noGrp="1"/>
          </p:cNvSpPr>
          <p:nvPr>
            <p:ph sz="half" idx="1"/>
          </p:nvPr>
        </p:nvSpPr>
        <p:spPr>
          <a:xfrm>
            <a:off x="457200" y="1600200"/>
            <a:ext cx="17373600" cy="7810500"/>
          </a:xfrm>
        </p:spPr>
        <p:txBody>
          <a:bodyPr>
            <a:normAutofit fontScale="92500" lnSpcReduction="10000"/>
          </a:bodyPr>
          <a:lstStyle/>
          <a:p>
            <a:r>
              <a:rPr lang="en-US" sz="3600" dirty="0"/>
              <a:t>Overall, we demonstrated feasible and effective extension of the Time-IMM/IMM-TSF framework from forecasting to binary classification. </a:t>
            </a:r>
          </a:p>
          <a:p>
            <a:pPr marL="0" indent="0">
              <a:buNone/>
            </a:pPr>
            <a:endParaRPr lang="en-US" sz="3600" dirty="0"/>
          </a:p>
          <a:p>
            <a:r>
              <a:rPr lang="en-US" sz="3600" dirty="0"/>
              <a:t>The proposed RA-</a:t>
            </a:r>
            <a:r>
              <a:rPr lang="en-US" sz="3600" dirty="0" err="1"/>
              <a:t>GRAdd</a:t>
            </a:r>
            <a:r>
              <a:rPr lang="en-US" sz="3600" dirty="0"/>
              <a:t> extension improved multimodal fusion making the model more responsive to differences in information quality across modalities.</a:t>
            </a:r>
          </a:p>
          <a:p>
            <a:pPr lvl="1"/>
            <a:r>
              <a:rPr lang="en-US" sz="3200" dirty="0"/>
              <a:t>Incorporating reliability-aware gating produced stronger and more stable classification performance than baseline fusion alone, while also preserving the interpretability of the multimodal design.</a:t>
            </a:r>
          </a:p>
          <a:p>
            <a:pPr marL="0" indent="0">
              <a:buNone/>
            </a:pPr>
            <a:endParaRPr lang="en-US" sz="3600" dirty="0"/>
          </a:p>
          <a:p>
            <a:r>
              <a:rPr lang="en-US" sz="3600" dirty="0"/>
              <a:t>Future work should evaluate the proposed framework extensions in a distributed Spark-based environment to assess scalability on larger multimodal datasets to determine whether methods remain efficient as sample size, feature dimensionality, and text volume increase. </a:t>
            </a:r>
          </a:p>
          <a:p>
            <a:pPr marL="0" indent="0">
              <a:buNone/>
            </a:pPr>
            <a:endParaRPr lang="en-US" sz="3600" dirty="0"/>
          </a:p>
          <a:p>
            <a:r>
              <a:rPr lang="en-US" sz="3600" dirty="0"/>
              <a:t>Taken together, our findings indicate that better handling of irregularity and cross-modal quality can strengthen forecasting as well as classification performance, while preserving the flexibility and interpretability of multimodal fusion.</a:t>
            </a:r>
          </a:p>
        </p:txBody>
      </p:sp>
    </p:spTree>
    <p:extLst>
      <p:ext uri="{BB962C8B-B14F-4D97-AF65-F5344CB8AC3E}">
        <p14:creationId xmlns:p14="http://schemas.microsoft.com/office/powerpoint/2010/main" val="2386304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5">
            <a:extLst>
              <a:ext uri="{FF2B5EF4-FFF2-40B4-BE49-F238E27FC236}">
                <a16:creationId xmlns:a16="http://schemas.microsoft.com/office/drawing/2014/main" id="{BFD80E22-7603-653F-1A13-B141F34C8ED0}"/>
              </a:ext>
            </a:extLst>
          </p:cNvPr>
          <p:cNvSpPr txBox="1"/>
          <p:nvPr/>
        </p:nvSpPr>
        <p:spPr>
          <a:xfrm>
            <a:off x="2743200" y="123952"/>
            <a:ext cx="12033998" cy="828548"/>
          </a:xfrm>
          <a:prstGeom prst="rect">
            <a:avLst/>
          </a:prstGeom>
        </p:spPr>
        <p:txBody>
          <a:bodyPr lIns="0" tIns="0" rIns="0" bIns="0" rtlCol="0" anchor="t">
            <a:spAutoFit/>
          </a:bodyPr>
          <a:lstStyle/>
          <a:p>
            <a:pPr algn="ctr">
              <a:lnSpc>
                <a:spcPts val="6496"/>
              </a:lnSpc>
            </a:pPr>
            <a:r>
              <a:rPr lang="en-US" sz="5600" b="1" dirty="0">
                <a:solidFill>
                  <a:srgbClr val="140574"/>
                </a:solidFill>
                <a:latin typeface="Open Sauce Bold"/>
                <a:ea typeface="Open Sauce Bold"/>
                <a:cs typeface="Open Sauce Bold"/>
                <a:sym typeface="Open Sauce Bold"/>
              </a:rPr>
              <a:t>References:</a:t>
            </a:r>
          </a:p>
        </p:txBody>
      </p:sp>
      <p:grpSp>
        <p:nvGrpSpPr>
          <p:cNvPr id="3" name="Group 60">
            <a:extLst>
              <a:ext uri="{FF2B5EF4-FFF2-40B4-BE49-F238E27FC236}">
                <a16:creationId xmlns:a16="http://schemas.microsoft.com/office/drawing/2014/main" id="{9E2E461F-DA1D-7B99-16B1-A8322A60F149}"/>
              </a:ext>
            </a:extLst>
          </p:cNvPr>
          <p:cNvGrpSpPr/>
          <p:nvPr/>
        </p:nvGrpSpPr>
        <p:grpSpPr>
          <a:xfrm>
            <a:off x="-4114800" y="9182100"/>
            <a:ext cx="8853697" cy="269324"/>
            <a:chOff x="0" y="0"/>
            <a:chExt cx="2487343" cy="75663"/>
          </a:xfrm>
        </p:grpSpPr>
        <p:sp>
          <p:nvSpPr>
            <p:cNvPr id="4" name="Freeform 61">
              <a:extLst>
                <a:ext uri="{FF2B5EF4-FFF2-40B4-BE49-F238E27FC236}">
                  <a16:creationId xmlns:a16="http://schemas.microsoft.com/office/drawing/2014/main" id="{DBE2E469-307D-FEDB-CDE8-EDDD1C6F0892}"/>
                </a:ext>
              </a:extLst>
            </p:cNvPr>
            <p:cNvSpPr/>
            <p:nvPr/>
          </p:nvSpPr>
          <p:spPr>
            <a:xfrm>
              <a:off x="0" y="0"/>
              <a:ext cx="2487344" cy="75663"/>
            </a:xfrm>
            <a:custGeom>
              <a:avLst/>
              <a:gdLst/>
              <a:ahLst/>
              <a:cxnLst/>
              <a:rect l="l" t="t" r="r" b="b"/>
              <a:pathLst>
                <a:path w="2487344" h="75663">
                  <a:moveTo>
                    <a:pt x="37832" y="0"/>
                  </a:moveTo>
                  <a:lnTo>
                    <a:pt x="2449512" y="0"/>
                  </a:lnTo>
                  <a:cubicBezTo>
                    <a:pt x="2470406" y="0"/>
                    <a:pt x="2487344" y="16938"/>
                    <a:pt x="2487344" y="37832"/>
                  </a:cubicBezTo>
                  <a:lnTo>
                    <a:pt x="2487344" y="37832"/>
                  </a:lnTo>
                  <a:cubicBezTo>
                    <a:pt x="2487344" y="47865"/>
                    <a:pt x="2483358" y="57488"/>
                    <a:pt x="2476263" y="64583"/>
                  </a:cubicBezTo>
                  <a:cubicBezTo>
                    <a:pt x="2469168" y="71678"/>
                    <a:pt x="2459545" y="75663"/>
                    <a:pt x="2449512"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62">
              <a:extLst>
                <a:ext uri="{FF2B5EF4-FFF2-40B4-BE49-F238E27FC236}">
                  <a16:creationId xmlns:a16="http://schemas.microsoft.com/office/drawing/2014/main" id="{A8185787-92CA-0514-9AD5-BB19FD6E897B}"/>
                </a:ext>
              </a:extLst>
            </p:cNvPr>
            <p:cNvSpPr txBox="1"/>
            <p:nvPr/>
          </p:nvSpPr>
          <p:spPr>
            <a:xfrm>
              <a:off x="0" y="-28575"/>
              <a:ext cx="2487343"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95">
            <a:extLst>
              <a:ext uri="{FF2B5EF4-FFF2-40B4-BE49-F238E27FC236}">
                <a16:creationId xmlns:a16="http://schemas.microsoft.com/office/drawing/2014/main" id="{859E1879-AE06-7AAE-E176-F9627356ED35}"/>
              </a:ext>
            </a:extLst>
          </p:cNvPr>
          <p:cNvGrpSpPr/>
          <p:nvPr/>
        </p:nvGrpSpPr>
        <p:grpSpPr>
          <a:xfrm>
            <a:off x="4114800" y="8578285"/>
            <a:ext cx="934436" cy="1476953"/>
            <a:chOff x="0" y="0"/>
            <a:chExt cx="1245915" cy="1969271"/>
          </a:xfrm>
        </p:grpSpPr>
        <p:grpSp>
          <p:nvGrpSpPr>
            <p:cNvPr id="7" name="Group 96">
              <a:extLst>
                <a:ext uri="{FF2B5EF4-FFF2-40B4-BE49-F238E27FC236}">
                  <a16:creationId xmlns:a16="http://schemas.microsoft.com/office/drawing/2014/main" id="{26A197AE-859A-7645-25C6-DF976AAC6154}"/>
                </a:ext>
              </a:extLst>
            </p:cNvPr>
            <p:cNvGrpSpPr/>
            <p:nvPr/>
          </p:nvGrpSpPr>
          <p:grpSpPr>
            <a:xfrm rot="2700000">
              <a:off x="-41282" y="427997"/>
              <a:ext cx="1359301" cy="359099"/>
              <a:chOff x="0" y="0"/>
              <a:chExt cx="286410" cy="75663"/>
            </a:xfrm>
          </p:grpSpPr>
          <p:sp>
            <p:nvSpPr>
              <p:cNvPr id="11" name="Freeform 97">
                <a:extLst>
                  <a:ext uri="{FF2B5EF4-FFF2-40B4-BE49-F238E27FC236}">
                    <a16:creationId xmlns:a16="http://schemas.microsoft.com/office/drawing/2014/main" id="{FFD6E988-5DBD-C318-CFCE-4C60B3777505}"/>
                  </a:ext>
                </a:extLst>
              </p:cNvPr>
              <p:cNvSpPr/>
              <p:nvPr/>
            </p:nvSpPr>
            <p:spPr>
              <a:xfrm>
                <a:off x="0" y="0"/>
                <a:ext cx="286410" cy="75663"/>
              </a:xfrm>
              <a:custGeom>
                <a:avLst/>
                <a:gdLst/>
                <a:ahLst/>
                <a:cxnLst/>
                <a:rect l="l" t="t" r="r" b="b"/>
                <a:pathLst>
                  <a:path w="286410" h="75663">
                    <a:moveTo>
                      <a:pt x="37832" y="0"/>
                    </a:moveTo>
                    <a:lnTo>
                      <a:pt x="248578" y="0"/>
                    </a:lnTo>
                    <a:cubicBezTo>
                      <a:pt x="269472" y="0"/>
                      <a:pt x="286410" y="16938"/>
                      <a:pt x="286410" y="37832"/>
                    </a:cubicBezTo>
                    <a:lnTo>
                      <a:pt x="286410" y="37832"/>
                    </a:lnTo>
                    <a:cubicBezTo>
                      <a:pt x="286410" y="47865"/>
                      <a:pt x="282424" y="57488"/>
                      <a:pt x="275329" y="64583"/>
                    </a:cubicBezTo>
                    <a:cubicBezTo>
                      <a:pt x="268234" y="71678"/>
                      <a:pt x="258612" y="75663"/>
                      <a:pt x="248578"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98">
                <a:extLst>
                  <a:ext uri="{FF2B5EF4-FFF2-40B4-BE49-F238E27FC236}">
                    <a16:creationId xmlns:a16="http://schemas.microsoft.com/office/drawing/2014/main" id="{1D6D32A0-013C-3CBB-3600-EC7D763076A6}"/>
                  </a:ext>
                </a:extLst>
              </p:cNvPr>
              <p:cNvSpPr txBox="1"/>
              <p:nvPr/>
            </p:nvSpPr>
            <p:spPr>
              <a:xfrm>
                <a:off x="0" y="-28575"/>
                <a:ext cx="286410"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99">
              <a:extLst>
                <a:ext uri="{FF2B5EF4-FFF2-40B4-BE49-F238E27FC236}">
                  <a16:creationId xmlns:a16="http://schemas.microsoft.com/office/drawing/2014/main" id="{739752E2-399C-B5F5-9EFA-D1E3D851F8B7}"/>
                </a:ext>
              </a:extLst>
            </p:cNvPr>
            <p:cNvGrpSpPr/>
            <p:nvPr/>
          </p:nvGrpSpPr>
          <p:grpSpPr>
            <a:xfrm rot="-2700000">
              <a:off x="-78488" y="1166764"/>
              <a:ext cx="1402891" cy="359099"/>
              <a:chOff x="0" y="0"/>
              <a:chExt cx="295594" cy="75663"/>
            </a:xfrm>
          </p:grpSpPr>
          <p:sp>
            <p:nvSpPr>
              <p:cNvPr id="9" name="Freeform 100">
                <a:extLst>
                  <a:ext uri="{FF2B5EF4-FFF2-40B4-BE49-F238E27FC236}">
                    <a16:creationId xmlns:a16="http://schemas.microsoft.com/office/drawing/2014/main" id="{BAB83A52-867A-72B6-3BD4-758DE74A0C47}"/>
                  </a:ext>
                </a:extLst>
              </p:cNvPr>
              <p:cNvSpPr/>
              <p:nvPr/>
            </p:nvSpPr>
            <p:spPr>
              <a:xfrm>
                <a:off x="0" y="0"/>
                <a:ext cx="295594" cy="75663"/>
              </a:xfrm>
              <a:custGeom>
                <a:avLst/>
                <a:gdLst/>
                <a:ahLst/>
                <a:cxnLst/>
                <a:rect l="l" t="t" r="r" b="b"/>
                <a:pathLst>
                  <a:path w="295594" h="75663">
                    <a:moveTo>
                      <a:pt x="37832" y="0"/>
                    </a:moveTo>
                    <a:lnTo>
                      <a:pt x="257763" y="0"/>
                    </a:lnTo>
                    <a:cubicBezTo>
                      <a:pt x="267796" y="0"/>
                      <a:pt x="277419" y="3986"/>
                      <a:pt x="284514" y="11081"/>
                    </a:cubicBezTo>
                    <a:cubicBezTo>
                      <a:pt x="291609" y="18175"/>
                      <a:pt x="295594" y="27798"/>
                      <a:pt x="295594" y="37832"/>
                    </a:cubicBezTo>
                    <a:lnTo>
                      <a:pt x="295594" y="37832"/>
                    </a:lnTo>
                    <a:cubicBezTo>
                      <a:pt x="295594" y="58726"/>
                      <a:pt x="278657" y="75663"/>
                      <a:pt x="257763"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1">
                <a:extLst>
                  <a:ext uri="{FF2B5EF4-FFF2-40B4-BE49-F238E27FC236}">
                    <a16:creationId xmlns:a16="http://schemas.microsoft.com/office/drawing/2014/main" id="{0A61299B-A59F-F3D7-62CC-65C3ADA4E428}"/>
                  </a:ext>
                </a:extLst>
              </p:cNvPr>
              <p:cNvSpPr txBox="1"/>
              <p:nvPr/>
            </p:nvSpPr>
            <p:spPr>
              <a:xfrm>
                <a:off x="0" y="-28575"/>
                <a:ext cx="295594"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13" name="Group 60">
            <a:extLst>
              <a:ext uri="{FF2B5EF4-FFF2-40B4-BE49-F238E27FC236}">
                <a16:creationId xmlns:a16="http://schemas.microsoft.com/office/drawing/2014/main" id="{C440A9FB-34A6-5C8B-393C-BFB3BD940206}"/>
              </a:ext>
            </a:extLst>
          </p:cNvPr>
          <p:cNvGrpSpPr/>
          <p:nvPr/>
        </p:nvGrpSpPr>
        <p:grpSpPr>
          <a:xfrm>
            <a:off x="6324600" y="9120946"/>
            <a:ext cx="8853697" cy="269324"/>
            <a:chOff x="0" y="0"/>
            <a:chExt cx="2487343" cy="75663"/>
          </a:xfrm>
        </p:grpSpPr>
        <p:sp>
          <p:nvSpPr>
            <p:cNvPr id="14" name="Freeform 61">
              <a:extLst>
                <a:ext uri="{FF2B5EF4-FFF2-40B4-BE49-F238E27FC236}">
                  <a16:creationId xmlns:a16="http://schemas.microsoft.com/office/drawing/2014/main" id="{84EE304E-301E-B790-5FF6-1E0AA476D08A}"/>
                </a:ext>
              </a:extLst>
            </p:cNvPr>
            <p:cNvSpPr/>
            <p:nvPr/>
          </p:nvSpPr>
          <p:spPr>
            <a:xfrm>
              <a:off x="0" y="0"/>
              <a:ext cx="2487344" cy="75663"/>
            </a:xfrm>
            <a:custGeom>
              <a:avLst/>
              <a:gdLst/>
              <a:ahLst/>
              <a:cxnLst/>
              <a:rect l="l" t="t" r="r" b="b"/>
              <a:pathLst>
                <a:path w="2487344" h="75663">
                  <a:moveTo>
                    <a:pt x="37832" y="0"/>
                  </a:moveTo>
                  <a:lnTo>
                    <a:pt x="2449512" y="0"/>
                  </a:lnTo>
                  <a:cubicBezTo>
                    <a:pt x="2470406" y="0"/>
                    <a:pt x="2487344" y="16938"/>
                    <a:pt x="2487344" y="37832"/>
                  </a:cubicBezTo>
                  <a:lnTo>
                    <a:pt x="2487344" y="37832"/>
                  </a:lnTo>
                  <a:cubicBezTo>
                    <a:pt x="2487344" y="47865"/>
                    <a:pt x="2483358" y="57488"/>
                    <a:pt x="2476263" y="64583"/>
                  </a:cubicBezTo>
                  <a:cubicBezTo>
                    <a:pt x="2469168" y="71678"/>
                    <a:pt x="2459545" y="75663"/>
                    <a:pt x="2449512"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62">
              <a:extLst>
                <a:ext uri="{FF2B5EF4-FFF2-40B4-BE49-F238E27FC236}">
                  <a16:creationId xmlns:a16="http://schemas.microsoft.com/office/drawing/2014/main" id="{D28817DC-FC74-A520-3213-E9A61417B877}"/>
                </a:ext>
              </a:extLst>
            </p:cNvPr>
            <p:cNvSpPr txBox="1"/>
            <p:nvPr/>
          </p:nvSpPr>
          <p:spPr>
            <a:xfrm>
              <a:off x="0" y="-28575"/>
              <a:ext cx="2487343"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95">
            <a:extLst>
              <a:ext uri="{FF2B5EF4-FFF2-40B4-BE49-F238E27FC236}">
                <a16:creationId xmlns:a16="http://schemas.microsoft.com/office/drawing/2014/main" id="{C970BEFF-C61E-2726-5BB6-25354A41FCCE}"/>
              </a:ext>
            </a:extLst>
          </p:cNvPr>
          <p:cNvGrpSpPr/>
          <p:nvPr/>
        </p:nvGrpSpPr>
        <p:grpSpPr>
          <a:xfrm>
            <a:off x="14554200" y="8517131"/>
            <a:ext cx="934436" cy="1476953"/>
            <a:chOff x="0" y="0"/>
            <a:chExt cx="1245915" cy="1969271"/>
          </a:xfrm>
        </p:grpSpPr>
        <p:grpSp>
          <p:nvGrpSpPr>
            <p:cNvPr id="17" name="Group 96">
              <a:extLst>
                <a:ext uri="{FF2B5EF4-FFF2-40B4-BE49-F238E27FC236}">
                  <a16:creationId xmlns:a16="http://schemas.microsoft.com/office/drawing/2014/main" id="{C4178BC3-45C5-B3B8-87F8-C123ED0A85C6}"/>
                </a:ext>
              </a:extLst>
            </p:cNvPr>
            <p:cNvGrpSpPr/>
            <p:nvPr/>
          </p:nvGrpSpPr>
          <p:grpSpPr>
            <a:xfrm rot="2700000">
              <a:off x="-41282" y="427997"/>
              <a:ext cx="1359301" cy="359099"/>
              <a:chOff x="0" y="0"/>
              <a:chExt cx="286410" cy="75663"/>
            </a:xfrm>
          </p:grpSpPr>
          <p:sp>
            <p:nvSpPr>
              <p:cNvPr id="21" name="Freeform 97">
                <a:extLst>
                  <a:ext uri="{FF2B5EF4-FFF2-40B4-BE49-F238E27FC236}">
                    <a16:creationId xmlns:a16="http://schemas.microsoft.com/office/drawing/2014/main" id="{1BE0ADC9-DD58-FCF2-56FE-45BF8F86F3E7}"/>
                  </a:ext>
                </a:extLst>
              </p:cNvPr>
              <p:cNvSpPr/>
              <p:nvPr/>
            </p:nvSpPr>
            <p:spPr>
              <a:xfrm>
                <a:off x="0" y="0"/>
                <a:ext cx="286410" cy="75663"/>
              </a:xfrm>
              <a:custGeom>
                <a:avLst/>
                <a:gdLst/>
                <a:ahLst/>
                <a:cxnLst/>
                <a:rect l="l" t="t" r="r" b="b"/>
                <a:pathLst>
                  <a:path w="286410" h="75663">
                    <a:moveTo>
                      <a:pt x="37832" y="0"/>
                    </a:moveTo>
                    <a:lnTo>
                      <a:pt x="248578" y="0"/>
                    </a:lnTo>
                    <a:cubicBezTo>
                      <a:pt x="269472" y="0"/>
                      <a:pt x="286410" y="16938"/>
                      <a:pt x="286410" y="37832"/>
                    </a:cubicBezTo>
                    <a:lnTo>
                      <a:pt x="286410" y="37832"/>
                    </a:lnTo>
                    <a:cubicBezTo>
                      <a:pt x="286410" y="47865"/>
                      <a:pt x="282424" y="57488"/>
                      <a:pt x="275329" y="64583"/>
                    </a:cubicBezTo>
                    <a:cubicBezTo>
                      <a:pt x="268234" y="71678"/>
                      <a:pt x="258612" y="75663"/>
                      <a:pt x="248578"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Box 98">
                <a:extLst>
                  <a:ext uri="{FF2B5EF4-FFF2-40B4-BE49-F238E27FC236}">
                    <a16:creationId xmlns:a16="http://schemas.microsoft.com/office/drawing/2014/main" id="{F07E231E-74B0-2F0B-66A4-14957F21DA02}"/>
                  </a:ext>
                </a:extLst>
              </p:cNvPr>
              <p:cNvSpPr txBox="1"/>
              <p:nvPr/>
            </p:nvSpPr>
            <p:spPr>
              <a:xfrm>
                <a:off x="0" y="-28575"/>
                <a:ext cx="286410"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 name="Group 99">
              <a:extLst>
                <a:ext uri="{FF2B5EF4-FFF2-40B4-BE49-F238E27FC236}">
                  <a16:creationId xmlns:a16="http://schemas.microsoft.com/office/drawing/2014/main" id="{4C79A9C9-46BD-F418-1CCD-A6D3DCE2ECC0}"/>
                </a:ext>
              </a:extLst>
            </p:cNvPr>
            <p:cNvGrpSpPr/>
            <p:nvPr/>
          </p:nvGrpSpPr>
          <p:grpSpPr>
            <a:xfrm rot="-2700000">
              <a:off x="-78488" y="1166764"/>
              <a:ext cx="1402891" cy="359099"/>
              <a:chOff x="0" y="0"/>
              <a:chExt cx="295594" cy="75663"/>
            </a:xfrm>
          </p:grpSpPr>
          <p:sp>
            <p:nvSpPr>
              <p:cNvPr id="19" name="Freeform 100">
                <a:extLst>
                  <a:ext uri="{FF2B5EF4-FFF2-40B4-BE49-F238E27FC236}">
                    <a16:creationId xmlns:a16="http://schemas.microsoft.com/office/drawing/2014/main" id="{ADA4280C-C451-D6D2-D7BF-66FB3148F3F3}"/>
                  </a:ext>
                </a:extLst>
              </p:cNvPr>
              <p:cNvSpPr/>
              <p:nvPr/>
            </p:nvSpPr>
            <p:spPr>
              <a:xfrm>
                <a:off x="0" y="0"/>
                <a:ext cx="295594" cy="75663"/>
              </a:xfrm>
              <a:custGeom>
                <a:avLst/>
                <a:gdLst/>
                <a:ahLst/>
                <a:cxnLst/>
                <a:rect l="l" t="t" r="r" b="b"/>
                <a:pathLst>
                  <a:path w="295594" h="75663">
                    <a:moveTo>
                      <a:pt x="37832" y="0"/>
                    </a:moveTo>
                    <a:lnTo>
                      <a:pt x="257763" y="0"/>
                    </a:lnTo>
                    <a:cubicBezTo>
                      <a:pt x="267796" y="0"/>
                      <a:pt x="277419" y="3986"/>
                      <a:pt x="284514" y="11081"/>
                    </a:cubicBezTo>
                    <a:cubicBezTo>
                      <a:pt x="291609" y="18175"/>
                      <a:pt x="295594" y="27798"/>
                      <a:pt x="295594" y="37832"/>
                    </a:cubicBezTo>
                    <a:lnTo>
                      <a:pt x="295594" y="37832"/>
                    </a:lnTo>
                    <a:cubicBezTo>
                      <a:pt x="295594" y="58726"/>
                      <a:pt x="278657" y="75663"/>
                      <a:pt x="257763" y="75663"/>
                    </a:cubicBezTo>
                    <a:lnTo>
                      <a:pt x="37832" y="75663"/>
                    </a:lnTo>
                    <a:cubicBezTo>
                      <a:pt x="16938" y="75663"/>
                      <a:pt x="0" y="58726"/>
                      <a:pt x="0" y="37832"/>
                    </a:cubicBezTo>
                    <a:lnTo>
                      <a:pt x="0" y="37832"/>
                    </a:lnTo>
                    <a:cubicBezTo>
                      <a:pt x="0" y="16938"/>
                      <a:pt x="16938" y="0"/>
                      <a:pt x="37832" y="0"/>
                    </a:cubicBezTo>
                    <a:close/>
                  </a:path>
                </a:pathLst>
              </a:custGeom>
              <a:solidFill>
                <a:srgbClr val="6BB3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Box 101">
                <a:extLst>
                  <a:ext uri="{FF2B5EF4-FFF2-40B4-BE49-F238E27FC236}">
                    <a16:creationId xmlns:a16="http://schemas.microsoft.com/office/drawing/2014/main" id="{57C3B8CB-7C6A-A5F5-B339-61F5886B4FE8}"/>
                  </a:ext>
                </a:extLst>
              </p:cNvPr>
              <p:cNvSpPr txBox="1"/>
              <p:nvPr/>
            </p:nvSpPr>
            <p:spPr>
              <a:xfrm>
                <a:off x="0" y="-28575"/>
                <a:ext cx="295594" cy="104238"/>
              </a:xfrm>
              <a:prstGeom prst="rect">
                <a:avLst/>
              </a:prstGeom>
            </p:spPr>
            <p:txBody>
              <a:bodyPr lIns="50800" tIns="50800" rIns="50800" bIns="50800" rtlCol="0" anchor="ctr"/>
              <a:lstStyle/>
              <a:p>
                <a:pPr marL="0" marR="0" lvl="0" indent="0" algn="ctr" defTabSz="914400" rtl="0" eaLnBrk="1" fontAlgn="auto" latinLnBrk="0" hangingPunct="1">
                  <a:lnSpc>
                    <a:spcPts val="224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24" name="Content Placeholder 23">
            <a:extLst>
              <a:ext uri="{FF2B5EF4-FFF2-40B4-BE49-F238E27FC236}">
                <a16:creationId xmlns:a16="http://schemas.microsoft.com/office/drawing/2014/main" id="{D0D2F5A6-E979-DF4A-41FC-1426D2B62614}"/>
              </a:ext>
            </a:extLst>
          </p:cNvPr>
          <p:cNvSpPr>
            <a:spLocks noGrp="1"/>
          </p:cNvSpPr>
          <p:nvPr>
            <p:ph idx="1"/>
          </p:nvPr>
        </p:nvSpPr>
        <p:spPr>
          <a:xfrm>
            <a:off x="304800" y="1028700"/>
            <a:ext cx="17678400" cy="8904301"/>
          </a:xfrm>
        </p:spPr>
        <p:txBody>
          <a:bodyPr>
            <a:normAutofit/>
          </a:bodyPr>
          <a:lstStyle/>
          <a:p>
            <a:r>
              <a:rPr lang="en-US" sz="2400" dirty="0"/>
              <a:t>Chang, C., Hwang, J., Shi, Y., Wang, H., Peng, W.-C., Chen, T.-F., &amp; Wang, W. (2025). </a:t>
            </a:r>
            <a:r>
              <a:rPr lang="en-US" sz="2400" i="1" dirty="0"/>
              <a:t>Time-IMM: A Dataset and Benchmark for Irregular Multimodal Multivariate Time Series</a:t>
            </a:r>
            <a:r>
              <a:rPr lang="en-US" sz="2400" dirty="0"/>
              <a:t>. </a:t>
            </a:r>
            <a:r>
              <a:rPr lang="en-US" sz="2400" dirty="0" err="1"/>
              <a:t>arXiv</a:t>
            </a:r>
            <a:r>
              <a:rPr lang="en-US" sz="2400" dirty="0"/>
              <a:t>. </a:t>
            </a:r>
          </a:p>
          <a:p>
            <a:r>
              <a:rPr lang="en-US" sz="2400" dirty="0"/>
              <a:t>Che, Z., </a:t>
            </a:r>
            <a:r>
              <a:rPr lang="en-US" sz="2400" dirty="0" err="1"/>
              <a:t>Purushotham</a:t>
            </a:r>
            <a:r>
              <a:rPr lang="en-US" sz="2400" dirty="0"/>
              <a:t>, S., Cho, K., Sontag, D., &amp; Liu, Y. (2018). </a:t>
            </a:r>
            <a:r>
              <a:rPr lang="en-US" sz="2400" i="1" dirty="0"/>
              <a:t>Recurrent neural networks for multivariate time series with missing values</a:t>
            </a:r>
            <a:r>
              <a:rPr lang="en-US" sz="2400" dirty="0"/>
              <a:t>. </a:t>
            </a:r>
            <a:r>
              <a:rPr lang="en-US" sz="2400" i="1" dirty="0"/>
              <a:t>Scientific Reports, 8</a:t>
            </a:r>
            <a:r>
              <a:rPr lang="en-US" sz="2400" dirty="0"/>
              <a:t>, 6085.</a:t>
            </a:r>
          </a:p>
          <a:p>
            <a:r>
              <a:rPr lang="en-US" sz="2400" dirty="0"/>
              <a:t>Hassaan, Z. A., Yacoub, M. H., &amp; Said, L. A. (2025). Gated recurrent unit accelerators for financial time series prediction on field-programmable gate array. Engineering Applications of Artificial Intelligence, 162(Part E), 112534. </a:t>
            </a:r>
            <a:r>
              <a:rPr lang="en-US" sz="2400" dirty="0">
                <a:hlinkClick r:id="rId2"/>
              </a:rPr>
              <a:t>https://doi.org/10.1016/j.engappai.2025.112534</a:t>
            </a:r>
            <a:endParaRPr lang="en-US" sz="2400" dirty="0"/>
          </a:p>
          <a:p>
            <a:r>
              <a:rPr lang="en-US" sz="2400" dirty="0"/>
              <a:t>Sarkar, M. R., </a:t>
            </a:r>
            <a:r>
              <a:rPr lang="en-US" sz="2400" dirty="0" err="1"/>
              <a:t>Anavatti</a:t>
            </a:r>
            <a:r>
              <a:rPr lang="en-US" sz="2400" dirty="0"/>
              <a:t>, S. G., Dam, T., Ferdaus, M. M., </a:t>
            </a:r>
            <a:r>
              <a:rPr lang="en-US" sz="2400" dirty="0" err="1"/>
              <a:t>Tahtali</a:t>
            </a:r>
            <a:r>
              <a:rPr lang="en-US" sz="2400" dirty="0"/>
              <a:t>, M., Ramasamy, S., &amp; Pratama, M. (2024). GATE: A guided approach for time series ensemble forecasting. Expert Systems with Applications, 235, 121177. </a:t>
            </a:r>
            <a:r>
              <a:rPr lang="en-US" sz="2400" dirty="0">
                <a:hlinkClick r:id="rId3"/>
              </a:rPr>
              <a:t>https://doi.org/10.1016/j.eswa.2023.121177</a:t>
            </a:r>
            <a:endParaRPr lang="en-US" sz="2400" dirty="0"/>
          </a:p>
          <a:p>
            <a:r>
              <a:rPr lang="en-US" sz="2400" dirty="0"/>
              <a:t>Wang, H., Yang, Z., Yu, Q., Hong, T., &amp; Lin, X. (2018). Online reliability time series prediction via convolutional neural network and long short term memory for service-oriented systems. Knowledge-Based Systems, 159, 132–147. https://doi.org/10.1016/j.knosys.2018.07.006</a:t>
            </a:r>
          </a:p>
          <a:p>
            <a:r>
              <a:rPr lang="en-US" sz="2400" dirty="0"/>
              <a:t>Zhang, W., Chen, X., Zhang, Y., &amp; collaborators. (2024). </a:t>
            </a:r>
            <a:r>
              <a:rPr lang="en-US" sz="2400" i="1" dirty="0"/>
              <a:t>Irregular Multivariate Time Series Forecasting: A Transformable Patching Graph Neural Networks Approach</a:t>
            </a:r>
            <a:r>
              <a:rPr lang="en-US" sz="2400" dirty="0"/>
              <a:t>. </a:t>
            </a:r>
          </a:p>
          <a:p>
            <a:r>
              <a:rPr lang="en-US" sz="2400" b="1" dirty="0"/>
              <a:t>MIMIC-IV: </a:t>
            </a:r>
            <a:r>
              <a:rPr lang="en-US" sz="2400" dirty="0"/>
              <a:t>Johnson, A. E. W., Bulgarelli, L., Pollard, T. J., Horng, S., Celi, L. A., &amp; Mark, R. G. </a:t>
            </a:r>
            <a:r>
              <a:rPr lang="en-US" sz="2400" i="1" dirty="0"/>
              <a:t>MIMIC-IV, a freely accessible electronic health record dataset.</a:t>
            </a:r>
            <a:endParaRPr lang="en-US" sz="2400" dirty="0"/>
          </a:p>
          <a:p>
            <a:r>
              <a:rPr lang="en-US" sz="2400" b="1" dirty="0"/>
              <a:t>FNSPID: </a:t>
            </a:r>
            <a:r>
              <a:rPr lang="en-US" sz="2400" dirty="0"/>
              <a:t>Dong, Z., Fan, X., &amp; Peng, Z. </a:t>
            </a:r>
            <a:r>
              <a:rPr lang="en-US" sz="2400" i="1" dirty="0"/>
              <a:t>FNSPID: A Comprehensive Financial News Dataset in Time Series.</a:t>
            </a:r>
          </a:p>
          <a:p>
            <a:r>
              <a:rPr lang="en-US" sz="2400" dirty="0"/>
              <a:t>Portions of the coding pipeline were developed with assistance from ChatGPT (OpenAI), which was used to help draft, debug, and refine code structure. All code was reviewed, tested, and adapted by the author for the final analysis. OpenAI. (2026, April 21). ChatGPT (GPT-5.4 Thinking) [Large language model]. https://chatgpt.com/</a:t>
            </a:r>
            <a:endParaRPr lang="en-US" dirty="0"/>
          </a:p>
        </p:txBody>
      </p:sp>
    </p:spTree>
    <p:extLst>
      <p:ext uri="{BB962C8B-B14F-4D97-AF65-F5344CB8AC3E}">
        <p14:creationId xmlns:p14="http://schemas.microsoft.com/office/powerpoint/2010/main" val="2187316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bcfc9f0-4e11-443a-bbfd-24857bbb4ee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98DC2606335A4E9AA6ABC9A026BDB7" ma:contentTypeVersion="13" ma:contentTypeDescription="Create a new document." ma:contentTypeScope="" ma:versionID="a8d52ce5e6b69da79db1ec4f98cf0d4e">
  <xsd:schema xmlns:xsd="http://www.w3.org/2001/XMLSchema" xmlns:xs="http://www.w3.org/2001/XMLSchema" xmlns:p="http://schemas.microsoft.com/office/2006/metadata/properties" xmlns:ns3="3bcfc9f0-4e11-443a-bbfd-24857bbb4ee2" xmlns:ns4="e2f0b8c8-5a0b-4ae9-b6d0-e730ed024312" targetNamespace="http://schemas.microsoft.com/office/2006/metadata/properties" ma:root="true" ma:fieldsID="832b74e7aa182fdda20e537cb9e18e6c" ns3:_="" ns4:_="">
    <xsd:import namespace="3bcfc9f0-4e11-443a-bbfd-24857bbb4ee2"/>
    <xsd:import namespace="e2f0b8c8-5a0b-4ae9-b6d0-e730ed02431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DateTaken"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fc9f0-4e11-443a-bbfd-24857bbb4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2f0b8c8-5a0b-4ae9-b6d0-e730ed02431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9946EE-B15B-4A0C-97BF-FFFABA08E38A}">
  <ds:schemaRefs>
    <ds:schemaRef ds:uri="http://schemas.microsoft.com/office/2006/documentManagement/types"/>
    <ds:schemaRef ds:uri="http://purl.org/dc/elements/1.1/"/>
    <ds:schemaRef ds:uri="3bcfc9f0-4e11-443a-bbfd-24857bbb4ee2"/>
    <ds:schemaRef ds:uri="http://purl.org/dc/terms/"/>
    <ds:schemaRef ds:uri="http://schemas.microsoft.com/office/infopath/2007/PartnerControls"/>
    <ds:schemaRef ds:uri="e2f0b8c8-5a0b-4ae9-b6d0-e730ed024312"/>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7337D6A2-2182-4118-8F22-86EB3D9D5AEC}">
  <ds:schemaRefs>
    <ds:schemaRef ds:uri="http://schemas.microsoft.com/sharepoint/v3/contenttype/forms"/>
  </ds:schemaRefs>
</ds:datastoreItem>
</file>

<file path=customXml/itemProps3.xml><?xml version="1.0" encoding="utf-8"?>
<ds:datastoreItem xmlns:ds="http://schemas.openxmlformats.org/officeDocument/2006/customXml" ds:itemID="{5D1FA0CE-69C0-43F6-B411-A5D3893CFD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cfc9f0-4e11-443a-bbfd-24857bbb4ee2"/>
    <ds:schemaRef ds:uri="e2f0b8c8-5a0b-4ae9-b6d0-e730ed0243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2710</TotalTime>
  <Words>1548</Words>
  <Application>Microsoft Office PowerPoint</Application>
  <PresentationFormat>Custom</PresentationFormat>
  <Paragraphs>160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Introduction</vt:lpstr>
      <vt:lpstr>Introduction</vt:lpstr>
      <vt:lpstr>Methods</vt:lpstr>
      <vt:lpstr>Datasets for Extensions:</vt:lpstr>
      <vt:lpstr>Our Irregular Time Series Framework Extensions</vt:lpstr>
      <vt:lpstr>PowerPoint Presentation</vt:lpstr>
      <vt:lpstr>PowerPoint Presentation</vt:lpstr>
      <vt:lpstr>Forecast and Classification Runs:</vt:lpstr>
      <vt:lpstr>Reproduction of Paper Results</vt:lpstr>
      <vt:lpstr>Results: Classification</vt:lpstr>
      <vt:lpstr>PowerPoint Presentation</vt:lpstr>
      <vt:lpstr>PowerPoint Presentation</vt:lpstr>
      <vt:lpstr>Results</vt:lpstr>
      <vt:lpstr>Permutation Feature Importance for Mortality Prediction from Text Embeddings </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Wendy Ballew</dc:creator>
  <cp:lastModifiedBy>Brandi Jones</cp:lastModifiedBy>
  <cp:revision>10</cp:revision>
  <dcterms:created xsi:type="dcterms:W3CDTF">2006-08-16T00:00:00Z</dcterms:created>
  <dcterms:modified xsi:type="dcterms:W3CDTF">2026-04-21T22:01:47Z</dcterms:modified>
  <dc:identifier>DAHHVNeB3mk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0x010100DC98DC2606335A4E9AA6ABC9A026BDB7</vt:lpwstr>
  </property>
</Properties>
</file>