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256" r:id="rId5"/>
    <p:sldId id="257" r:id="rId6"/>
    <p:sldId id="258" r:id="rId7"/>
    <p:sldId id="264" r:id="rId8"/>
    <p:sldId id="262" r:id="rId9"/>
    <p:sldId id="261" r:id="rId10"/>
    <p:sldId id="265" r:id="rId11"/>
    <p:sldId id="266" r:id="rId12"/>
    <p:sldId id="259" r:id="rId13"/>
    <p:sldId id="263" r:id="rId14"/>
    <p:sldId id="26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5F0"/>
    <a:srgbClr val="DED5E5"/>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37DDC6-C4B8-432E-BAA5-8171D6EA1DC5}" v="1051" dt="2026-04-09T14:56:27.482"/>
    <p1510:client id="{57D1D63F-5960-D0E8-EC39-9932A373973D}" v="81" dt="2026-04-09T13:13:10.6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9" d="100"/>
          <a:sy n="99" d="100"/>
        </p:scale>
        <p:origin x="404" y="28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884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script:
On the execution side, I will keep the project staged. First, I will replicate the official benchmark on a small but diverse subset of TIME-IMM, probably MIMIC, ClusterTrace, and one of FNSPID or EPA-Air. I will follow the paper’s split, sliding-window setup, and core fusion baselines so the reproduction is faithful. Second, I will frame the application around healthcare by asking when clinical text helps most in MIMIC. Third, I will implement RA-GRAdd, a reliability-aware version of the paper’s GR-Add fusion that uses recency, note density, missingness, and time-series/text alignment to decide how much text should affect the forecast. Evaluation will use MSE first, then MAE and ablation studies.
[Sources]
- User-uploaded paper: Time-IMM.pdf, pages 2-9 (dataset taxonomy, IMM-TSF architecture, TTF/MMF variants, experimental setup, and ablation findings).
- User-uploaded class slides: Class Project.pptx, slides titled “Proposal &amp; Weekly Progress Check”, “Final Project Report”, and “Code”.
- GitHub README for IMM-TSF documenting main.py, compute_text_embeddings.py, main_all.sh, and MIMIC preprocessing: https://github.com/blacksnail789521/IMM-TSF
- GitHub README for Time-IMM documenting the released 8 datasets and local MIMIC preprocessing requirement: https://github.com/blacksnail789521/Time-IMM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5F0"/>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1263F"/>
          </a:solidFill>
          <a:ln w="12700">
            <a:solidFill>
              <a:srgbClr val="11263F"/>
            </a:solidFill>
            <a:prstDash val="solid"/>
          </a:ln>
        </p:spPr>
        <p:txBody>
          <a:bodyPr/>
          <a:lstStyle/>
          <a:p>
            <a:endParaRPr lang="en-US"/>
          </a:p>
        </p:txBody>
      </p:sp>
      <p:sp>
        <p:nvSpPr>
          <p:cNvPr id="3" name="Text 1"/>
          <p:cNvSpPr/>
          <p:nvPr/>
        </p:nvSpPr>
        <p:spPr>
          <a:xfrm>
            <a:off x="411480" y="82296"/>
            <a:ext cx="3657600" cy="146304"/>
          </a:xfrm>
          <a:prstGeom prst="rect">
            <a:avLst/>
          </a:prstGeom>
          <a:noFill/>
          <a:ln/>
        </p:spPr>
        <p:txBody>
          <a:bodyPr wrap="square" lIns="0" tIns="0" rIns="0" bIns="0" rtlCol="0" anchor="ctr"/>
          <a:lstStyle/>
          <a:p>
            <a:pPr marL="0" indent="0">
              <a:buNone/>
            </a:pPr>
            <a:r>
              <a:rPr lang="en-US" sz="1000" dirty="0">
                <a:solidFill>
                  <a:srgbClr val="E6EDF5"/>
                </a:solidFill>
                <a:latin typeface="Aptos" pitchFamily="34" charset="0"/>
                <a:ea typeface="Aptos" pitchFamily="34" charset="-122"/>
                <a:cs typeface="Aptos" pitchFamily="34" charset="-120"/>
              </a:rPr>
              <a:t>TIME-IMM proposal</a:t>
            </a:r>
            <a:endParaRPr lang="en-US" sz="1000" dirty="0"/>
          </a:p>
        </p:txBody>
      </p:sp>
      <p:sp>
        <p:nvSpPr>
          <p:cNvPr id="4" name="Text 2"/>
          <p:cNvSpPr/>
          <p:nvPr/>
        </p:nvSpPr>
        <p:spPr>
          <a:xfrm>
            <a:off x="8412480" y="82296"/>
            <a:ext cx="3383280" cy="146304"/>
          </a:xfrm>
          <a:prstGeom prst="rect">
            <a:avLst/>
          </a:prstGeom>
          <a:noFill/>
          <a:ln/>
        </p:spPr>
        <p:txBody>
          <a:bodyPr wrap="square" lIns="0" tIns="0" rIns="0" bIns="0" rtlCol="0" anchor="ctr"/>
          <a:lstStyle/>
          <a:p>
            <a:pPr marL="0" indent="0" algn="r">
              <a:buNone/>
            </a:pPr>
            <a:r>
              <a:rPr lang="en-US" sz="1000" dirty="0">
                <a:solidFill>
                  <a:srgbClr val="E6EDF5"/>
                </a:solidFill>
                <a:latin typeface="Aptos" pitchFamily="34" charset="0"/>
                <a:ea typeface="Aptos" pitchFamily="34" charset="-122"/>
                <a:cs typeface="Aptos" pitchFamily="34" charset="-120"/>
              </a:rPr>
              <a:t>STAT 8240 • Data Mining II</a:t>
            </a:r>
            <a:endParaRPr lang="en-US" sz="1000" dirty="0"/>
          </a:p>
        </p:txBody>
      </p:sp>
      <p:sp>
        <p:nvSpPr>
          <p:cNvPr id="5" name="Shape 3"/>
          <p:cNvSpPr/>
          <p:nvPr/>
        </p:nvSpPr>
        <p:spPr>
          <a:xfrm>
            <a:off x="411480" y="6419088"/>
            <a:ext cx="11338560" cy="0"/>
          </a:xfrm>
          <a:prstGeom prst="line">
            <a:avLst/>
          </a:prstGeom>
          <a:noFill/>
          <a:ln w="12700">
            <a:solidFill>
              <a:srgbClr val="D7D0C7"/>
            </a:solidFill>
            <a:prstDash val="solid"/>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4.png"/><Relationship Id="rId7"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46888" y="402628"/>
            <a:ext cx="6309360" cy="502920"/>
          </a:xfrm>
          <a:prstGeom prst="rect">
            <a:avLst/>
          </a:prstGeom>
          <a:noFill/>
          <a:ln/>
        </p:spPr>
        <p:txBody>
          <a:bodyPr wrap="square" lIns="0" tIns="0" rIns="0" bIns="0" rtlCol="0" anchor="ctr"/>
          <a:lstStyle/>
          <a:p>
            <a:pPr marL="0" indent="0">
              <a:buNone/>
            </a:pPr>
            <a:r>
              <a:rPr lang="en-US" sz="4000" b="1" dirty="0">
                <a:solidFill>
                  <a:srgbClr val="11263F"/>
                </a:solidFill>
                <a:latin typeface="Aptos Display" pitchFamily="34" charset="0"/>
                <a:ea typeface="Aptos Display" pitchFamily="34" charset="-122"/>
                <a:cs typeface="Aptos Display" pitchFamily="34" charset="-120"/>
              </a:rPr>
              <a:t>TIME-IMM Project Proposal</a:t>
            </a:r>
            <a:endParaRPr lang="en-US" sz="4000" dirty="0"/>
          </a:p>
        </p:txBody>
      </p:sp>
      <p:sp>
        <p:nvSpPr>
          <p:cNvPr id="3" name="Text 1"/>
          <p:cNvSpPr/>
          <p:nvPr/>
        </p:nvSpPr>
        <p:spPr>
          <a:xfrm>
            <a:off x="340650" y="956823"/>
            <a:ext cx="6217920" cy="566928"/>
          </a:xfrm>
          <a:prstGeom prst="rect">
            <a:avLst/>
          </a:prstGeom>
          <a:noFill/>
          <a:ln/>
        </p:spPr>
        <p:txBody>
          <a:bodyPr wrap="square" lIns="0" tIns="0" rIns="0" bIns="0" rtlCol="0" anchor="ctr"/>
          <a:lstStyle/>
          <a:p>
            <a:pPr marL="0" indent="0">
              <a:buNone/>
            </a:pPr>
            <a:r>
              <a:rPr lang="en-US" b="1" dirty="0">
                <a:solidFill>
                  <a:srgbClr val="6B7785"/>
                </a:solidFill>
                <a:latin typeface="Aptos" pitchFamily="34" charset="0"/>
                <a:ea typeface="Aptos" pitchFamily="34" charset="-122"/>
                <a:cs typeface="Aptos" pitchFamily="34" charset="-120"/>
              </a:rPr>
              <a:t>Brandi Jones</a:t>
            </a:r>
          </a:p>
          <a:p>
            <a:pPr marL="0" indent="0">
              <a:buNone/>
            </a:pPr>
            <a:r>
              <a:rPr lang="en-US" b="1" dirty="0">
                <a:solidFill>
                  <a:srgbClr val="6B7785"/>
                </a:solidFill>
                <a:latin typeface="Aptos" pitchFamily="34" charset="0"/>
              </a:rPr>
              <a:t>Chad Bishop</a:t>
            </a:r>
          </a:p>
          <a:p>
            <a:pPr marL="0" indent="0">
              <a:buNone/>
            </a:pPr>
            <a:r>
              <a:rPr lang="en-US" b="1" dirty="0">
                <a:solidFill>
                  <a:srgbClr val="6B7785"/>
                </a:solidFill>
                <a:latin typeface="Aptos" pitchFamily="34" charset="0"/>
              </a:rPr>
              <a:t>Nnenna Ifeanyi</a:t>
            </a:r>
            <a:endParaRPr lang="en-US" b="1" dirty="0"/>
          </a:p>
        </p:txBody>
      </p:sp>
      <p:sp>
        <p:nvSpPr>
          <p:cNvPr id="4" name="Text 2"/>
          <p:cNvSpPr/>
          <p:nvPr/>
        </p:nvSpPr>
        <p:spPr>
          <a:xfrm>
            <a:off x="548640" y="1815271"/>
            <a:ext cx="2011680" cy="219456"/>
          </a:xfrm>
          <a:prstGeom prst="rect">
            <a:avLst/>
          </a:prstGeom>
          <a:noFill/>
          <a:ln/>
        </p:spPr>
        <p:txBody>
          <a:bodyPr wrap="square" lIns="0" tIns="0" rIns="0" bIns="0" rtlCol="0" anchor="ctr"/>
          <a:lstStyle/>
          <a:p>
            <a:pPr marL="0" indent="0">
              <a:buNone/>
            </a:pPr>
            <a:r>
              <a:rPr lang="en-US" sz="1400" b="1" dirty="0">
                <a:solidFill>
                  <a:srgbClr val="5D89B3"/>
                </a:solidFill>
                <a:latin typeface="Aptos" pitchFamily="34" charset="0"/>
                <a:ea typeface="Aptos" pitchFamily="34" charset="-122"/>
                <a:cs typeface="Aptos" pitchFamily="34" charset="-120"/>
              </a:rPr>
              <a:t>Problem framing</a:t>
            </a:r>
            <a:endParaRPr lang="en-US" sz="1400" dirty="0"/>
          </a:p>
        </p:txBody>
      </p:sp>
      <p:sp>
        <p:nvSpPr>
          <p:cNvPr id="5" name="Text 3"/>
          <p:cNvSpPr/>
          <p:nvPr/>
        </p:nvSpPr>
        <p:spPr>
          <a:xfrm>
            <a:off x="566928" y="1997769"/>
            <a:ext cx="6381224" cy="1078992"/>
          </a:xfrm>
          <a:prstGeom prst="rect">
            <a:avLst/>
          </a:prstGeom>
          <a:noFill/>
          <a:ln/>
        </p:spPr>
        <p:txBody>
          <a:bodyPr wrap="square" lIns="254" tIns="254" rIns="254" bIns="254" rtlCol="0" anchor="t"/>
          <a:lstStyle/>
          <a:p>
            <a:pPr marL="0" indent="0">
              <a:buNone/>
            </a:pPr>
            <a:r>
              <a:rPr lang="en-US" sz="1720" b="1" dirty="0">
                <a:solidFill>
                  <a:srgbClr val="C39A57"/>
                </a:solidFill>
                <a:latin typeface="Aptos" pitchFamily="34" charset="0"/>
                <a:ea typeface="Aptos" pitchFamily="34" charset="-122"/>
                <a:cs typeface="Aptos" pitchFamily="34" charset="-120"/>
              </a:rPr>
              <a:t>• </a:t>
            </a:r>
            <a:r>
              <a:rPr lang="en-US" sz="1720" dirty="0">
                <a:solidFill>
                  <a:srgbClr val="22313F"/>
                </a:solidFill>
                <a:latin typeface="Aptos" pitchFamily="34" charset="0"/>
                <a:ea typeface="Aptos" pitchFamily="34" charset="-122"/>
                <a:cs typeface="Aptos" pitchFamily="34" charset="-120"/>
              </a:rPr>
              <a:t>Real-world time series are irregular, asynchronous,  </a:t>
            </a:r>
          </a:p>
          <a:p>
            <a:pPr marL="0" indent="0">
              <a:buNone/>
            </a:pPr>
            <a:r>
              <a:rPr lang="en-US" sz="1720" dirty="0">
                <a:solidFill>
                  <a:srgbClr val="22313F"/>
                </a:solidFill>
                <a:latin typeface="Aptos" pitchFamily="34" charset="0"/>
                <a:ea typeface="Aptos" pitchFamily="34" charset="-122"/>
                <a:cs typeface="Aptos" pitchFamily="34" charset="-120"/>
              </a:rPr>
              <a:t>    multimodal, and missing-rich.</a:t>
            </a:r>
            <a:endParaRPr lang="en-US" sz="1720" dirty="0"/>
          </a:p>
          <a:p>
            <a:pPr marL="0" indent="0">
              <a:buNone/>
            </a:pPr>
            <a:r>
              <a:rPr lang="en-US" sz="1720" b="1" dirty="0">
                <a:solidFill>
                  <a:srgbClr val="C39A57"/>
                </a:solidFill>
                <a:latin typeface="Aptos" pitchFamily="34" charset="0"/>
                <a:ea typeface="Aptos" pitchFamily="34" charset="-122"/>
                <a:cs typeface="Aptos" pitchFamily="34" charset="-120"/>
              </a:rPr>
              <a:t>• </a:t>
            </a:r>
            <a:r>
              <a:rPr lang="en-US" sz="1720" dirty="0">
                <a:solidFill>
                  <a:srgbClr val="22313F"/>
                </a:solidFill>
                <a:latin typeface="Aptos" pitchFamily="34" charset="0"/>
                <a:ea typeface="Aptos" pitchFamily="34" charset="-122"/>
                <a:cs typeface="Aptos" pitchFamily="34" charset="-120"/>
              </a:rPr>
              <a:t>TIME-IMM contributes 9 datasets and the IMM-TSF </a:t>
            </a:r>
          </a:p>
          <a:p>
            <a:pPr marL="0" indent="0">
              <a:buNone/>
            </a:pPr>
            <a:r>
              <a:rPr lang="en-US" sz="1720" dirty="0">
                <a:solidFill>
                  <a:srgbClr val="22313F"/>
                </a:solidFill>
                <a:latin typeface="Aptos" pitchFamily="34" charset="0"/>
                <a:ea typeface="Aptos" pitchFamily="34" charset="-122"/>
                <a:cs typeface="Aptos" pitchFamily="34" charset="-120"/>
              </a:rPr>
              <a:t>    library, making reproduction, application, and extension all </a:t>
            </a:r>
          </a:p>
          <a:p>
            <a:pPr marL="0" indent="0">
              <a:buNone/>
            </a:pPr>
            <a:r>
              <a:rPr lang="en-US" sz="1720" dirty="0">
                <a:solidFill>
                  <a:srgbClr val="22313F"/>
                </a:solidFill>
                <a:latin typeface="Aptos" pitchFamily="34" charset="0"/>
                <a:ea typeface="Aptos" pitchFamily="34" charset="-122"/>
                <a:cs typeface="Aptos" pitchFamily="34" charset="-120"/>
              </a:rPr>
              <a:t>    feasible.</a:t>
            </a:r>
            <a:endParaRPr lang="en-US" sz="1720" dirty="0"/>
          </a:p>
        </p:txBody>
      </p:sp>
      <p:sp>
        <p:nvSpPr>
          <p:cNvPr id="6" name="Shape 4"/>
          <p:cNvSpPr/>
          <p:nvPr/>
        </p:nvSpPr>
        <p:spPr>
          <a:xfrm>
            <a:off x="548640" y="4926419"/>
            <a:ext cx="1874520" cy="1371600"/>
          </a:xfrm>
          <a:prstGeom prst="roundRect">
            <a:avLst>
              <a:gd name="adj" fmla="val 5333"/>
            </a:avLst>
          </a:prstGeom>
          <a:solidFill>
            <a:srgbClr val="FFFFFF"/>
          </a:solidFill>
          <a:ln w="12700">
            <a:solidFill>
              <a:srgbClr val="E4DED5"/>
            </a:solidFill>
            <a:prstDash val="solid"/>
          </a:ln>
          <a:effectLst>
            <a:outerShdw blurRad="15240" dist="12700" dir="2700000" algn="bl" rotWithShape="0">
              <a:srgbClr val="000000">
                <a:alpha val="12000"/>
              </a:srgbClr>
            </a:outerShdw>
          </a:effectLst>
        </p:spPr>
        <p:txBody>
          <a:bodyPr/>
          <a:lstStyle/>
          <a:p>
            <a:endParaRPr lang="en-US"/>
          </a:p>
        </p:txBody>
      </p:sp>
      <p:sp>
        <p:nvSpPr>
          <p:cNvPr id="7" name="Shape 5"/>
          <p:cNvSpPr/>
          <p:nvPr/>
        </p:nvSpPr>
        <p:spPr>
          <a:xfrm>
            <a:off x="713232" y="4784124"/>
            <a:ext cx="822960" cy="256032"/>
          </a:xfrm>
          <a:prstGeom prst="roundRect">
            <a:avLst>
              <a:gd name="adj" fmla="val 28571"/>
            </a:avLst>
          </a:prstGeom>
          <a:solidFill>
            <a:srgbClr val="3B7C8F"/>
          </a:solidFill>
          <a:ln w="12700">
            <a:solidFill>
              <a:srgbClr val="3B7C8F"/>
            </a:solidFill>
            <a:prstDash val="solid"/>
          </a:ln>
        </p:spPr>
        <p:txBody>
          <a:bodyPr/>
          <a:lstStyle/>
          <a:p>
            <a:endParaRPr lang="en-US"/>
          </a:p>
        </p:txBody>
      </p:sp>
      <p:sp>
        <p:nvSpPr>
          <p:cNvPr id="8" name="Text 6"/>
          <p:cNvSpPr/>
          <p:nvPr/>
        </p:nvSpPr>
        <p:spPr>
          <a:xfrm>
            <a:off x="749808" y="4833727"/>
            <a:ext cx="749808" cy="164592"/>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A</a:t>
            </a:r>
            <a:endParaRPr lang="en-US" sz="1400" dirty="0"/>
          </a:p>
        </p:txBody>
      </p:sp>
      <p:sp>
        <p:nvSpPr>
          <p:cNvPr id="9" name="Text 7"/>
          <p:cNvSpPr/>
          <p:nvPr/>
        </p:nvSpPr>
        <p:spPr>
          <a:xfrm>
            <a:off x="713232" y="5037582"/>
            <a:ext cx="1545336" cy="384048"/>
          </a:xfrm>
          <a:prstGeom prst="rect">
            <a:avLst/>
          </a:prstGeom>
          <a:noFill/>
          <a:ln/>
        </p:spPr>
        <p:txBody>
          <a:bodyPr wrap="square" lIns="0" tIns="0" rIns="0" bIns="0" rtlCol="0" anchor="ctr"/>
          <a:lstStyle/>
          <a:p>
            <a:pPr marL="0" indent="0">
              <a:buNone/>
            </a:pPr>
            <a:r>
              <a:rPr lang="en-US" sz="1580" b="1" dirty="0">
                <a:solidFill>
                  <a:srgbClr val="11263F"/>
                </a:solidFill>
                <a:latin typeface="Aptos" pitchFamily="34" charset="0"/>
                <a:ea typeface="Aptos" pitchFamily="34" charset="-122"/>
                <a:cs typeface="Aptos" pitchFamily="34" charset="-120"/>
              </a:rPr>
              <a:t>Reproduction</a:t>
            </a:r>
            <a:endParaRPr lang="en-US" sz="1580" dirty="0"/>
          </a:p>
        </p:txBody>
      </p:sp>
      <p:sp>
        <p:nvSpPr>
          <p:cNvPr id="10" name="Text 8"/>
          <p:cNvSpPr/>
          <p:nvPr/>
        </p:nvSpPr>
        <p:spPr>
          <a:xfrm>
            <a:off x="781812" y="5360204"/>
            <a:ext cx="1545336" cy="310896"/>
          </a:xfrm>
          <a:prstGeom prst="rect">
            <a:avLst/>
          </a:prstGeom>
          <a:noFill/>
          <a:ln/>
        </p:spPr>
        <p:txBody>
          <a:bodyPr wrap="square" lIns="254" tIns="254" rIns="254" bIns="254" rtlCol="0" anchor="t"/>
          <a:lstStyle/>
          <a:p>
            <a:pPr marL="0" indent="0">
              <a:buNone/>
            </a:pPr>
            <a:r>
              <a:rPr lang="en-US" sz="1240" dirty="0">
                <a:solidFill>
                  <a:srgbClr val="22313F"/>
                </a:solidFill>
                <a:latin typeface="Aptos" pitchFamily="34" charset="0"/>
                <a:ea typeface="Aptos" pitchFamily="34" charset="-122"/>
                <a:cs typeface="Aptos" pitchFamily="34" charset="-120"/>
              </a:rPr>
              <a:t>Replicate the paper’s IMM-TSF results with released code and matched settings.</a:t>
            </a:r>
            <a:endParaRPr lang="en-US" sz="1240" dirty="0"/>
          </a:p>
        </p:txBody>
      </p:sp>
      <p:sp>
        <p:nvSpPr>
          <p:cNvPr id="11" name="Shape 9"/>
          <p:cNvSpPr/>
          <p:nvPr/>
        </p:nvSpPr>
        <p:spPr>
          <a:xfrm>
            <a:off x="2624328" y="4908132"/>
            <a:ext cx="1874520" cy="1371600"/>
          </a:xfrm>
          <a:prstGeom prst="roundRect">
            <a:avLst>
              <a:gd name="adj" fmla="val 5333"/>
            </a:avLst>
          </a:prstGeom>
          <a:solidFill>
            <a:srgbClr val="FFFFFF"/>
          </a:solidFill>
          <a:ln w="12700">
            <a:solidFill>
              <a:srgbClr val="E4DED5"/>
            </a:solidFill>
            <a:prstDash val="solid"/>
          </a:ln>
          <a:effectLst>
            <a:outerShdw blurRad="15240" dist="12700" dir="2700000" algn="bl" rotWithShape="0">
              <a:srgbClr val="000000">
                <a:alpha val="12000"/>
              </a:srgbClr>
            </a:outerShdw>
          </a:effectLst>
        </p:spPr>
        <p:txBody>
          <a:bodyPr/>
          <a:lstStyle/>
          <a:p>
            <a:endParaRPr lang="en-US"/>
          </a:p>
        </p:txBody>
      </p:sp>
      <p:sp>
        <p:nvSpPr>
          <p:cNvPr id="12" name="Shape 10"/>
          <p:cNvSpPr/>
          <p:nvPr/>
        </p:nvSpPr>
        <p:spPr>
          <a:xfrm>
            <a:off x="2770632" y="4784124"/>
            <a:ext cx="822960" cy="256032"/>
          </a:xfrm>
          <a:prstGeom prst="roundRect">
            <a:avLst>
              <a:gd name="adj" fmla="val 28571"/>
            </a:avLst>
          </a:prstGeom>
          <a:solidFill>
            <a:srgbClr val="C39A57"/>
          </a:solidFill>
          <a:ln w="12700">
            <a:solidFill>
              <a:srgbClr val="C39A57"/>
            </a:solidFill>
            <a:prstDash val="solid"/>
          </a:ln>
        </p:spPr>
        <p:txBody>
          <a:bodyPr/>
          <a:lstStyle/>
          <a:p>
            <a:endParaRPr lang="en-US"/>
          </a:p>
        </p:txBody>
      </p:sp>
      <p:sp>
        <p:nvSpPr>
          <p:cNvPr id="13" name="Text 11"/>
          <p:cNvSpPr/>
          <p:nvPr/>
        </p:nvSpPr>
        <p:spPr>
          <a:xfrm>
            <a:off x="2807208" y="4833727"/>
            <a:ext cx="749808" cy="164592"/>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B</a:t>
            </a:r>
            <a:endParaRPr lang="en-US" sz="1400" dirty="0"/>
          </a:p>
        </p:txBody>
      </p:sp>
      <p:sp>
        <p:nvSpPr>
          <p:cNvPr id="14" name="Text 12"/>
          <p:cNvSpPr/>
          <p:nvPr/>
        </p:nvSpPr>
        <p:spPr>
          <a:xfrm>
            <a:off x="2770632" y="5031388"/>
            <a:ext cx="1545336" cy="384048"/>
          </a:xfrm>
          <a:prstGeom prst="rect">
            <a:avLst/>
          </a:prstGeom>
          <a:noFill/>
          <a:ln/>
        </p:spPr>
        <p:txBody>
          <a:bodyPr wrap="square" lIns="0" tIns="0" rIns="0" bIns="0" rtlCol="0" anchor="ctr"/>
          <a:lstStyle/>
          <a:p>
            <a:pPr marL="0" indent="0">
              <a:buNone/>
            </a:pPr>
            <a:r>
              <a:rPr lang="en-US" sz="1580" b="1" dirty="0">
                <a:solidFill>
                  <a:srgbClr val="11263F"/>
                </a:solidFill>
                <a:latin typeface="Aptos" pitchFamily="34" charset="0"/>
                <a:ea typeface="Aptos" pitchFamily="34" charset="-122"/>
                <a:cs typeface="Aptos" pitchFamily="34" charset="-120"/>
              </a:rPr>
              <a:t>Application</a:t>
            </a:r>
            <a:endParaRPr lang="en-US" sz="1580" dirty="0"/>
          </a:p>
        </p:txBody>
      </p:sp>
      <p:sp>
        <p:nvSpPr>
          <p:cNvPr id="15" name="Text 13"/>
          <p:cNvSpPr/>
          <p:nvPr/>
        </p:nvSpPr>
        <p:spPr>
          <a:xfrm>
            <a:off x="2770632" y="5377357"/>
            <a:ext cx="1545336" cy="310896"/>
          </a:xfrm>
          <a:prstGeom prst="rect">
            <a:avLst/>
          </a:prstGeom>
          <a:noFill/>
          <a:ln/>
        </p:spPr>
        <p:txBody>
          <a:bodyPr wrap="square" lIns="254" tIns="254" rIns="254" bIns="254" rtlCol="0" anchor="t"/>
          <a:lstStyle/>
          <a:p>
            <a:pPr marL="0" indent="0">
              <a:buNone/>
            </a:pPr>
            <a:r>
              <a:rPr lang="en-US" sz="1240" dirty="0">
                <a:solidFill>
                  <a:srgbClr val="22313F"/>
                </a:solidFill>
                <a:latin typeface="Aptos" pitchFamily="34" charset="0"/>
                <a:ea typeface="Aptos" pitchFamily="34" charset="-122"/>
                <a:cs typeface="Aptos" pitchFamily="34" charset="-120"/>
              </a:rPr>
              <a:t>Use MIMIC as the healthcare case and analyze when notes help forecasting most.</a:t>
            </a:r>
            <a:endParaRPr lang="en-US" sz="1240" dirty="0"/>
          </a:p>
        </p:txBody>
      </p:sp>
      <p:sp>
        <p:nvSpPr>
          <p:cNvPr id="16" name="Shape 14"/>
          <p:cNvSpPr/>
          <p:nvPr/>
        </p:nvSpPr>
        <p:spPr>
          <a:xfrm>
            <a:off x="4663440" y="4926419"/>
            <a:ext cx="1874520" cy="1371600"/>
          </a:xfrm>
          <a:prstGeom prst="roundRect">
            <a:avLst>
              <a:gd name="adj" fmla="val 5333"/>
            </a:avLst>
          </a:prstGeom>
          <a:solidFill>
            <a:srgbClr val="FFFFFF"/>
          </a:solidFill>
          <a:ln w="12700">
            <a:solidFill>
              <a:srgbClr val="E4DED5"/>
            </a:solidFill>
            <a:prstDash val="solid"/>
          </a:ln>
          <a:effectLst>
            <a:outerShdw blurRad="15240" dist="12700" dir="2700000" algn="bl" rotWithShape="0">
              <a:srgbClr val="000000">
                <a:alpha val="12000"/>
              </a:srgbClr>
            </a:outerShdw>
          </a:effectLst>
        </p:spPr>
        <p:txBody>
          <a:bodyPr/>
          <a:lstStyle/>
          <a:p>
            <a:endParaRPr lang="en-US"/>
          </a:p>
        </p:txBody>
      </p:sp>
      <p:sp>
        <p:nvSpPr>
          <p:cNvPr id="17" name="Shape 15"/>
          <p:cNvSpPr/>
          <p:nvPr/>
        </p:nvSpPr>
        <p:spPr>
          <a:xfrm>
            <a:off x="4828032" y="4784124"/>
            <a:ext cx="822960" cy="256032"/>
          </a:xfrm>
          <a:prstGeom prst="roundRect">
            <a:avLst>
              <a:gd name="adj" fmla="val 28571"/>
            </a:avLst>
          </a:prstGeom>
          <a:solidFill>
            <a:srgbClr val="D97B73"/>
          </a:solidFill>
          <a:ln w="12700">
            <a:solidFill>
              <a:srgbClr val="D97B73"/>
            </a:solidFill>
            <a:prstDash val="solid"/>
          </a:ln>
        </p:spPr>
        <p:txBody>
          <a:bodyPr/>
          <a:lstStyle/>
          <a:p>
            <a:endParaRPr lang="en-US"/>
          </a:p>
        </p:txBody>
      </p:sp>
      <p:sp>
        <p:nvSpPr>
          <p:cNvPr id="18" name="Text 16"/>
          <p:cNvSpPr/>
          <p:nvPr/>
        </p:nvSpPr>
        <p:spPr>
          <a:xfrm>
            <a:off x="4864608" y="4833727"/>
            <a:ext cx="749808" cy="164592"/>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C</a:t>
            </a:r>
            <a:endParaRPr lang="en-US" sz="1400" dirty="0"/>
          </a:p>
        </p:txBody>
      </p:sp>
      <p:sp>
        <p:nvSpPr>
          <p:cNvPr id="19" name="Text 17"/>
          <p:cNvSpPr/>
          <p:nvPr/>
        </p:nvSpPr>
        <p:spPr>
          <a:xfrm>
            <a:off x="4828032" y="5043914"/>
            <a:ext cx="1545336" cy="384048"/>
          </a:xfrm>
          <a:prstGeom prst="rect">
            <a:avLst/>
          </a:prstGeom>
          <a:noFill/>
          <a:ln/>
        </p:spPr>
        <p:txBody>
          <a:bodyPr wrap="square" lIns="0" tIns="0" rIns="0" bIns="0" rtlCol="0" anchor="ctr"/>
          <a:lstStyle/>
          <a:p>
            <a:pPr marL="0" indent="0">
              <a:buNone/>
            </a:pPr>
            <a:r>
              <a:rPr lang="en-US" sz="1580" b="1" dirty="0">
                <a:solidFill>
                  <a:srgbClr val="11263F"/>
                </a:solidFill>
                <a:latin typeface="Aptos" pitchFamily="34" charset="0"/>
                <a:ea typeface="Aptos" pitchFamily="34" charset="-122"/>
                <a:cs typeface="Aptos" pitchFamily="34" charset="-120"/>
              </a:rPr>
              <a:t>Extension</a:t>
            </a:r>
            <a:endParaRPr lang="en-US" sz="1580" dirty="0"/>
          </a:p>
        </p:txBody>
      </p:sp>
      <p:sp>
        <p:nvSpPr>
          <p:cNvPr id="20" name="Text 18"/>
          <p:cNvSpPr/>
          <p:nvPr/>
        </p:nvSpPr>
        <p:spPr>
          <a:xfrm>
            <a:off x="4828032" y="5382034"/>
            <a:ext cx="1545336" cy="310896"/>
          </a:xfrm>
          <a:prstGeom prst="rect">
            <a:avLst/>
          </a:prstGeom>
          <a:noFill/>
          <a:ln/>
        </p:spPr>
        <p:txBody>
          <a:bodyPr wrap="square" lIns="254" tIns="254" rIns="254" bIns="254" rtlCol="0" anchor="t"/>
          <a:lstStyle/>
          <a:p>
            <a:pPr marL="0" indent="0">
              <a:buNone/>
            </a:pPr>
            <a:r>
              <a:rPr lang="en-US" sz="1240" dirty="0">
                <a:solidFill>
                  <a:srgbClr val="22313F"/>
                </a:solidFill>
                <a:latin typeface="Aptos" pitchFamily="34" charset="0"/>
                <a:ea typeface="Aptos" pitchFamily="34" charset="-122"/>
                <a:cs typeface="Aptos" pitchFamily="34" charset="-120"/>
              </a:rPr>
              <a:t>Add a reliability-aware gate so text changes the forecast only when it is useful.</a:t>
            </a:r>
            <a:endParaRPr lang="en-US" sz="1240" dirty="0"/>
          </a:p>
        </p:txBody>
      </p:sp>
      <p:sp>
        <p:nvSpPr>
          <p:cNvPr id="21" name="Shape 19"/>
          <p:cNvSpPr/>
          <p:nvPr/>
        </p:nvSpPr>
        <p:spPr>
          <a:xfrm>
            <a:off x="566928" y="3367837"/>
            <a:ext cx="5989320" cy="658368"/>
          </a:xfrm>
          <a:prstGeom prst="roundRect">
            <a:avLst>
              <a:gd name="adj" fmla="val 11111"/>
            </a:avLst>
          </a:prstGeom>
          <a:solidFill>
            <a:srgbClr val="11263F"/>
          </a:solidFill>
          <a:ln w="12700">
            <a:solidFill>
              <a:srgbClr val="11263F"/>
            </a:solidFill>
            <a:prstDash val="solid"/>
          </a:ln>
        </p:spPr>
        <p:txBody>
          <a:bodyPr/>
          <a:lstStyle/>
          <a:p>
            <a:endParaRPr lang="en-US"/>
          </a:p>
        </p:txBody>
      </p:sp>
      <p:sp>
        <p:nvSpPr>
          <p:cNvPr id="22" name="Text 20"/>
          <p:cNvSpPr/>
          <p:nvPr/>
        </p:nvSpPr>
        <p:spPr>
          <a:xfrm>
            <a:off x="749808" y="3532429"/>
            <a:ext cx="5577840" cy="310896"/>
          </a:xfrm>
          <a:prstGeom prst="rect">
            <a:avLst/>
          </a:prstGeom>
          <a:noFill/>
          <a:ln/>
        </p:spPr>
        <p:txBody>
          <a:bodyPr wrap="square" lIns="0" tIns="0" rIns="0" bIns="0" rtlCol="0" anchor="ctr"/>
          <a:lstStyle/>
          <a:p>
            <a:pPr marL="0" indent="0">
              <a:buNone/>
            </a:pPr>
            <a:r>
              <a:rPr lang="en-US" sz="1400" b="1" dirty="0">
                <a:solidFill>
                  <a:srgbClr val="FFFFFF"/>
                </a:solidFill>
                <a:latin typeface="Aptos" pitchFamily="34" charset="0"/>
              </a:rPr>
              <a:t>Original Paper Goal: Build deep learning architectures that can handle complex temporal dynamics and multimodal interactions</a:t>
            </a:r>
            <a:endParaRPr lang="en-US" sz="1400" dirty="0"/>
          </a:p>
        </p:txBody>
      </p:sp>
      <p:sp>
        <p:nvSpPr>
          <p:cNvPr id="23" name="Shape 21"/>
          <p:cNvSpPr/>
          <p:nvPr/>
        </p:nvSpPr>
        <p:spPr>
          <a:xfrm>
            <a:off x="6995160" y="749808"/>
            <a:ext cx="4645152" cy="5358384"/>
          </a:xfrm>
          <a:prstGeom prst="roundRect">
            <a:avLst>
              <a:gd name="adj" fmla="val 1575"/>
            </a:avLst>
          </a:prstGeom>
          <a:solidFill>
            <a:srgbClr val="FFFFFF"/>
          </a:solidFill>
          <a:ln w="12700">
            <a:solidFill>
              <a:srgbClr val="E4DED5"/>
            </a:solidFill>
            <a:prstDash val="solid"/>
          </a:ln>
          <a:effectLst>
            <a:outerShdw blurRad="15240" dist="12700" dir="2700000" algn="bl" rotWithShape="0">
              <a:srgbClr val="000000">
                <a:alpha val="12000"/>
              </a:srgbClr>
            </a:outerShdw>
          </a:effectLst>
        </p:spPr>
        <p:txBody>
          <a:bodyPr/>
          <a:lstStyle/>
          <a:p>
            <a:endParaRPr lang="en-US"/>
          </a:p>
        </p:txBody>
      </p:sp>
      <p:pic>
        <p:nvPicPr>
          <p:cNvPr id="26" name="Image 0" descr="/mnt/data/page3_tax2.png"/>
          <p:cNvPicPr>
            <a:picLocks noChangeAspect="1"/>
          </p:cNvPicPr>
          <p:nvPr/>
        </p:nvPicPr>
        <p:blipFill>
          <a:blip r:embed="rId3"/>
          <a:srcRect l="14683"/>
          <a:stretch>
            <a:fillRect/>
          </a:stretch>
        </p:blipFill>
        <p:spPr>
          <a:xfrm>
            <a:off x="7368033" y="946581"/>
            <a:ext cx="3741928" cy="3957998"/>
          </a:xfrm>
          <a:prstGeom prst="rect">
            <a:avLst/>
          </a:prstGeom>
        </p:spPr>
      </p:pic>
      <p:sp>
        <p:nvSpPr>
          <p:cNvPr id="25" name="Text 23"/>
          <p:cNvSpPr/>
          <p:nvPr/>
        </p:nvSpPr>
        <p:spPr>
          <a:xfrm>
            <a:off x="7296912" y="1424788"/>
            <a:ext cx="4069080" cy="384048"/>
          </a:xfrm>
          <a:prstGeom prst="rect">
            <a:avLst/>
          </a:prstGeom>
          <a:noFill/>
          <a:ln/>
        </p:spPr>
        <p:txBody>
          <a:bodyPr wrap="square" lIns="0" tIns="0" rIns="0" bIns="0" rtlCol="0" anchor="ctr"/>
          <a:lstStyle/>
          <a:p>
            <a:pPr marL="0" indent="0">
              <a:buNone/>
            </a:pPr>
            <a:r>
              <a:rPr lang="en-US" sz="1360" dirty="0">
                <a:solidFill>
                  <a:srgbClr val="6B7785"/>
                </a:solidFill>
                <a:latin typeface="Aptos" pitchFamily="34" charset="0"/>
                <a:ea typeface="Aptos" pitchFamily="34" charset="-122"/>
                <a:cs typeface="Aptos" pitchFamily="34" charset="-120"/>
              </a:rPr>
              <a:t>Introduces TIME-IMM, a dataset designed to reflect realistic multimodal multivariate time series data, and IMM-TSF, a benchmark library for forecasting </a:t>
            </a:r>
            <a:endParaRPr lang="en-US" sz="1360" dirty="0"/>
          </a:p>
        </p:txBody>
      </p:sp>
      <p:sp>
        <p:nvSpPr>
          <p:cNvPr id="27" name="Text 24"/>
          <p:cNvSpPr/>
          <p:nvPr/>
        </p:nvSpPr>
        <p:spPr>
          <a:xfrm>
            <a:off x="7296912" y="4961310"/>
            <a:ext cx="4041648" cy="475488"/>
          </a:xfrm>
          <a:prstGeom prst="rect">
            <a:avLst/>
          </a:prstGeom>
          <a:noFill/>
          <a:ln/>
        </p:spPr>
        <p:txBody>
          <a:bodyPr wrap="square" lIns="0" tIns="0" rIns="0" bIns="0" rtlCol="0" anchor="ctr"/>
          <a:lstStyle/>
          <a:p>
            <a:pPr marL="0" indent="0">
              <a:buNone/>
            </a:pPr>
            <a:r>
              <a:rPr lang="en-US" sz="1360" i="1" dirty="0">
                <a:solidFill>
                  <a:srgbClr val="22313F"/>
                </a:solidFill>
                <a:latin typeface="Aptos" pitchFamily="34" charset="0"/>
                <a:ea typeface="Aptos" pitchFamily="34" charset="-122"/>
                <a:cs typeface="Aptos" pitchFamily="34" charset="-120"/>
              </a:rPr>
              <a:t>TIME-IMM taxonomy: 9 datasets across trigger-based, constraint-based, and artifact-based irregularity.</a:t>
            </a:r>
            <a:endParaRPr lang="en-US" sz="1360" dirty="0"/>
          </a:p>
        </p:txBody>
      </p:sp>
      <p:sp>
        <p:nvSpPr>
          <p:cNvPr id="28" name="Shape 25"/>
          <p:cNvSpPr/>
          <p:nvPr/>
        </p:nvSpPr>
        <p:spPr>
          <a:xfrm>
            <a:off x="7269480" y="5596128"/>
            <a:ext cx="3977640" cy="384048"/>
          </a:xfrm>
          <a:prstGeom prst="roundRect">
            <a:avLst>
              <a:gd name="adj" fmla="val 14286"/>
            </a:avLst>
          </a:prstGeom>
          <a:solidFill>
            <a:srgbClr val="EAF1F8"/>
          </a:solidFill>
          <a:ln w="12700">
            <a:solidFill>
              <a:srgbClr val="5D89B3"/>
            </a:solidFill>
            <a:prstDash val="solid"/>
          </a:ln>
        </p:spPr>
        <p:txBody>
          <a:bodyPr/>
          <a:lstStyle/>
          <a:p>
            <a:endParaRPr lang="en-US"/>
          </a:p>
        </p:txBody>
      </p:sp>
      <p:sp>
        <p:nvSpPr>
          <p:cNvPr id="29" name="Text 26"/>
          <p:cNvSpPr/>
          <p:nvPr/>
        </p:nvSpPr>
        <p:spPr>
          <a:xfrm>
            <a:off x="7387349" y="5646420"/>
            <a:ext cx="4361688" cy="283464"/>
          </a:xfrm>
          <a:prstGeom prst="rect">
            <a:avLst/>
          </a:prstGeom>
          <a:noFill/>
          <a:ln/>
        </p:spPr>
        <p:txBody>
          <a:bodyPr wrap="square" lIns="0" tIns="0" rIns="0" bIns="0" rtlCol="0" anchor="ctr"/>
          <a:lstStyle/>
          <a:p>
            <a:pPr marL="0" indent="0">
              <a:buNone/>
            </a:pPr>
            <a:r>
              <a:rPr lang="en-US" sz="1100" b="1" dirty="0">
                <a:solidFill>
                  <a:srgbClr val="11263F"/>
                </a:solidFill>
                <a:latin typeface="Aptos" pitchFamily="34" charset="0"/>
                <a:ea typeface="Aptos" pitchFamily="34" charset="-122"/>
                <a:cs typeface="Aptos" pitchFamily="34" charset="-120"/>
              </a:rPr>
              <a:t>Code: github.com/blacksnail789521/Time-IMM + IMM-TSF</a:t>
            </a:r>
            <a:endParaRPr lang="en-US" sz="1100" dirty="0"/>
          </a:p>
        </p:txBody>
      </p:sp>
      <p:sp>
        <p:nvSpPr>
          <p:cNvPr id="24" name="Text 22"/>
          <p:cNvSpPr/>
          <p:nvPr/>
        </p:nvSpPr>
        <p:spPr>
          <a:xfrm>
            <a:off x="7269480" y="934364"/>
            <a:ext cx="3200400" cy="457200"/>
          </a:xfrm>
          <a:prstGeom prst="rect">
            <a:avLst/>
          </a:prstGeom>
          <a:noFill/>
          <a:ln/>
        </p:spPr>
        <p:txBody>
          <a:bodyPr wrap="square" lIns="0" tIns="0" rIns="0" bIns="0" rtlCol="0" anchor="ctr"/>
          <a:lstStyle/>
          <a:p>
            <a:pPr marL="0" indent="0">
              <a:buNone/>
            </a:pPr>
            <a:r>
              <a:rPr lang="en-US" sz="1850" b="1" dirty="0">
                <a:solidFill>
                  <a:srgbClr val="11263F"/>
                </a:solidFill>
                <a:latin typeface="Aptos" pitchFamily="34" charset="0"/>
                <a:ea typeface="Aptos" pitchFamily="34" charset="-122"/>
                <a:cs typeface="Aptos" pitchFamily="34" charset="-120"/>
              </a:rPr>
              <a:t>Motivating</a:t>
            </a:r>
            <a:r>
              <a:rPr lang="en-US" sz="1850" dirty="0"/>
              <a:t> </a:t>
            </a:r>
            <a:r>
              <a:rPr lang="en-US" sz="1850" b="1" dirty="0">
                <a:solidFill>
                  <a:srgbClr val="11263F"/>
                </a:solidFill>
                <a:latin typeface="Aptos" pitchFamily="34" charset="0"/>
                <a:ea typeface="Aptos" pitchFamily="34" charset="-122"/>
                <a:cs typeface="Aptos" pitchFamily="34" charset="-120"/>
              </a:rPr>
              <a:t>paper:</a:t>
            </a:r>
            <a:endParaRPr lang="en-US" sz="1850" dirty="0"/>
          </a:p>
        </p:txBody>
      </p:sp>
      <p:cxnSp>
        <p:nvCxnSpPr>
          <p:cNvPr id="31" name="Straight Arrow Connector 30">
            <a:extLst>
              <a:ext uri="{FF2B5EF4-FFF2-40B4-BE49-F238E27FC236}">
                <a16:creationId xmlns:a16="http://schemas.microsoft.com/office/drawing/2014/main" id="{FA6500BD-7203-6D08-D373-1D9B50F38581}"/>
              </a:ext>
            </a:extLst>
          </p:cNvPr>
          <p:cNvCxnSpPr>
            <a:stCxn id="7" idx="3"/>
            <a:endCxn id="12" idx="1"/>
          </p:cNvCxnSpPr>
          <p:nvPr/>
        </p:nvCxnSpPr>
        <p:spPr>
          <a:xfrm>
            <a:off x="1536192" y="4912140"/>
            <a:ext cx="1271016" cy="3883"/>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32" name="Straight Arrow Connector 31">
            <a:extLst>
              <a:ext uri="{FF2B5EF4-FFF2-40B4-BE49-F238E27FC236}">
                <a16:creationId xmlns:a16="http://schemas.microsoft.com/office/drawing/2014/main" id="{388A391E-029F-FE72-6DC0-5F791308312C}"/>
              </a:ext>
            </a:extLst>
          </p:cNvPr>
          <p:cNvCxnSpPr/>
          <p:nvPr/>
        </p:nvCxnSpPr>
        <p:spPr>
          <a:xfrm>
            <a:off x="3575304" y="4916617"/>
            <a:ext cx="1271016" cy="3883"/>
          </a:xfrm>
          <a:prstGeom prst="straightConnector1">
            <a:avLst/>
          </a:prstGeom>
          <a:ln w="57150">
            <a:solidFill>
              <a:srgbClr val="70AD47"/>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63C8DC85-97A1-2DAF-7433-F66CC6BBE930}"/>
              </a:ext>
            </a:extLst>
          </p:cNvPr>
          <p:cNvSpPr/>
          <p:nvPr/>
        </p:nvSpPr>
        <p:spPr>
          <a:xfrm>
            <a:off x="1899312" y="4211912"/>
            <a:ext cx="2878428" cy="425333"/>
          </a:xfrm>
          <a:prstGeom prst="roundRect">
            <a:avLst/>
          </a:prstGeom>
          <a:solidFill>
            <a:schemeClr val="accent6">
              <a:lumMod val="40000"/>
              <a:lumOff val="60000"/>
            </a:schemeClr>
          </a:solidFill>
          <a:ln>
            <a:solidFill>
              <a:srgbClr val="70AD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911BF277-91AF-C25A-CA53-D6CFABFF3635}"/>
              </a:ext>
            </a:extLst>
          </p:cNvPr>
          <p:cNvSpPr txBox="1"/>
          <p:nvPr/>
        </p:nvSpPr>
        <p:spPr>
          <a:xfrm>
            <a:off x="2427732" y="4251065"/>
            <a:ext cx="2258632" cy="369332"/>
          </a:xfrm>
          <a:prstGeom prst="rect">
            <a:avLst/>
          </a:prstGeom>
          <a:noFill/>
        </p:spPr>
        <p:txBody>
          <a:bodyPr wrap="square" rtlCol="0">
            <a:spAutoFit/>
          </a:bodyPr>
          <a:lstStyle/>
          <a:p>
            <a:r>
              <a:rPr lang="en-US" b="1" dirty="0">
                <a:solidFill>
                  <a:schemeClr val="tx2">
                    <a:lumMod val="75000"/>
                  </a:schemeClr>
                </a:solidFill>
              </a:rPr>
              <a:t>Our Project Goal: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566928"/>
            <a:ext cx="6766560" cy="438912"/>
          </a:xfrm>
          <a:prstGeom prst="rect">
            <a:avLst/>
          </a:prstGeom>
          <a:noFill/>
          <a:ln/>
        </p:spPr>
        <p:txBody>
          <a:bodyPr wrap="square" lIns="0" tIns="0" rIns="0" bIns="0" rtlCol="0" anchor="ctr"/>
          <a:lstStyle/>
          <a:p>
            <a:pPr marL="0" indent="0">
              <a:buNone/>
            </a:pPr>
            <a:r>
              <a:rPr lang="en-US" sz="2800" b="1" dirty="0">
                <a:solidFill>
                  <a:srgbClr val="11263F"/>
                </a:solidFill>
                <a:latin typeface="Aptos Display" pitchFamily="34" charset="0"/>
                <a:ea typeface="Aptos Display" pitchFamily="34" charset="-122"/>
                <a:cs typeface="Aptos Display" pitchFamily="34" charset="-120"/>
              </a:rPr>
              <a:t>Data, methods, and execution plan</a:t>
            </a:r>
            <a:endParaRPr lang="en-US" sz="2800" dirty="0"/>
          </a:p>
        </p:txBody>
      </p:sp>
      <p:sp>
        <p:nvSpPr>
          <p:cNvPr id="3" name="Text 1"/>
          <p:cNvSpPr/>
          <p:nvPr/>
        </p:nvSpPr>
        <p:spPr>
          <a:xfrm>
            <a:off x="530351" y="1088518"/>
            <a:ext cx="11305333" cy="318204"/>
          </a:xfrm>
          <a:prstGeom prst="rect">
            <a:avLst/>
          </a:prstGeom>
          <a:noFill/>
          <a:ln/>
        </p:spPr>
        <p:txBody>
          <a:bodyPr wrap="square" lIns="0" tIns="0" rIns="0" bIns="0" rtlCol="0" anchor="ctr"/>
          <a:lstStyle/>
          <a:p>
            <a:pPr marL="0" indent="0">
              <a:buNone/>
            </a:pPr>
            <a:r>
              <a:rPr lang="en-US" sz="1750" dirty="0">
                <a:solidFill>
                  <a:srgbClr val="6B7785"/>
                </a:solidFill>
                <a:latin typeface="Aptos" pitchFamily="34" charset="0"/>
                <a:ea typeface="Aptos" pitchFamily="34" charset="-122"/>
                <a:cs typeface="Aptos" pitchFamily="34" charset="-120"/>
              </a:rPr>
              <a:t>Replicate the paper first, then address a realistic healthcare research question through one architectural innovation.</a:t>
            </a:r>
            <a:endParaRPr lang="en-US" sz="1750" dirty="0"/>
          </a:p>
        </p:txBody>
      </p:sp>
      <p:sp>
        <p:nvSpPr>
          <p:cNvPr id="4" name="Shape 2"/>
          <p:cNvSpPr/>
          <p:nvPr/>
        </p:nvSpPr>
        <p:spPr>
          <a:xfrm>
            <a:off x="548640" y="1600200"/>
            <a:ext cx="4343400" cy="4069080"/>
          </a:xfrm>
          <a:prstGeom prst="roundRect">
            <a:avLst>
              <a:gd name="adj" fmla="val 1798"/>
            </a:avLst>
          </a:prstGeom>
          <a:solidFill>
            <a:srgbClr val="FFFFFF"/>
          </a:solidFill>
          <a:ln w="12700">
            <a:solidFill>
              <a:srgbClr val="E4DED5"/>
            </a:solidFill>
            <a:prstDash val="solid"/>
          </a:ln>
          <a:effectLst>
            <a:outerShdw blurRad="15240" dist="12700" dir="2700000" algn="bl" rotWithShape="0">
              <a:srgbClr val="000000">
                <a:alpha val="12000"/>
              </a:srgbClr>
            </a:outerShdw>
          </a:effectLst>
        </p:spPr>
        <p:txBody>
          <a:bodyPr/>
          <a:lstStyle/>
          <a:p>
            <a:endParaRPr lang="en-US"/>
          </a:p>
        </p:txBody>
      </p:sp>
      <p:sp>
        <p:nvSpPr>
          <p:cNvPr id="5" name="Text 3"/>
          <p:cNvSpPr/>
          <p:nvPr/>
        </p:nvSpPr>
        <p:spPr>
          <a:xfrm>
            <a:off x="678787" y="1752069"/>
            <a:ext cx="3611880" cy="237744"/>
          </a:xfrm>
          <a:prstGeom prst="rect">
            <a:avLst/>
          </a:prstGeom>
          <a:noFill/>
          <a:ln/>
        </p:spPr>
        <p:txBody>
          <a:bodyPr wrap="square" lIns="0" tIns="0" rIns="0" bIns="0" rtlCol="0" anchor="ctr"/>
          <a:lstStyle/>
          <a:p>
            <a:pPr marL="0" indent="0">
              <a:buNone/>
            </a:pPr>
            <a:r>
              <a:rPr lang="en-US" sz="1580" b="1" dirty="0">
                <a:solidFill>
                  <a:srgbClr val="11263F"/>
                </a:solidFill>
                <a:latin typeface="Aptos" pitchFamily="34" charset="0"/>
                <a:ea typeface="Aptos" pitchFamily="34" charset="-122"/>
                <a:cs typeface="Aptos" pitchFamily="34" charset="-120"/>
              </a:rPr>
              <a:t>Replication + healthcare use case</a:t>
            </a:r>
            <a:endParaRPr lang="en-US" sz="1580" dirty="0"/>
          </a:p>
        </p:txBody>
      </p:sp>
      <p:sp>
        <p:nvSpPr>
          <p:cNvPr id="6" name="Text 4"/>
          <p:cNvSpPr/>
          <p:nvPr/>
        </p:nvSpPr>
        <p:spPr>
          <a:xfrm>
            <a:off x="790272" y="2064568"/>
            <a:ext cx="3593592" cy="127798"/>
          </a:xfrm>
          <a:prstGeom prst="rect">
            <a:avLst/>
          </a:prstGeom>
          <a:noFill/>
          <a:ln/>
        </p:spPr>
        <p:txBody>
          <a:bodyPr wrap="square" lIns="0" tIns="0" rIns="0" bIns="0" rtlCol="0" anchor="ctr"/>
          <a:lstStyle/>
          <a:p>
            <a:pPr marL="0" indent="0">
              <a:buNone/>
            </a:pPr>
            <a:r>
              <a:rPr lang="en-US" sz="1360" b="1" dirty="0">
                <a:solidFill>
                  <a:srgbClr val="6B7785"/>
                </a:solidFill>
                <a:latin typeface="Aptos" pitchFamily="34" charset="0"/>
                <a:ea typeface="Aptos" pitchFamily="34" charset="-122"/>
                <a:cs typeface="Aptos" pitchFamily="34" charset="-120"/>
              </a:rPr>
              <a:t>Reproduce and Expand Time-IMM + IMM-TSF</a:t>
            </a:r>
            <a:endParaRPr lang="en-US" sz="1360" dirty="0"/>
          </a:p>
        </p:txBody>
      </p:sp>
      <p:sp>
        <p:nvSpPr>
          <p:cNvPr id="9" name="Shape 7"/>
          <p:cNvSpPr/>
          <p:nvPr/>
        </p:nvSpPr>
        <p:spPr>
          <a:xfrm>
            <a:off x="638541" y="2351944"/>
            <a:ext cx="1078992" cy="292608"/>
          </a:xfrm>
          <a:prstGeom prst="roundRect">
            <a:avLst>
              <a:gd name="adj" fmla="val 18750"/>
            </a:avLst>
          </a:prstGeom>
          <a:solidFill>
            <a:srgbClr val="F7F0E2"/>
          </a:solidFill>
          <a:ln w="12700">
            <a:solidFill>
              <a:srgbClr val="C39A57"/>
            </a:solidFill>
            <a:prstDash val="solid"/>
          </a:ln>
        </p:spPr>
        <p:txBody>
          <a:bodyPr/>
          <a:lstStyle/>
          <a:p>
            <a:endParaRPr lang="en-US"/>
          </a:p>
        </p:txBody>
      </p:sp>
      <p:sp>
        <p:nvSpPr>
          <p:cNvPr id="10" name="Text 8"/>
          <p:cNvSpPr/>
          <p:nvPr/>
        </p:nvSpPr>
        <p:spPr>
          <a:xfrm>
            <a:off x="670545" y="2440386"/>
            <a:ext cx="1014984" cy="109728"/>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ClusterTrace</a:t>
            </a:r>
            <a:endParaRPr lang="en-US" sz="1170" dirty="0"/>
          </a:p>
        </p:txBody>
      </p:sp>
      <p:sp>
        <p:nvSpPr>
          <p:cNvPr id="11" name="Shape 9"/>
          <p:cNvSpPr/>
          <p:nvPr/>
        </p:nvSpPr>
        <p:spPr>
          <a:xfrm>
            <a:off x="1128568" y="2686786"/>
            <a:ext cx="868680" cy="292608"/>
          </a:xfrm>
          <a:prstGeom prst="roundRect">
            <a:avLst>
              <a:gd name="adj" fmla="val 18750"/>
            </a:avLst>
          </a:prstGeom>
          <a:solidFill>
            <a:srgbClr val="EAF1F8"/>
          </a:solidFill>
          <a:ln w="12700">
            <a:solidFill>
              <a:srgbClr val="5D89B3"/>
            </a:solidFill>
            <a:prstDash val="solid"/>
          </a:ln>
        </p:spPr>
        <p:txBody>
          <a:bodyPr/>
          <a:lstStyle/>
          <a:p>
            <a:endParaRPr lang="en-US"/>
          </a:p>
        </p:txBody>
      </p:sp>
      <p:sp>
        <p:nvSpPr>
          <p:cNvPr id="12" name="Text 10"/>
          <p:cNvSpPr/>
          <p:nvPr/>
        </p:nvSpPr>
        <p:spPr>
          <a:xfrm>
            <a:off x="923375" y="2774022"/>
            <a:ext cx="1289304" cy="109728"/>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FNSPID</a:t>
            </a:r>
            <a:endParaRPr lang="en-US" sz="1170" dirty="0"/>
          </a:p>
        </p:txBody>
      </p:sp>
      <p:sp>
        <p:nvSpPr>
          <p:cNvPr id="13" name="Text 11"/>
          <p:cNvSpPr/>
          <p:nvPr/>
        </p:nvSpPr>
        <p:spPr>
          <a:xfrm>
            <a:off x="846400" y="3297855"/>
            <a:ext cx="3799902" cy="1060704"/>
          </a:xfrm>
          <a:prstGeom prst="rect">
            <a:avLst/>
          </a:prstGeom>
          <a:noFill/>
          <a:ln/>
        </p:spPr>
        <p:txBody>
          <a:bodyPr wrap="square" lIns="254" tIns="254" rIns="254" bIns="254" rtlCol="0" anchor="ctr"/>
          <a:lstStyle/>
          <a:p>
            <a:pPr marL="0" indent="0">
              <a:buNone/>
            </a:pPr>
            <a:r>
              <a:rPr lang="en-US" sz="1480" b="1" dirty="0">
                <a:solidFill>
                  <a:srgbClr val="C39A57"/>
                </a:solidFill>
                <a:latin typeface="Aptos" pitchFamily="34" charset="0"/>
                <a:ea typeface="Aptos" pitchFamily="34" charset="-122"/>
                <a:cs typeface="Aptos" pitchFamily="34" charset="-120"/>
              </a:rPr>
              <a:t>• </a:t>
            </a:r>
            <a:r>
              <a:rPr lang="en-US" sz="1480" dirty="0">
                <a:solidFill>
                  <a:srgbClr val="22313F"/>
                </a:solidFill>
                <a:latin typeface="Aptos" pitchFamily="34" charset="0"/>
                <a:ea typeface="Aptos" pitchFamily="34" charset="-122"/>
                <a:cs typeface="Aptos" pitchFamily="34" charset="-120"/>
              </a:rPr>
              <a:t>Reproduce benchmark results with a subset </a:t>
            </a:r>
          </a:p>
          <a:p>
            <a:pPr marL="0" indent="0">
              <a:buNone/>
            </a:pPr>
            <a:r>
              <a:rPr lang="en-US" sz="1480" dirty="0">
                <a:solidFill>
                  <a:srgbClr val="22313F"/>
                </a:solidFill>
                <a:latin typeface="Aptos" pitchFamily="34" charset="0"/>
                <a:ea typeface="Aptos" pitchFamily="34" charset="-122"/>
                <a:cs typeface="Aptos" pitchFamily="34" charset="-120"/>
              </a:rPr>
              <a:t>   of datasets from the original 9, using the </a:t>
            </a:r>
          </a:p>
          <a:p>
            <a:pPr marL="0" indent="0">
              <a:buNone/>
            </a:pPr>
            <a:r>
              <a:rPr lang="en-US" sz="1480" dirty="0">
                <a:solidFill>
                  <a:srgbClr val="22313F"/>
                </a:solidFill>
                <a:latin typeface="Aptos" pitchFamily="34" charset="0"/>
                <a:ea typeface="Aptos" pitchFamily="34" charset="-122"/>
                <a:cs typeface="Aptos" pitchFamily="34" charset="-120"/>
              </a:rPr>
              <a:t>   paper’s chronological 60/20/20 split, sliding </a:t>
            </a:r>
          </a:p>
          <a:p>
            <a:pPr marL="0" indent="0">
              <a:buNone/>
            </a:pPr>
            <a:r>
              <a:rPr lang="en-US" sz="1480" dirty="0">
                <a:solidFill>
                  <a:srgbClr val="22313F"/>
                </a:solidFill>
                <a:latin typeface="Aptos" pitchFamily="34" charset="0"/>
                <a:ea typeface="Aptos" pitchFamily="34" charset="-122"/>
                <a:cs typeface="Aptos" pitchFamily="34" charset="-120"/>
              </a:rPr>
              <a:t>   windows, and MSE.</a:t>
            </a:r>
            <a:endParaRPr lang="en-US" sz="1480" dirty="0"/>
          </a:p>
          <a:p>
            <a:pPr marL="0" indent="0">
              <a:buNone/>
            </a:pPr>
            <a:r>
              <a:rPr lang="en-US" sz="1480" b="1" dirty="0">
                <a:solidFill>
                  <a:srgbClr val="C39A57"/>
                </a:solidFill>
                <a:latin typeface="Aptos" pitchFamily="34" charset="0"/>
                <a:ea typeface="Aptos" pitchFamily="34" charset="-122"/>
                <a:cs typeface="Aptos" pitchFamily="34" charset="-120"/>
              </a:rPr>
              <a:t>• </a:t>
            </a:r>
            <a:r>
              <a:rPr lang="en-US" sz="1480" dirty="0">
                <a:solidFill>
                  <a:srgbClr val="22313F"/>
                </a:solidFill>
                <a:latin typeface="Aptos" pitchFamily="34" charset="0"/>
                <a:ea typeface="Aptos" pitchFamily="34" charset="-122"/>
                <a:cs typeface="Aptos" pitchFamily="34" charset="-120"/>
              </a:rPr>
              <a:t>Healthcare application: test when clinical </a:t>
            </a:r>
          </a:p>
          <a:p>
            <a:pPr marL="0" indent="0">
              <a:buNone/>
            </a:pPr>
            <a:r>
              <a:rPr lang="en-US" sz="1480" dirty="0">
                <a:solidFill>
                  <a:srgbClr val="22313F"/>
                </a:solidFill>
                <a:latin typeface="Aptos" pitchFamily="34" charset="0"/>
                <a:ea typeface="Aptos" pitchFamily="34" charset="-122"/>
                <a:cs typeface="Aptos" pitchFamily="34" charset="-120"/>
              </a:rPr>
              <a:t>   text helps most in MIMIC by note density,</a:t>
            </a:r>
          </a:p>
          <a:p>
            <a:pPr marL="0" indent="0">
              <a:buNone/>
            </a:pPr>
            <a:r>
              <a:rPr lang="en-US" sz="1480" dirty="0">
                <a:solidFill>
                  <a:srgbClr val="22313F"/>
                </a:solidFill>
                <a:latin typeface="Aptos" pitchFamily="34" charset="0"/>
                <a:ea typeface="Aptos" pitchFamily="34" charset="-122"/>
                <a:cs typeface="Aptos" pitchFamily="34" charset="-120"/>
              </a:rPr>
              <a:t>   forecast horizon, and missingness.</a:t>
            </a:r>
            <a:endParaRPr lang="en-US" sz="1480" dirty="0"/>
          </a:p>
        </p:txBody>
      </p:sp>
      <p:sp>
        <p:nvSpPr>
          <p:cNvPr id="14" name="Shape 12"/>
          <p:cNvSpPr/>
          <p:nvPr/>
        </p:nvSpPr>
        <p:spPr>
          <a:xfrm>
            <a:off x="841248" y="4746500"/>
            <a:ext cx="3611880" cy="658368"/>
          </a:xfrm>
          <a:prstGeom prst="roundRect">
            <a:avLst>
              <a:gd name="adj" fmla="val 8333"/>
            </a:avLst>
          </a:prstGeom>
          <a:solidFill>
            <a:srgbClr val="F7E8E6"/>
          </a:solidFill>
          <a:ln w="12700">
            <a:solidFill>
              <a:srgbClr val="D97B73"/>
            </a:solidFill>
            <a:prstDash val="solid"/>
          </a:ln>
        </p:spPr>
        <p:txBody>
          <a:bodyPr/>
          <a:lstStyle/>
          <a:p>
            <a:endParaRPr lang="en-US"/>
          </a:p>
        </p:txBody>
      </p:sp>
      <p:sp>
        <p:nvSpPr>
          <p:cNvPr id="15" name="Text 13"/>
          <p:cNvSpPr/>
          <p:nvPr/>
        </p:nvSpPr>
        <p:spPr>
          <a:xfrm>
            <a:off x="987552" y="4911092"/>
            <a:ext cx="3291840" cy="310896"/>
          </a:xfrm>
          <a:prstGeom prst="rect">
            <a:avLst/>
          </a:prstGeom>
          <a:noFill/>
          <a:ln/>
        </p:spPr>
        <p:txBody>
          <a:bodyPr wrap="square" lIns="0" tIns="0" rIns="0" bIns="0" rtlCol="0" anchor="ctr"/>
          <a:lstStyle/>
          <a:p>
            <a:pPr marL="0" indent="0" algn="ctr">
              <a:buNone/>
            </a:pPr>
            <a:r>
              <a:rPr lang="en-US" sz="1310" b="1" dirty="0">
                <a:solidFill>
                  <a:srgbClr val="11263F"/>
                </a:solidFill>
                <a:latin typeface="Aptos" pitchFamily="34" charset="0"/>
                <a:ea typeface="Aptos" pitchFamily="34" charset="-122"/>
                <a:cs typeface="Aptos" pitchFamily="34" charset="-120"/>
              </a:rPr>
              <a:t>Replicate RecAvg, T2V-XAttn, GR-Add, and XAttn-Add, using TSF backbones including the t-</a:t>
            </a:r>
            <a:r>
              <a:rPr lang="en-US" sz="1310" b="1" dirty="0" err="1">
                <a:solidFill>
                  <a:srgbClr val="11263F"/>
                </a:solidFill>
                <a:latin typeface="Aptos" pitchFamily="34" charset="0"/>
                <a:ea typeface="Aptos" pitchFamily="34" charset="-122"/>
                <a:cs typeface="Aptos" pitchFamily="34" charset="-120"/>
              </a:rPr>
              <a:t>PatchGNN</a:t>
            </a:r>
            <a:r>
              <a:rPr lang="en-US" sz="1310" b="1" dirty="0">
                <a:solidFill>
                  <a:srgbClr val="11263F"/>
                </a:solidFill>
                <a:latin typeface="Aptos" pitchFamily="34" charset="0"/>
                <a:ea typeface="Aptos" pitchFamily="34" charset="-122"/>
                <a:cs typeface="Aptos" pitchFamily="34" charset="-120"/>
              </a:rPr>
              <a:t> as in the original paper.</a:t>
            </a:r>
            <a:endParaRPr lang="en-US" sz="1310" dirty="0"/>
          </a:p>
        </p:txBody>
      </p:sp>
      <p:sp>
        <p:nvSpPr>
          <p:cNvPr id="16" name="Shape 14"/>
          <p:cNvSpPr/>
          <p:nvPr/>
        </p:nvSpPr>
        <p:spPr>
          <a:xfrm>
            <a:off x="5105400" y="1600200"/>
            <a:ext cx="6537960" cy="4069080"/>
          </a:xfrm>
          <a:prstGeom prst="roundRect">
            <a:avLst>
              <a:gd name="adj" fmla="val 1798"/>
            </a:avLst>
          </a:prstGeom>
          <a:solidFill>
            <a:srgbClr val="FFFFFF"/>
          </a:solidFill>
          <a:ln w="12700">
            <a:solidFill>
              <a:srgbClr val="E4DED5"/>
            </a:solidFill>
            <a:prstDash val="solid"/>
          </a:ln>
          <a:effectLst>
            <a:outerShdw blurRad="15240" dist="12700" dir="2700000" algn="bl" rotWithShape="0">
              <a:srgbClr val="000000">
                <a:alpha val="12000"/>
              </a:srgbClr>
            </a:outerShdw>
          </a:effectLst>
        </p:spPr>
        <p:txBody>
          <a:bodyPr/>
          <a:lstStyle/>
          <a:p>
            <a:endParaRPr lang="en-US"/>
          </a:p>
        </p:txBody>
      </p:sp>
      <p:sp>
        <p:nvSpPr>
          <p:cNvPr id="22" name="Shape 19"/>
          <p:cNvSpPr/>
          <p:nvPr/>
        </p:nvSpPr>
        <p:spPr>
          <a:xfrm>
            <a:off x="9674352" y="3183200"/>
            <a:ext cx="1353312" cy="292608"/>
          </a:xfrm>
          <a:prstGeom prst="roundRect">
            <a:avLst>
              <a:gd name="adj" fmla="val 18750"/>
            </a:avLst>
          </a:prstGeom>
          <a:solidFill>
            <a:srgbClr val="F7F0E2"/>
          </a:solidFill>
          <a:ln w="12700">
            <a:solidFill>
              <a:srgbClr val="C39A57"/>
            </a:solidFill>
            <a:prstDash val="solid"/>
          </a:ln>
        </p:spPr>
        <p:txBody>
          <a:bodyPr/>
          <a:lstStyle/>
          <a:p>
            <a:endParaRPr lang="en-US"/>
          </a:p>
        </p:txBody>
      </p:sp>
      <p:sp>
        <p:nvSpPr>
          <p:cNvPr id="23" name="Text 20"/>
          <p:cNvSpPr/>
          <p:nvPr/>
        </p:nvSpPr>
        <p:spPr>
          <a:xfrm>
            <a:off x="9738360" y="3288019"/>
            <a:ext cx="1225296" cy="109728"/>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Note density</a:t>
            </a:r>
            <a:endParaRPr lang="en-US" sz="1170" dirty="0"/>
          </a:p>
        </p:txBody>
      </p:sp>
      <p:sp>
        <p:nvSpPr>
          <p:cNvPr id="26" name="Shape 23"/>
          <p:cNvSpPr/>
          <p:nvPr/>
        </p:nvSpPr>
        <p:spPr>
          <a:xfrm>
            <a:off x="9857232" y="3567248"/>
            <a:ext cx="1234440" cy="292608"/>
          </a:xfrm>
          <a:prstGeom prst="roundRect">
            <a:avLst>
              <a:gd name="adj" fmla="val 18750"/>
            </a:avLst>
          </a:prstGeom>
          <a:solidFill>
            <a:srgbClr val="F7E8E6"/>
          </a:solidFill>
          <a:ln w="12700">
            <a:solidFill>
              <a:srgbClr val="D97B73"/>
            </a:solidFill>
            <a:prstDash val="solid"/>
          </a:ln>
        </p:spPr>
        <p:txBody>
          <a:bodyPr/>
          <a:lstStyle/>
          <a:p>
            <a:endParaRPr lang="en-US"/>
          </a:p>
        </p:txBody>
      </p:sp>
      <p:sp>
        <p:nvSpPr>
          <p:cNvPr id="27" name="Text 24"/>
          <p:cNvSpPr/>
          <p:nvPr/>
        </p:nvSpPr>
        <p:spPr>
          <a:xfrm>
            <a:off x="9829800" y="3629110"/>
            <a:ext cx="1280160" cy="160463"/>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TS-text alignment</a:t>
            </a:r>
            <a:endParaRPr lang="en-US" sz="1170" dirty="0"/>
          </a:p>
        </p:txBody>
      </p:sp>
      <p:sp>
        <p:nvSpPr>
          <p:cNvPr id="28" name="Text 25"/>
          <p:cNvSpPr/>
          <p:nvPr/>
        </p:nvSpPr>
        <p:spPr>
          <a:xfrm>
            <a:off x="5440680" y="4315968"/>
            <a:ext cx="5623560" cy="914400"/>
          </a:xfrm>
          <a:prstGeom prst="rect">
            <a:avLst/>
          </a:prstGeom>
          <a:noFill/>
          <a:ln/>
        </p:spPr>
        <p:txBody>
          <a:bodyPr wrap="square" lIns="254" tIns="254" rIns="254" bIns="254" rtlCol="0" anchor="ctr"/>
          <a:lstStyle/>
          <a:p>
            <a:pPr marL="0" indent="0">
              <a:buNone/>
            </a:pPr>
            <a:r>
              <a:rPr lang="en-US" sz="1460" b="1" dirty="0">
                <a:solidFill>
                  <a:srgbClr val="D97B73"/>
                </a:solidFill>
                <a:latin typeface="Aptos" pitchFamily="34" charset="0"/>
                <a:ea typeface="Aptos" pitchFamily="34" charset="-122"/>
                <a:cs typeface="Aptos" pitchFamily="34" charset="-120"/>
              </a:rPr>
              <a:t>• </a:t>
            </a:r>
            <a:r>
              <a:rPr lang="en-US" sz="1460" dirty="0">
                <a:solidFill>
                  <a:srgbClr val="22313F"/>
                </a:solidFill>
                <a:latin typeface="Aptos" pitchFamily="34" charset="0"/>
                <a:ea typeface="Aptos" pitchFamily="34" charset="-122"/>
                <a:cs typeface="Aptos" pitchFamily="34" charset="-120"/>
              </a:rPr>
              <a:t>Goal: improve over GR-Add and XAttn-Add by using text selectively.</a:t>
            </a:r>
            <a:endParaRPr lang="en-US" sz="1460" dirty="0"/>
          </a:p>
          <a:p>
            <a:pPr marL="0" indent="0">
              <a:buNone/>
            </a:pPr>
            <a:r>
              <a:rPr lang="en-US" sz="1460" b="1" dirty="0">
                <a:solidFill>
                  <a:srgbClr val="D97B73"/>
                </a:solidFill>
                <a:latin typeface="Aptos" pitchFamily="34" charset="0"/>
                <a:ea typeface="Aptos" pitchFamily="34" charset="-122"/>
                <a:cs typeface="Aptos" pitchFamily="34" charset="-120"/>
              </a:rPr>
              <a:t>• </a:t>
            </a:r>
            <a:r>
              <a:rPr lang="en-US" sz="1460" dirty="0">
                <a:solidFill>
                  <a:srgbClr val="22313F"/>
                </a:solidFill>
                <a:latin typeface="Aptos" pitchFamily="34" charset="0"/>
                <a:ea typeface="Aptos" pitchFamily="34" charset="-122"/>
                <a:cs typeface="Aptos" pitchFamily="34" charset="-120"/>
              </a:rPr>
              <a:t>Evaluation: MSE, MAE, reproduced-vs-reported trends, and full  </a:t>
            </a:r>
          </a:p>
          <a:p>
            <a:pPr marL="0" indent="0">
              <a:buNone/>
            </a:pPr>
            <a:r>
              <a:rPr lang="en-US" sz="1460" dirty="0">
                <a:solidFill>
                  <a:srgbClr val="22313F"/>
                </a:solidFill>
                <a:latin typeface="Aptos" pitchFamily="34" charset="0"/>
                <a:ea typeface="Aptos" pitchFamily="34" charset="-122"/>
                <a:cs typeface="Aptos" pitchFamily="34" charset="-120"/>
              </a:rPr>
              <a:t>    ablation study.</a:t>
            </a:r>
            <a:endParaRPr lang="en-US" sz="1460" dirty="0"/>
          </a:p>
          <a:p>
            <a:pPr marL="0" indent="0">
              <a:buNone/>
            </a:pPr>
            <a:r>
              <a:rPr lang="en-US" sz="1460" b="1" dirty="0">
                <a:solidFill>
                  <a:srgbClr val="D97B73"/>
                </a:solidFill>
                <a:latin typeface="Aptos" pitchFamily="34" charset="0"/>
                <a:ea typeface="Aptos" pitchFamily="34" charset="-122"/>
                <a:cs typeface="Aptos" pitchFamily="34" charset="-120"/>
              </a:rPr>
              <a:t>• </a:t>
            </a:r>
            <a:r>
              <a:rPr lang="en-US" sz="1460" dirty="0">
                <a:solidFill>
                  <a:srgbClr val="22313F"/>
                </a:solidFill>
                <a:latin typeface="Aptos" pitchFamily="34" charset="0"/>
                <a:ea typeface="Aptos" pitchFamily="34" charset="-122"/>
                <a:cs typeface="Aptos" pitchFamily="34" charset="-120"/>
              </a:rPr>
              <a:t>Ablation ladder: recency only → +note density → +missingness → full </a:t>
            </a:r>
          </a:p>
          <a:p>
            <a:pPr marL="0" indent="0">
              <a:buNone/>
            </a:pPr>
            <a:r>
              <a:rPr lang="en-US" sz="1460" dirty="0">
                <a:solidFill>
                  <a:srgbClr val="22313F"/>
                </a:solidFill>
                <a:latin typeface="Aptos" pitchFamily="34" charset="0"/>
                <a:ea typeface="Aptos" pitchFamily="34" charset="-122"/>
                <a:cs typeface="Aptos" pitchFamily="34" charset="-120"/>
              </a:rPr>
              <a:t>   reliability gate.</a:t>
            </a:r>
            <a:endParaRPr lang="en-US" sz="1460" dirty="0"/>
          </a:p>
        </p:txBody>
      </p:sp>
      <p:pic>
        <p:nvPicPr>
          <p:cNvPr id="44" name="Picture 43">
            <a:extLst>
              <a:ext uri="{FF2B5EF4-FFF2-40B4-BE49-F238E27FC236}">
                <a16:creationId xmlns:a16="http://schemas.microsoft.com/office/drawing/2014/main" id="{11A63813-F542-59E0-DF3D-7E5AA15D55B1}"/>
              </a:ext>
            </a:extLst>
          </p:cNvPr>
          <p:cNvPicPr>
            <a:picLocks noChangeAspect="1"/>
          </p:cNvPicPr>
          <p:nvPr/>
        </p:nvPicPr>
        <p:blipFill>
          <a:blip r:embed="rId3"/>
          <a:stretch>
            <a:fillRect/>
          </a:stretch>
        </p:blipFill>
        <p:spPr>
          <a:xfrm>
            <a:off x="5130655" y="2062480"/>
            <a:ext cx="3408261" cy="2031414"/>
          </a:xfrm>
          <a:prstGeom prst="rect">
            <a:avLst/>
          </a:prstGeom>
        </p:spPr>
      </p:pic>
      <p:sp>
        <p:nvSpPr>
          <p:cNvPr id="17" name="Text 15"/>
          <p:cNvSpPr/>
          <p:nvPr/>
        </p:nvSpPr>
        <p:spPr>
          <a:xfrm>
            <a:off x="5279057" y="1607890"/>
            <a:ext cx="6202466" cy="458654"/>
          </a:xfrm>
          <a:prstGeom prst="rect">
            <a:avLst/>
          </a:prstGeom>
          <a:noFill/>
          <a:ln/>
        </p:spPr>
        <p:txBody>
          <a:bodyPr wrap="square" lIns="0" tIns="0" rIns="0" bIns="0" rtlCol="0" anchor="ctr"/>
          <a:lstStyle/>
          <a:p>
            <a:pPr marL="0" indent="0">
              <a:buNone/>
            </a:pPr>
            <a:r>
              <a:rPr lang="en-US" sz="1900" b="1" dirty="0">
                <a:solidFill>
                  <a:srgbClr val="11263F"/>
                </a:solidFill>
                <a:latin typeface="Aptos" pitchFamily="34" charset="0"/>
                <a:ea typeface="Aptos" pitchFamily="34" charset="-122"/>
                <a:cs typeface="Aptos" pitchFamily="34" charset="-120"/>
              </a:rPr>
              <a:t>Method extension: Reliability-Aware GR-Add (RA-</a:t>
            </a:r>
            <a:r>
              <a:rPr lang="en-US" sz="1900" b="1" dirty="0" err="1">
                <a:solidFill>
                  <a:srgbClr val="11263F"/>
                </a:solidFill>
                <a:latin typeface="Aptos" pitchFamily="34" charset="0"/>
                <a:ea typeface="Aptos" pitchFamily="34" charset="-122"/>
                <a:cs typeface="Aptos" pitchFamily="34" charset="-120"/>
              </a:rPr>
              <a:t>GRAdd</a:t>
            </a:r>
            <a:r>
              <a:rPr lang="en-US" sz="1900" b="1" dirty="0">
                <a:solidFill>
                  <a:srgbClr val="11263F"/>
                </a:solidFill>
                <a:latin typeface="Aptos" pitchFamily="34" charset="0"/>
                <a:ea typeface="Aptos" pitchFamily="34" charset="-122"/>
                <a:cs typeface="Aptos" pitchFamily="34" charset="-120"/>
              </a:rPr>
              <a:t>)</a:t>
            </a:r>
            <a:endParaRPr lang="en-US" sz="1900" dirty="0"/>
          </a:p>
        </p:txBody>
      </p:sp>
      <p:sp>
        <p:nvSpPr>
          <p:cNvPr id="48" name="Star: 6 Points 47">
            <a:extLst>
              <a:ext uri="{FF2B5EF4-FFF2-40B4-BE49-F238E27FC236}">
                <a16:creationId xmlns:a16="http://schemas.microsoft.com/office/drawing/2014/main" id="{E2266050-D5FE-6BB3-BB60-A580ACBFABDF}"/>
              </a:ext>
            </a:extLst>
          </p:cNvPr>
          <p:cNvSpPr/>
          <p:nvPr/>
        </p:nvSpPr>
        <p:spPr>
          <a:xfrm rot="1011515">
            <a:off x="3762523" y="2283728"/>
            <a:ext cx="934945" cy="693491"/>
          </a:xfrm>
          <a:prstGeom prst="star6">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hape 5">
            <a:extLst>
              <a:ext uri="{FF2B5EF4-FFF2-40B4-BE49-F238E27FC236}">
                <a16:creationId xmlns:a16="http://schemas.microsoft.com/office/drawing/2014/main" id="{12691C4B-0A69-3603-5869-74061BD6E71C}"/>
              </a:ext>
            </a:extLst>
          </p:cNvPr>
          <p:cNvSpPr/>
          <p:nvPr/>
        </p:nvSpPr>
        <p:spPr>
          <a:xfrm>
            <a:off x="2070020" y="2690165"/>
            <a:ext cx="868680" cy="292608"/>
          </a:xfrm>
          <a:prstGeom prst="roundRect">
            <a:avLst>
              <a:gd name="adj" fmla="val 18750"/>
            </a:avLst>
          </a:prstGeom>
          <a:solidFill>
            <a:schemeClr val="accent2">
              <a:lumMod val="20000"/>
              <a:lumOff val="80000"/>
            </a:schemeClr>
          </a:solidFill>
          <a:ln w="12700">
            <a:solidFill>
              <a:schemeClr val="accent2">
                <a:lumMod val="60000"/>
                <a:lumOff val="40000"/>
              </a:schemeClr>
            </a:solidFill>
            <a:prstDash val="solid"/>
          </a:ln>
        </p:spPr>
        <p:txBody>
          <a:bodyPr/>
          <a:lstStyle/>
          <a:p>
            <a:endParaRPr lang="en-US"/>
          </a:p>
        </p:txBody>
      </p:sp>
      <p:sp>
        <p:nvSpPr>
          <p:cNvPr id="43" name="Text 6">
            <a:extLst>
              <a:ext uri="{FF2B5EF4-FFF2-40B4-BE49-F238E27FC236}">
                <a16:creationId xmlns:a16="http://schemas.microsoft.com/office/drawing/2014/main" id="{974EB6E6-652B-58AC-00D8-7C221930C4C4}"/>
              </a:ext>
            </a:extLst>
          </p:cNvPr>
          <p:cNvSpPr/>
          <p:nvPr/>
        </p:nvSpPr>
        <p:spPr>
          <a:xfrm>
            <a:off x="2124458" y="2781408"/>
            <a:ext cx="740664" cy="109728"/>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GEDT</a:t>
            </a:r>
            <a:endParaRPr lang="en-US" sz="1170" dirty="0"/>
          </a:p>
        </p:txBody>
      </p:sp>
      <p:sp>
        <p:nvSpPr>
          <p:cNvPr id="49" name="Star: 6 Points 48">
            <a:extLst>
              <a:ext uri="{FF2B5EF4-FFF2-40B4-BE49-F238E27FC236}">
                <a16:creationId xmlns:a16="http://schemas.microsoft.com/office/drawing/2014/main" id="{FBF48A1B-B4F9-E362-A43C-D4088591B61D}"/>
              </a:ext>
            </a:extLst>
          </p:cNvPr>
          <p:cNvSpPr/>
          <p:nvPr/>
        </p:nvSpPr>
        <p:spPr>
          <a:xfrm rot="20272137">
            <a:off x="3742405" y="2276083"/>
            <a:ext cx="934945" cy="693491"/>
          </a:xfrm>
          <a:prstGeom prst="star6">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hape 5"/>
          <p:cNvSpPr/>
          <p:nvPr/>
        </p:nvSpPr>
        <p:spPr>
          <a:xfrm>
            <a:off x="3777622" y="2487168"/>
            <a:ext cx="868680" cy="292608"/>
          </a:xfrm>
          <a:prstGeom prst="roundRect">
            <a:avLst>
              <a:gd name="adj" fmla="val 18750"/>
            </a:avLst>
          </a:prstGeom>
          <a:solidFill>
            <a:srgbClr val="E8F2F1"/>
          </a:solidFill>
          <a:ln w="12700">
            <a:solidFill>
              <a:srgbClr val="3B7C8F"/>
            </a:solidFill>
            <a:prstDash val="solid"/>
          </a:ln>
        </p:spPr>
        <p:txBody>
          <a:bodyPr/>
          <a:lstStyle/>
          <a:p>
            <a:endParaRPr lang="en-US"/>
          </a:p>
        </p:txBody>
      </p:sp>
      <p:sp>
        <p:nvSpPr>
          <p:cNvPr id="8" name="Text 6"/>
          <p:cNvSpPr/>
          <p:nvPr/>
        </p:nvSpPr>
        <p:spPr>
          <a:xfrm>
            <a:off x="3841630" y="2560320"/>
            <a:ext cx="740664" cy="109728"/>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MIMIC</a:t>
            </a:r>
            <a:endParaRPr lang="en-US" sz="1170" dirty="0"/>
          </a:p>
        </p:txBody>
      </p:sp>
      <p:sp>
        <p:nvSpPr>
          <p:cNvPr id="19" name="Text 16"/>
          <p:cNvSpPr/>
          <p:nvPr/>
        </p:nvSpPr>
        <p:spPr>
          <a:xfrm>
            <a:off x="8518521" y="2267712"/>
            <a:ext cx="3002933" cy="694944"/>
          </a:xfrm>
          <a:prstGeom prst="rect">
            <a:avLst/>
          </a:prstGeom>
          <a:noFill/>
          <a:ln/>
        </p:spPr>
        <p:txBody>
          <a:bodyPr wrap="square" lIns="0" tIns="0" rIns="0" bIns="0" rtlCol="0" anchor="ctr"/>
          <a:lstStyle/>
          <a:p>
            <a:pPr marL="0" indent="0">
              <a:buNone/>
            </a:pPr>
            <a:r>
              <a:rPr lang="en-US" sz="1460" dirty="0">
                <a:solidFill>
                  <a:srgbClr val="22313F"/>
                </a:solidFill>
                <a:latin typeface="Aptos" pitchFamily="34" charset="0"/>
                <a:ea typeface="Aptos" pitchFamily="34" charset="-122"/>
                <a:cs typeface="Aptos" pitchFamily="34" charset="-120"/>
              </a:rPr>
              <a:t>Keep the paper’s IMM-TSF pipeline but replace the final fusion step with a smarter gate that decides when text should change the forecast.</a:t>
            </a:r>
            <a:endParaRPr lang="en-US" sz="1460" dirty="0"/>
          </a:p>
        </p:txBody>
      </p:sp>
      <p:sp>
        <p:nvSpPr>
          <p:cNvPr id="20" name="Shape 17"/>
          <p:cNvSpPr/>
          <p:nvPr/>
        </p:nvSpPr>
        <p:spPr>
          <a:xfrm>
            <a:off x="8485632" y="3183200"/>
            <a:ext cx="1097280" cy="292608"/>
          </a:xfrm>
          <a:prstGeom prst="roundRect">
            <a:avLst>
              <a:gd name="adj" fmla="val 18750"/>
            </a:avLst>
          </a:prstGeom>
          <a:solidFill>
            <a:srgbClr val="EAF1F8"/>
          </a:solidFill>
          <a:ln w="12700">
            <a:solidFill>
              <a:srgbClr val="5D89B3"/>
            </a:solidFill>
            <a:prstDash val="solid"/>
          </a:ln>
        </p:spPr>
        <p:txBody>
          <a:bodyPr/>
          <a:lstStyle/>
          <a:p>
            <a:endParaRPr lang="en-US"/>
          </a:p>
        </p:txBody>
      </p:sp>
      <p:sp>
        <p:nvSpPr>
          <p:cNvPr id="21" name="Text 18"/>
          <p:cNvSpPr/>
          <p:nvPr/>
        </p:nvSpPr>
        <p:spPr>
          <a:xfrm>
            <a:off x="8549640" y="3275669"/>
            <a:ext cx="969264" cy="109728"/>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Recency</a:t>
            </a:r>
            <a:endParaRPr lang="en-US" sz="1170" dirty="0"/>
          </a:p>
        </p:txBody>
      </p:sp>
      <p:sp>
        <p:nvSpPr>
          <p:cNvPr id="24" name="Shape 21"/>
          <p:cNvSpPr/>
          <p:nvPr/>
        </p:nvSpPr>
        <p:spPr>
          <a:xfrm>
            <a:off x="8485632" y="3567248"/>
            <a:ext cx="1261872" cy="292608"/>
          </a:xfrm>
          <a:prstGeom prst="roundRect">
            <a:avLst>
              <a:gd name="adj" fmla="val 18750"/>
            </a:avLst>
          </a:prstGeom>
          <a:solidFill>
            <a:srgbClr val="E8F2F1"/>
          </a:solidFill>
          <a:ln w="12700">
            <a:solidFill>
              <a:srgbClr val="3B7C8F"/>
            </a:solidFill>
            <a:prstDash val="solid"/>
          </a:ln>
        </p:spPr>
        <p:txBody>
          <a:bodyPr/>
          <a:lstStyle/>
          <a:p>
            <a:endParaRPr lang="en-US"/>
          </a:p>
        </p:txBody>
      </p:sp>
      <p:sp>
        <p:nvSpPr>
          <p:cNvPr id="25" name="Text 22"/>
          <p:cNvSpPr/>
          <p:nvPr/>
        </p:nvSpPr>
        <p:spPr>
          <a:xfrm>
            <a:off x="8549640" y="3653278"/>
            <a:ext cx="1133856" cy="109728"/>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Missingness</a:t>
            </a:r>
            <a:endParaRPr lang="en-US" sz="1170" dirty="0"/>
          </a:p>
        </p:txBody>
      </p:sp>
      <p:sp>
        <p:nvSpPr>
          <p:cNvPr id="50" name="Shape 5">
            <a:extLst>
              <a:ext uri="{FF2B5EF4-FFF2-40B4-BE49-F238E27FC236}">
                <a16:creationId xmlns:a16="http://schemas.microsoft.com/office/drawing/2014/main" id="{A16B8715-4CF3-E7C5-30CB-523DDB90BA5A}"/>
              </a:ext>
            </a:extLst>
          </p:cNvPr>
          <p:cNvSpPr/>
          <p:nvPr/>
        </p:nvSpPr>
        <p:spPr>
          <a:xfrm>
            <a:off x="1796473" y="2366102"/>
            <a:ext cx="868680" cy="292608"/>
          </a:xfrm>
          <a:prstGeom prst="roundRect">
            <a:avLst>
              <a:gd name="adj" fmla="val 18750"/>
            </a:avLst>
          </a:prstGeom>
          <a:solidFill>
            <a:srgbClr val="DED5E5"/>
          </a:solidFill>
          <a:ln w="12700">
            <a:solidFill>
              <a:srgbClr val="7030A0"/>
            </a:solidFill>
            <a:prstDash val="solid"/>
          </a:ln>
        </p:spPr>
        <p:txBody>
          <a:bodyPr/>
          <a:lstStyle/>
          <a:p>
            <a:endParaRPr lang="en-US"/>
          </a:p>
        </p:txBody>
      </p:sp>
      <p:sp>
        <p:nvSpPr>
          <p:cNvPr id="51" name="Text 6">
            <a:extLst>
              <a:ext uri="{FF2B5EF4-FFF2-40B4-BE49-F238E27FC236}">
                <a16:creationId xmlns:a16="http://schemas.microsoft.com/office/drawing/2014/main" id="{8D9D0614-FD3C-BB8B-C18F-27A81E5D7AF6}"/>
              </a:ext>
            </a:extLst>
          </p:cNvPr>
          <p:cNvSpPr/>
          <p:nvPr/>
        </p:nvSpPr>
        <p:spPr>
          <a:xfrm>
            <a:off x="1850911" y="2457345"/>
            <a:ext cx="740664" cy="109728"/>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CESNET</a:t>
            </a:r>
            <a:endParaRPr lang="en-US" sz="1170" dirty="0"/>
          </a:p>
        </p:txBody>
      </p:sp>
      <p:cxnSp>
        <p:nvCxnSpPr>
          <p:cNvPr id="53" name="Straight Arrow Connector 52">
            <a:extLst>
              <a:ext uri="{FF2B5EF4-FFF2-40B4-BE49-F238E27FC236}">
                <a16:creationId xmlns:a16="http://schemas.microsoft.com/office/drawing/2014/main" id="{779806EE-DB61-4278-11AC-4D104D543FFC}"/>
              </a:ext>
            </a:extLst>
          </p:cNvPr>
          <p:cNvCxnSpPr/>
          <p:nvPr/>
        </p:nvCxnSpPr>
        <p:spPr>
          <a:xfrm>
            <a:off x="2865122" y="2560320"/>
            <a:ext cx="713589" cy="84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41E2A4CB-DD82-C8D0-B687-2AC436B8031E}"/>
              </a:ext>
            </a:extLst>
          </p:cNvPr>
          <p:cNvCxnSpPr/>
          <p:nvPr/>
        </p:nvCxnSpPr>
        <p:spPr>
          <a:xfrm flipV="1">
            <a:off x="3065172" y="2774022"/>
            <a:ext cx="463639" cy="528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66FDB958-34C1-2F6F-5ECB-BEB37A2B676A}"/>
              </a:ext>
            </a:extLst>
          </p:cNvPr>
          <p:cNvCxnSpPr/>
          <p:nvPr/>
        </p:nvCxnSpPr>
        <p:spPr>
          <a:xfrm>
            <a:off x="2727005" y="2642312"/>
            <a:ext cx="713589" cy="84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E845E82B-F8CD-3C21-E35E-BEC65E0FF38F}"/>
              </a:ext>
            </a:extLst>
          </p:cNvPr>
          <p:cNvCxnSpPr/>
          <p:nvPr/>
        </p:nvCxnSpPr>
        <p:spPr>
          <a:xfrm flipV="1">
            <a:off x="2968677" y="2867997"/>
            <a:ext cx="463639" cy="528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1033536A-6374-62EC-AF40-D8B3D642E7BB}"/>
              </a:ext>
            </a:extLst>
          </p:cNvPr>
          <p:cNvSpPr txBox="1"/>
          <p:nvPr/>
        </p:nvSpPr>
        <p:spPr>
          <a:xfrm>
            <a:off x="841248" y="5810733"/>
            <a:ext cx="10570909" cy="923330"/>
          </a:xfrm>
          <a:prstGeom prst="rect">
            <a:avLst/>
          </a:prstGeom>
          <a:solidFill>
            <a:schemeClr val="accent6">
              <a:lumMod val="20000"/>
              <a:lumOff val="80000"/>
            </a:schemeClr>
          </a:solidFill>
          <a:ln>
            <a:solidFill>
              <a:srgbClr val="00B050"/>
            </a:solidFill>
          </a:ln>
        </p:spPr>
        <p:txBody>
          <a:bodyPr wrap="square" rtlCol="0">
            <a:spAutoFit/>
          </a:bodyPr>
          <a:lstStyle/>
          <a:p>
            <a:pPr algn="ctr"/>
            <a:r>
              <a:rPr lang="en-US" b="1" dirty="0"/>
              <a:t>GR-Add already learns how to blend text into the forecast, but it does so implicitly from hidden features. Our extension would make that gating decision more explicit by providing the gate with reliability signals that reflect whether the note stream is likely to be useful at that forecast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F8CEFB0-83D8-4CD4-57A1-779397480BBD}"/>
              </a:ext>
            </a:extLst>
          </p:cNvPr>
          <p:cNvGraphicFramePr>
            <a:graphicFrameLocks noGrp="1"/>
          </p:cNvGraphicFramePr>
          <p:nvPr>
            <p:extLst>
              <p:ext uri="{D42A27DB-BD31-4B8C-83A1-F6EECF244321}">
                <p14:modId xmlns:p14="http://schemas.microsoft.com/office/powerpoint/2010/main" val="1535535333"/>
              </p:ext>
            </p:extLst>
          </p:nvPr>
        </p:nvGraphicFramePr>
        <p:xfrm>
          <a:off x="2276745" y="1226196"/>
          <a:ext cx="7368053" cy="2865596"/>
        </p:xfrm>
        <a:graphic>
          <a:graphicData uri="http://schemas.openxmlformats.org/drawingml/2006/table">
            <a:tbl>
              <a:tblPr/>
              <a:tblGrid>
                <a:gridCol w="1300515">
                  <a:extLst>
                    <a:ext uri="{9D8B030D-6E8A-4147-A177-3AD203B41FA5}">
                      <a16:colId xmlns:a16="http://schemas.microsoft.com/office/drawing/2014/main" val="347509223"/>
                    </a:ext>
                  </a:extLst>
                </a:gridCol>
                <a:gridCol w="2305478">
                  <a:extLst>
                    <a:ext uri="{9D8B030D-6E8A-4147-A177-3AD203B41FA5}">
                      <a16:colId xmlns:a16="http://schemas.microsoft.com/office/drawing/2014/main" val="3980417026"/>
                    </a:ext>
                  </a:extLst>
                </a:gridCol>
                <a:gridCol w="940515">
                  <a:extLst>
                    <a:ext uri="{9D8B030D-6E8A-4147-A177-3AD203B41FA5}">
                      <a16:colId xmlns:a16="http://schemas.microsoft.com/office/drawing/2014/main" val="3985619348"/>
                    </a:ext>
                  </a:extLst>
                </a:gridCol>
                <a:gridCol w="940515">
                  <a:extLst>
                    <a:ext uri="{9D8B030D-6E8A-4147-A177-3AD203B41FA5}">
                      <a16:colId xmlns:a16="http://schemas.microsoft.com/office/drawing/2014/main" val="1945792390"/>
                    </a:ext>
                  </a:extLst>
                </a:gridCol>
                <a:gridCol w="940515">
                  <a:extLst>
                    <a:ext uri="{9D8B030D-6E8A-4147-A177-3AD203B41FA5}">
                      <a16:colId xmlns:a16="http://schemas.microsoft.com/office/drawing/2014/main" val="403839876"/>
                    </a:ext>
                  </a:extLst>
                </a:gridCol>
                <a:gridCol w="940515">
                  <a:extLst>
                    <a:ext uri="{9D8B030D-6E8A-4147-A177-3AD203B41FA5}">
                      <a16:colId xmlns:a16="http://schemas.microsoft.com/office/drawing/2014/main" val="2738948510"/>
                    </a:ext>
                  </a:extLst>
                </a:gridCol>
              </a:tblGrid>
              <a:tr h="569714">
                <a:tc gridSpan="2">
                  <a:txBody>
                    <a:bodyPr/>
                    <a:lstStyle/>
                    <a:p>
                      <a:pPr algn="ctr" fontAlgn="t">
                        <a:buNone/>
                      </a:pPr>
                      <a:r>
                        <a:rPr lang="en-US" sz="2000" b="1" i="0" u="none" strike="noStrike">
                          <a:solidFill>
                            <a:srgbClr val="000000"/>
                          </a:solidFill>
                          <a:effectLst/>
                          <a:latin typeface="Aptos Narrow"/>
                        </a:rPr>
                        <a:t>Current Results (04/09/2026)</a:t>
                      </a:r>
                    </a:p>
                  </a:txBody>
                  <a:tcPr marL="6350" marR="6350" marT="63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gridSpan="2">
                  <a:txBody>
                    <a:bodyPr/>
                    <a:lstStyle/>
                    <a:p>
                      <a:pPr algn="ctr" fontAlgn="b">
                        <a:buNone/>
                      </a:pPr>
                      <a:r>
                        <a:rPr lang="en-US" sz="1800" b="1" i="0" u="none" strike="noStrike" dirty="0">
                          <a:solidFill>
                            <a:srgbClr val="000000"/>
                          </a:solidFill>
                          <a:effectLst/>
                          <a:latin typeface="Aptos Narrow" panose="020B0004020202020204" pitchFamily="34" charset="0"/>
                        </a:rPr>
                        <a:t>Multimodal MSE </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gridSpan="2">
                  <a:txBody>
                    <a:bodyPr/>
                    <a:lstStyle/>
                    <a:p>
                      <a:pPr algn="ctr" fontAlgn="b">
                        <a:buNone/>
                      </a:pPr>
                      <a:r>
                        <a:rPr lang="en-US" sz="1800" b="1" i="0" u="none" strike="noStrike" dirty="0">
                          <a:solidFill>
                            <a:srgbClr val="000000"/>
                          </a:solidFill>
                          <a:effectLst/>
                          <a:latin typeface="Aptos Narrow" panose="020B0004020202020204" pitchFamily="34" charset="0"/>
                        </a:rPr>
                        <a:t>Unimodal MSE </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extLst>
                  <a:ext uri="{0D108BD9-81ED-4DB2-BD59-A6C34878D82A}">
                    <a16:rowId xmlns:a16="http://schemas.microsoft.com/office/drawing/2014/main" val="3614756834"/>
                  </a:ext>
                </a:extLst>
              </a:tr>
              <a:tr h="323149">
                <a:tc>
                  <a:txBody>
                    <a:bodyPr/>
                    <a:lstStyle/>
                    <a:p>
                      <a:pPr algn="ctr" fontAlgn="b">
                        <a:buNone/>
                      </a:pPr>
                      <a:r>
                        <a:rPr lang="en-US" sz="1400" b="1" i="0" u="none" strike="noStrike" dirty="0">
                          <a:solidFill>
                            <a:srgbClr val="000000"/>
                          </a:solidFill>
                          <a:effectLst/>
                          <a:latin typeface="Aptos Narrow" panose="020B0004020202020204" pitchFamily="34" charset="0"/>
                        </a:rPr>
                        <a:t>Dataset</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1" i="0" u="none" strike="noStrike" dirty="0">
                          <a:solidFill>
                            <a:srgbClr val="000000"/>
                          </a:solidFill>
                          <a:effectLst/>
                          <a:latin typeface="Aptos Narrow" panose="020B0004020202020204" pitchFamily="34" charset="0"/>
                        </a:rPr>
                        <a:t>Irregularity Type</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Paper</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Ours</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Paper</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Ours</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69092460"/>
                  </a:ext>
                </a:extLst>
              </a:tr>
              <a:tr h="323149">
                <a:tc>
                  <a:txBody>
                    <a:bodyPr/>
                    <a:lstStyle/>
                    <a:p>
                      <a:pPr algn="ctr" fontAlgn="b">
                        <a:buNone/>
                      </a:pPr>
                      <a:r>
                        <a:rPr lang="en-US" sz="1400" b="0" i="0" u="none" strike="noStrike">
                          <a:solidFill>
                            <a:srgbClr val="000000"/>
                          </a:solidFill>
                          <a:effectLst/>
                          <a:latin typeface="Aptos Narrow" panose="020B0004020202020204" pitchFamily="34" charset="0"/>
                        </a:rPr>
                        <a:t>GDELT</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Trigger-Based</a:t>
                      </a:r>
                    </a:p>
                    <a:p>
                      <a:pPr algn="ctr" fontAlgn="b">
                        <a:buNone/>
                      </a:pPr>
                      <a:r>
                        <a:rPr lang="en-US" sz="1100" b="0" i="0" u="none" strike="noStrike" dirty="0">
                          <a:solidFill>
                            <a:srgbClr val="000000"/>
                          </a:solidFill>
                          <a:effectLst/>
                          <a:latin typeface="Aptos Narrow" panose="020B0004020202020204" pitchFamily="34" charset="0"/>
                        </a:rPr>
                        <a:t> (</a:t>
                      </a:r>
                      <a:r>
                        <a:rPr lang="en-US" sz="1100" dirty="0"/>
                        <a:t>Event-Based Logging</a:t>
                      </a:r>
                      <a:r>
                        <a:rPr lang="en-US" sz="1100" b="0" i="0" u="none" strike="noStrike" dirty="0">
                          <a:solidFill>
                            <a:srgbClr val="000000"/>
                          </a:solidFill>
                          <a:effectLst/>
                          <a:latin typeface="Aptos Narrow" panose="020B0004020202020204" pitchFamily="34" charset="0"/>
                        </a:rPr>
                        <a:t>)</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1.03</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1.02</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1.03</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1.04</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42921678"/>
                  </a:ext>
                </a:extLst>
              </a:tr>
              <a:tr h="323149">
                <a:tc>
                  <a:txBody>
                    <a:bodyPr/>
                    <a:lstStyle/>
                    <a:p>
                      <a:pPr algn="ctr" fontAlgn="b">
                        <a:buNone/>
                      </a:pPr>
                      <a:r>
                        <a:rPr lang="en-US" sz="1400" b="0" i="0" u="none" strike="noStrike">
                          <a:solidFill>
                            <a:srgbClr val="000000"/>
                          </a:solidFill>
                          <a:effectLst/>
                          <a:latin typeface="Aptos Narrow" panose="020B0004020202020204" pitchFamily="34" charset="0"/>
                        </a:rPr>
                        <a:t>FNSPID</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Artifact-Based </a:t>
                      </a:r>
                    </a:p>
                    <a:p>
                      <a:pPr algn="ctr" fontAlgn="b">
                        <a:buNone/>
                      </a:pPr>
                      <a:r>
                        <a:rPr lang="en-US" sz="1100" b="0" i="0" u="none" strike="noStrike" dirty="0">
                          <a:solidFill>
                            <a:srgbClr val="000000"/>
                          </a:solidFill>
                          <a:effectLst/>
                          <a:latin typeface="Aptos Narrow" panose="020B0004020202020204" pitchFamily="34" charset="0"/>
                        </a:rPr>
                        <a:t>(</a:t>
                      </a:r>
                      <a:r>
                        <a:rPr lang="en-US" sz="1100" dirty="0"/>
                        <a:t>Operational Window Sampling</a:t>
                      </a:r>
                      <a:r>
                        <a:rPr lang="en-US" sz="1100" b="0" i="0" u="none" strike="noStrike" dirty="0">
                          <a:solidFill>
                            <a:srgbClr val="000000"/>
                          </a:solidFill>
                          <a:effectLst/>
                          <a:latin typeface="Aptos Narrow" panose="020B0004020202020204" pitchFamily="34" charset="0"/>
                        </a:rPr>
                        <a:t> )</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0.12</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0.16</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0.12</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0.16</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83399887"/>
                  </a:ext>
                </a:extLst>
              </a:tr>
              <a:tr h="323149">
                <a:tc>
                  <a:txBody>
                    <a:bodyPr/>
                    <a:lstStyle/>
                    <a:p>
                      <a:pPr algn="ctr" fontAlgn="b">
                        <a:buNone/>
                      </a:pPr>
                      <a:r>
                        <a:rPr lang="en-US" sz="1400" b="0" i="0" u="none" strike="noStrike" dirty="0">
                          <a:solidFill>
                            <a:srgbClr val="000000"/>
                          </a:solidFill>
                          <a:effectLst/>
                          <a:latin typeface="Aptos Narrow" panose="020B0004020202020204" pitchFamily="34" charset="0"/>
                        </a:rPr>
                        <a:t>CLUSTERTRACE</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Artifact-Based </a:t>
                      </a:r>
                    </a:p>
                    <a:p>
                      <a:pPr algn="ctr" fontAlgn="b">
                        <a:buNone/>
                      </a:pPr>
                      <a:r>
                        <a:rPr lang="en-US" sz="1100" b="0" i="0" u="none" strike="noStrike" dirty="0">
                          <a:solidFill>
                            <a:srgbClr val="000000"/>
                          </a:solidFill>
                          <a:effectLst/>
                          <a:latin typeface="Aptos Narrow" panose="020B0004020202020204" pitchFamily="34" charset="0"/>
                        </a:rPr>
                        <a:t>(</a:t>
                      </a:r>
                      <a:r>
                        <a:rPr lang="en-US" sz="1100" dirty="0"/>
                        <a:t>Resource-Aware Collection</a:t>
                      </a:r>
                      <a:r>
                        <a:rPr lang="en-US" sz="1100" b="0" i="0" u="none" strike="noStrike" dirty="0">
                          <a:solidFill>
                            <a:srgbClr val="000000"/>
                          </a:solidFill>
                          <a:effectLst/>
                          <a:latin typeface="Aptos Narrow" panose="020B0004020202020204" pitchFamily="34" charset="0"/>
                        </a:rPr>
                        <a:t>)</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0.61</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0.85</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0.98</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0.87</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21850367"/>
                  </a:ext>
                </a:extLst>
              </a:tr>
              <a:tr h="423333">
                <a:tc>
                  <a:txBody>
                    <a:bodyPr/>
                    <a:lstStyle/>
                    <a:p>
                      <a:pPr algn="ctr" fontAlgn="b">
                        <a:buNone/>
                      </a:pPr>
                      <a:r>
                        <a:rPr lang="en-US" sz="1400" b="0" i="0" u="none" strike="noStrike" dirty="0">
                          <a:solidFill>
                            <a:srgbClr val="000000"/>
                          </a:solidFill>
                          <a:effectLst/>
                          <a:latin typeface="Aptos Narrow" panose="020B0004020202020204" pitchFamily="34" charset="0"/>
                        </a:rPr>
                        <a:t>CESNET</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Aptos Narrow" panose="020B0004020202020204" pitchFamily="34" charset="0"/>
                        </a:rPr>
                        <a:t>Constraint-Based </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Aptos Narrow" panose="020B0004020202020204" pitchFamily="34" charset="0"/>
                        </a:rPr>
                        <a:t>(</a:t>
                      </a:r>
                      <a:r>
                        <a:rPr lang="en-US" sz="1100" dirty="0"/>
                        <a:t>Scheduling Jitter / Delay</a:t>
                      </a:r>
                      <a:r>
                        <a:rPr lang="en-US" sz="1100" b="0" i="0" u="none" strike="noStrike" dirty="0">
                          <a:solidFill>
                            <a:srgbClr val="000000"/>
                          </a:solidFill>
                          <a:effectLst/>
                          <a:latin typeface="Aptos Narrow" panose="020B0004020202020204" pitchFamily="34" charset="0"/>
                        </a:rPr>
                        <a:t>)</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0.91</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0.96</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0.98</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1.03</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47621506"/>
                  </a:ext>
                </a:extLst>
              </a:tr>
              <a:tr h="323149">
                <a:tc>
                  <a:txBody>
                    <a:bodyPr/>
                    <a:lstStyle/>
                    <a:p>
                      <a:pPr lvl="0" algn="ctr">
                        <a:buNone/>
                      </a:pPr>
                      <a:r>
                        <a:rPr lang="en-US" sz="1400" b="0" i="0" u="none" strike="noStrike">
                          <a:solidFill>
                            <a:srgbClr val="000000"/>
                          </a:solidFill>
                          <a:effectLst/>
                          <a:latin typeface="Aptos Narrow"/>
                        </a:rPr>
                        <a:t>MIMIC</a:t>
                      </a:r>
                    </a:p>
                  </a:txBody>
                  <a:tcPr marL="6350" marR="6350" marT="6350" anchor="b">
                    <a:lnL w="12700">
                      <a:solidFill>
                        <a:srgbClr val="000000"/>
                      </a:solidFill>
                    </a:lnL>
                    <a:lnR w="6350">
                      <a:solidFill>
                        <a:srgbClr val="000000"/>
                      </a:solidFill>
                    </a:lnR>
                    <a:lnT w="12700">
                      <a:solidFill>
                        <a:srgbClr val="000000"/>
                      </a:solidFill>
                    </a:lnT>
                    <a:lnB w="12700">
                      <a:solidFill>
                        <a:srgbClr val="000000"/>
                      </a:solidFill>
                    </a:lnB>
                    <a:solidFill>
                      <a:schemeClr val="bg1"/>
                    </a:solidFill>
                  </a:tcPr>
                </a:tc>
                <a:tc>
                  <a:txBody>
                    <a:bodyPr/>
                    <a:lstStyle/>
                    <a:p>
                      <a:pPr lvl="0" algn="ctr">
                        <a:buNone/>
                      </a:pPr>
                      <a:r>
                        <a:rPr lang="en-US" sz="1100" b="0" i="0" u="none" strike="noStrike" noProof="0">
                          <a:solidFill>
                            <a:srgbClr val="000000"/>
                          </a:solidFill>
                          <a:effectLst/>
                          <a:latin typeface="Aptos Narrow"/>
                        </a:rPr>
                        <a:t>Trigger-Based</a:t>
                      </a:r>
                    </a:p>
                    <a:p>
                      <a:pPr lvl="0" algn="ctr">
                        <a:buNone/>
                      </a:pPr>
                      <a:r>
                        <a:rPr lang="en-US" sz="1100" b="0" i="0" u="none" strike="noStrike" noProof="0">
                          <a:solidFill>
                            <a:srgbClr val="000000"/>
                          </a:solidFill>
                          <a:effectLst/>
                          <a:latin typeface="Aptos Narrow"/>
                        </a:rPr>
                        <a:t>(</a:t>
                      </a:r>
                      <a:r>
                        <a:rPr lang="en-US" sz="1100" b="0" i="0" u="none" strike="noStrike" noProof="0">
                          <a:solidFill>
                            <a:srgbClr val="000000"/>
                          </a:solidFill>
                          <a:effectLst/>
                          <a:latin typeface="Aptos"/>
                        </a:rPr>
                        <a:t>Event-Based Logging</a:t>
                      </a:r>
                      <a:r>
                        <a:rPr lang="en-US" sz="1100" b="0" i="0" u="none" strike="noStrike" noProof="0">
                          <a:solidFill>
                            <a:srgbClr val="000000"/>
                          </a:solidFill>
                          <a:effectLst/>
                          <a:latin typeface="Aptos Narrow"/>
                        </a:rPr>
                        <a:t>)</a:t>
                      </a:r>
                      <a:endParaRPr lang="en-US"/>
                    </a:p>
                  </a:txBody>
                  <a:tcPr marL="6350" marR="6350" marT="6350" anchor="b">
                    <a:lnL w="6350">
                      <a:solidFill>
                        <a:srgbClr val="000000"/>
                      </a:solidFill>
                    </a:lnL>
                    <a:lnR w="12700">
                      <a:solidFill>
                        <a:srgbClr val="000000"/>
                      </a:solidFill>
                    </a:lnR>
                    <a:lnT w="12700">
                      <a:solidFill>
                        <a:srgbClr val="000000"/>
                      </a:solidFill>
                    </a:lnT>
                    <a:lnB w="12700">
                      <a:solidFill>
                        <a:srgbClr val="000000"/>
                      </a:solidFill>
                    </a:lnB>
                    <a:solidFill>
                      <a:schemeClr val="bg1"/>
                    </a:solidFill>
                  </a:tcPr>
                </a:tc>
                <a:tc>
                  <a:txBody>
                    <a:bodyPr/>
                    <a:lstStyle/>
                    <a:p>
                      <a:pPr lvl="0" algn="ctr">
                        <a:buNone/>
                      </a:pPr>
                      <a:r>
                        <a:rPr lang="en-US" sz="1100" b="0" i="0" u="none" strike="noStrike">
                          <a:solidFill>
                            <a:srgbClr val="000000"/>
                          </a:solidFill>
                          <a:effectLst/>
                          <a:latin typeface="Aptos Narrow"/>
                        </a:rPr>
                        <a:t>0.77</a:t>
                      </a:r>
                    </a:p>
                  </a:txBody>
                  <a:tcPr marL="6350" marR="6350" marT="6350" anchor="b">
                    <a:lnL w="12700">
                      <a:solidFill>
                        <a:srgbClr val="000000"/>
                      </a:solidFill>
                    </a:lnL>
                    <a:lnR w="6350">
                      <a:solidFill>
                        <a:srgbClr val="000000"/>
                      </a:solidFill>
                    </a:lnR>
                    <a:lnT w="12700">
                      <a:solidFill>
                        <a:srgbClr val="000000"/>
                      </a:solidFill>
                    </a:lnT>
                    <a:lnB w="12700">
                      <a:solidFill>
                        <a:srgbClr val="000000"/>
                      </a:solidFill>
                    </a:lnB>
                    <a:solidFill>
                      <a:schemeClr val="bg1"/>
                    </a:solidFill>
                  </a:tcPr>
                </a:tc>
                <a:tc>
                  <a:txBody>
                    <a:bodyPr/>
                    <a:lstStyle/>
                    <a:p>
                      <a:pPr lvl="0" algn="ctr">
                        <a:buNone/>
                      </a:pPr>
                      <a:r>
                        <a:rPr lang="en-US" sz="1100" b="0" i="0" u="none" strike="noStrike">
                          <a:solidFill>
                            <a:srgbClr val="000000"/>
                          </a:solidFill>
                          <a:effectLst/>
                          <a:latin typeface="Aptos Narrow"/>
                        </a:rPr>
                        <a:t>0.74</a:t>
                      </a:r>
                    </a:p>
                  </a:txBody>
                  <a:tcPr marL="6350" marR="6350" marT="6350" anchor="b">
                    <a:lnL w="6350">
                      <a:solidFill>
                        <a:srgbClr val="000000"/>
                      </a:solidFill>
                    </a:lnL>
                    <a:lnR w="12700">
                      <a:solidFill>
                        <a:srgbClr val="000000"/>
                      </a:solidFill>
                    </a:lnR>
                    <a:lnT w="12700">
                      <a:solidFill>
                        <a:srgbClr val="000000"/>
                      </a:solidFill>
                    </a:lnT>
                    <a:lnB w="12700">
                      <a:solidFill>
                        <a:srgbClr val="000000"/>
                      </a:solidFill>
                    </a:lnB>
                    <a:solidFill>
                      <a:schemeClr val="bg1"/>
                    </a:solidFill>
                  </a:tcPr>
                </a:tc>
                <a:tc>
                  <a:txBody>
                    <a:bodyPr/>
                    <a:lstStyle/>
                    <a:p>
                      <a:pPr lvl="0" algn="ctr">
                        <a:buNone/>
                      </a:pPr>
                      <a:r>
                        <a:rPr lang="en-US" sz="1100" b="0" i="0" u="none" strike="noStrike">
                          <a:solidFill>
                            <a:srgbClr val="000000"/>
                          </a:solidFill>
                          <a:effectLst/>
                          <a:latin typeface="Aptos Narrow"/>
                        </a:rPr>
                        <a:t>0.73</a:t>
                      </a:r>
                    </a:p>
                  </a:txBody>
                  <a:tcPr marL="6350" marR="6350" marT="6350" anchor="b">
                    <a:lnL w="12700">
                      <a:solidFill>
                        <a:srgbClr val="000000"/>
                      </a:solidFill>
                    </a:lnL>
                    <a:lnR w="6350">
                      <a:solidFill>
                        <a:srgbClr val="000000"/>
                      </a:solidFill>
                    </a:lnR>
                    <a:lnT w="12700">
                      <a:solidFill>
                        <a:srgbClr val="000000"/>
                      </a:solidFill>
                    </a:lnT>
                    <a:lnB w="12700">
                      <a:solidFill>
                        <a:srgbClr val="000000"/>
                      </a:solidFill>
                    </a:lnB>
                    <a:solidFill>
                      <a:schemeClr val="bg1"/>
                    </a:solidFill>
                  </a:tcPr>
                </a:tc>
                <a:tc>
                  <a:txBody>
                    <a:bodyPr/>
                    <a:lstStyle/>
                    <a:p>
                      <a:pPr lvl="0" algn="ctr">
                        <a:buNone/>
                      </a:pPr>
                      <a:r>
                        <a:rPr lang="en-US" sz="1100" b="0" i="0" u="none" strike="noStrike" dirty="0">
                          <a:solidFill>
                            <a:srgbClr val="000000"/>
                          </a:solidFill>
                          <a:effectLst/>
                          <a:latin typeface="Aptos Narrow"/>
                        </a:rPr>
                        <a:t>0.74</a:t>
                      </a:r>
                    </a:p>
                  </a:txBody>
                  <a:tcPr marL="6350" marR="6350" marT="6350" anchor="b">
                    <a:lnL w="6350">
                      <a:solidFill>
                        <a:srgbClr val="000000"/>
                      </a:solidFill>
                    </a:lnL>
                    <a:lnR w="12700">
                      <a:solidFill>
                        <a:srgbClr val="000000"/>
                      </a:solidFill>
                    </a:lnR>
                    <a:lnT w="12700">
                      <a:solidFill>
                        <a:srgbClr val="000000"/>
                      </a:solidFill>
                    </a:lnT>
                    <a:lnB w="12700">
                      <a:solidFill>
                        <a:srgbClr val="000000"/>
                      </a:solidFill>
                    </a:lnB>
                    <a:solidFill>
                      <a:schemeClr val="bg1"/>
                    </a:solidFill>
                  </a:tcPr>
                </a:tc>
                <a:extLst>
                  <a:ext uri="{0D108BD9-81ED-4DB2-BD59-A6C34878D82A}">
                    <a16:rowId xmlns:a16="http://schemas.microsoft.com/office/drawing/2014/main" val="2799131304"/>
                  </a:ext>
                </a:extLst>
              </a:tr>
            </a:tbl>
          </a:graphicData>
        </a:graphic>
      </p:graphicFrame>
      <p:sp>
        <p:nvSpPr>
          <p:cNvPr id="3" name="Text 0">
            <a:extLst>
              <a:ext uri="{FF2B5EF4-FFF2-40B4-BE49-F238E27FC236}">
                <a16:creationId xmlns:a16="http://schemas.microsoft.com/office/drawing/2014/main" id="{2E404857-2DF3-6E2F-5E09-E1B49190ADDD}"/>
              </a:ext>
            </a:extLst>
          </p:cNvPr>
          <p:cNvSpPr/>
          <p:nvPr/>
        </p:nvSpPr>
        <p:spPr>
          <a:xfrm>
            <a:off x="502919" y="566928"/>
            <a:ext cx="9285025" cy="438912"/>
          </a:xfrm>
          <a:prstGeom prst="rect">
            <a:avLst/>
          </a:prstGeom>
          <a:noFill/>
          <a:ln/>
        </p:spPr>
        <p:txBody>
          <a:bodyPr wrap="square" lIns="0" tIns="0" rIns="0" bIns="0" rtlCol="0" anchor="ctr"/>
          <a:lstStyle/>
          <a:p>
            <a:pPr marL="0" indent="0">
              <a:buNone/>
            </a:pPr>
            <a:r>
              <a:rPr lang="en-US" sz="2800" b="1" dirty="0">
                <a:solidFill>
                  <a:srgbClr val="11263F"/>
                </a:solidFill>
                <a:latin typeface="Aptos Display" pitchFamily="34" charset="0"/>
                <a:ea typeface="Aptos Display" pitchFamily="34" charset="-122"/>
                <a:cs typeface="Aptos Display" pitchFamily="34" charset="-120"/>
              </a:rPr>
              <a:t>Preliminary Results from Original Methods Reproduction:</a:t>
            </a:r>
            <a:endParaRPr lang="en-US" sz="2800" dirty="0"/>
          </a:p>
        </p:txBody>
      </p:sp>
      <p:sp>
        <p:nvSpPr>
          <p:cNvPr id="4" name="TextBox 3">
            <a:extLst>
              <a:ext uri="{FF2B5EF4-FFF2-40B4-BE49-F238E27FC236}">
                <a16:creationId xmlns:a16="http://schemas.microsoft.com/office/drawing/2014/main" id="{5FFA206D-B434-8285-0D4B-3E5B3735E15F}"/>
              </a:ext>
            </a:extLst>
          </p:cNvPr>
          <p:cNvSpPr txBox="1"/>
          <p:nvPr/>
        </p:nvSpPr>
        <p:spPr>
          <a:xfrm>
            <a:off x="959036" y="4107229"/>
            <a:ext cx="9987566" cy="147732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dirty="0"/>
              <a:t>FNSPID, </a:t>
            </a:r>
            <a:r>
              <a:rPr lang="en-US" dirty="0" err="1"/>
              <a:t>ClusterTrace</a:t>
            </a:r>
            <a:r>
              <a:rPr lang="en-US" dirty="0"/>
              <a:t>, and CESNET discrepancies likely reflect differences in preprocessing, data splits, tuning, and environment stability. </a:t>
            </a:r>
          </a:p>
          <a:p>
            <a:pPr marL="285750" indent="-285750">
              <a:buFont typeface="Arial" panose="020B0604020202020204" pitchFamily="34" charset="0"/>
              <a:buChar char="•"/>
            </a:pPr>
            <a:r>
              <a:rPr lang="en-US" dirty="0"/>
              <a:t>MIMIC </a:t>
            </a:r>
            <a:r>
              <a:rPr lang="en-US"/>
              <a:t>IV</a:t>
            </a:r>
            <a:r>
              <a:rPr lang="en-US" dirty="0"/>
              <a:t> embeddings produced and baseline reproduction runs initiated</a:t>
            </a:r>
          </a:p>
          <a:p>
            <a:pPr marL="742950" lvl="1" indent="-285750">
              <a:buFont typeface="Arial" panose="020B0604020202020204" pitchFamily="34" charset="0"/>
              <a:buChar char="•"/>
            </a:pPr>
            <a:r>
              <a:rPr lang="en-US" dirty="0"/>
              <a:t>Computational resources issues, Google </a:t>
            </a:r>
            <a:r>
              <a:rPr lang="en-US" dirty="0" err="1"/>
              <a:t>Colab</a:t>
            </a:r>
            <a:r>
              <a:rPr lang="en-US" dirty="0"/>
              <a:t> reliance</a:t>
            </a:r>
          </a:p>
          <a:p>
            <a:pPr marL="285750" indent="-285750">
              <a:buFont typeface="Arial" panose="020B0604020202020204" pitchFamily="34" charset="0"/>
              <a:buChar char="•"/>
            </a:pPr>
            <a:r>
              <a:rPr lang="en-US" dirty="0"/>
              <a:t>Literature review for project expansion methodology (option C) </a:t>
            </a:r>
          </a:p>
        </p:txBody>
      </p:sp>
      <p:sp>
        <p:nvSpPr>
          <p:cNvPr id="5" name="Text 26">
            <a:extLst>
              <a:ext uri="{FF2B5EF4-FFF2-40B4-BE49-F238E27FC236}">
                <a16:creationId xmlns:a16="http://schemas.microsoft.com/office/drawing/2014/main" id="{B8384BE9-5A86-B719-4F42-8BD3C5F3C042}"/>
              </a:ext>
            </a:extLst>
          </p:cNvPr>
          <p:cNvSpPr/>
          <p:nvPr/>
        </p:nvSpPr>
        <p:spPr>
          <a:xfrm>
            <a:off x="1176863" y="5935440"/>
            <a:ext cx="1005840" cy="128016"/>
          </a:xfrm>
          <a:prstGeom prst="rect">
            <a:avLst/>
          </a:prstGeom>
          <a:noFill/>
          <a:ln/>
        </p:spPr>
        <p:txBody>
          <a:bodyPr wrap="square" lIns="0" tIns="0" rIns="0" bIns="0" rtlCol="0" anchor="ctr"/>
          <a:lstStyle/>
          <a:p>
            <a:pPr marL="0" indent="0">
              <a:buNone/>
            </a:pPr>
            <a:r>
              <a:rPr lang="en-US" sz="1280" b="1" dirty="0">
                <a:solidFill>
                  <a:srgbClr val="5D89B3"/>
                </a:solidFill>
                <a:latin typeface="Aptos" pitchFamily="34" charset="0"/>
                <a:ea typeface="Aptos" pitchFamily="34" charset="-122"/>
                <a:cs typeface="Aptos" pitchFamily="34" charset="-120"/>
              </a:rPr>
              <a:t>Project Milestones</a:t>
            </a:r>
            <a:endParaRPr lang="en-US" sz="1280" dirty="0"/>
          </a:p>
        </p:txBody>
      </p:sp>
      <p:sp>
        <p:nvSpPr>
          <p:cNvPr id="6" name="Shape 27">
            <a:extLst>
              <a:ext uri="{FF2B5EF4-FFF2-40B4-BE49-F238E27FC236}">
                <a16:creationId xmlns:a16="http://schemas.microsoft.com/office/drawing/2014/main" id="{ABAADFFE-CA07-E773-7E01-791B28F70C48}"/>
              </a:ext>
            </a:extLst>
          </p:cNvPr>
          <p:cNvSpPr/>
          <p:nvPr/>
        </p:nvSpPr>
        <p:spPr>
          <a:xfrm>
            <a:off x="2246711" y="6016752"/>
            <a:ext cx="9006840" cy="0"/>
          </a:xfrm>
          <a:prstGeom prst="line">
            <a:avLst/>
          </a:prstGeom>
          <a:noFill/>
          <a:ln w="12700">
            <a:solidFill>
              <a:srgbClr val="B6C2CF"/>
            </a:solidFill>
            <a:prstDash val="solid"/>
          </a:ln>
        </p:spPr>
        <p:txBody>
          <a:bodyPr/>
          <a:lstStyle/>
          <a:p>
            <a:endParaRPr lang="en-US"/>
          </a:p>
        </p:txBody>
      </p:sp>
      <p:sp>
        <p:nvSpPr>
          <p:cNvPr id="7" name="Shape 28">
            <a:extLst>
              <a:ext uri="{FF2B5EF4-FFF2-40B4-BE49-F238E27FC236}">
                <a16:creationId xmlns:a16="http://schemas.microsoft.com/office/drawing/2014/main" id="{CCEEF857-1CD5-C429-D93F-F1F2ED018E5B}"/>
              </a:ext>
            </a:extLst>
          </p:cNvPr>
          <p:cNvSpPr/>
          <p:nvPr/>
        </p:nvSpPr>
        <p:spPr>
          <a:xfrm>
            <a:off x="2475311" y="5879592"/>
            <a:ext cx="274320" cy="274320"/>
          </a:xfrm>
          <a:prstGeom prst="ellipse">
            <a:avLst/>
          </a:prstGeom>
          <a:solidFill>
            <a:srgbClr val="5D89B3"/>
          </a:solidFill>
          <a:ln w="12700">
            <a:solidFill>
              <a:srgbClr val="FFFFFF"/>
            </a:solidFill>
            <a:prstDash val="solid"/>
          </a:ln>
        </p:spPr>
        <p:txBody>
          <a:bodyPr/>
          <a:lstStyle/>
          <a:p>
            <a:endParaRPr lang="en-US"/>
          </a:p>
        </p:txBody>
      </p:sp>
      <p:sp>
        <p:nvSpPr>
          <p:cNvPr id="8" name="Text 29">
            <a:extLst>
              <a:ext uri="{FF2B5EF4-FFF2-40B4-BE49-F238E27FC236}">
                <a16:creationId xmlns:a16="http://schemas.microsoft.com/office/drawing/2014/main" id="{6EC0EED6-B11C-89CB-2379-5009DFB9C2A3}"/>
              </a:ext>
            </a:extLst>
          </p:cNvPr>
          <p:cNvSpPr/>
          <p:nvPr/>
        </p:nvSpPr>
        <p:spPr>
          <a:xfrm>
            <a:off x="2255855" y="5724144"/>
            <a:ext cx="731520" cy="109728"/>
          </a:xfrm>
          <a:prstGeom prst="rect">
            <a:avLst/>
          </a:prstGeom>
          <a:noFill/>
          <a:ln/>
        </p:spPr>
        <p:txBody>
          <a:bodyPr wrap="square" lIns="0" tIns="0" rIns="0" bIns="0" rtlCol="0" anchor="ctr"/>
          <a:lstStyle/>
          <a:p>
            <a:pPr marL="0" indent="0" algn="ctr">
              <a:buNone/>
            </a:pPr>
            <a:r>
              <a:rPr lang="en-US" sz="1140" b="1" dirty="0">
                <a:solidFill>
                  <a:srgbClr val="11263F"/>
                </a:solidFill>
                <a:latin typeface="Aptos" pitchFamily="34" charset="0"/>
                <a:ea typeface="Aptos" pitchFamily="34" charset="-122"/>
                <a:cs typeface="Aptos" pitchFamily="34" charset="-120"/>
              </a:rPr>
              <a:t>Apr 2</a:t>
            </a:r>
            <a:endParaRPr lang="en-US" sz="1140" dirty="0"/>
          </a:p>
        </p:txBody>
      </p:sp>
      <p:sp>
        <p:nvSpPr>
          <p:cNvPr id="9" name="Text 30">
            <a:extLst>
              <a:ext uri="{FF2B5EF4-FFF2-40B4-BE49-F238E27FC236}">
                <a16:creationId xmlns:a16="http://schemas.microsoft.com/office/drawing/2014/main" id="{BA64B0D6-9AEB-0F25-46D5-3FB8736E729E}"/>
              </a:ext>
            </a:extLst>
          </p:cNvPr>
          <p:cNvSpPr/>
          <p:nvPr/>
        </p:nvSpPr>
        <p:spPr>
          <a:xfrm>
            <a:off x="2063831" y="6172200"/>
            <a:ext cx="1133856" cy="100584"/>
          </a:xfrm>
          <a:prstGeom prst="rect">
            <a:avLst/>
          </a:prstGeom>
          <a:noFill/>
          <a:ln/>
        </p:spPr>
        <p:txBody>
          <a:bodyPr wrap="square" lIns="0" tIns="0" rIns="0" bIns="0" rtlCol="0" anchor="ctr"/>
          <a:lstStyle/>
          <a:p>
            <a:pPr marL="0" indent="0" algn="ctr">
              <a:buNone/>
            </a:pPr>
            <a:r>
              <a:rPr lang="en-US" sz="1020" dirty="0">
                <a:solidFill>
                  <a:srgbClr val="11263F"/>
                </a:solidFill>
                <a:latin typeface="Aptos" pitchFamily="34" charset="0"/>
                <a:ea typeface="Aptos" pitchFamily="34" charset="-122"/>
                <a:cs typeface="Aptos" pitchFamily="34" charset="-120"/>
              </a:rPr>
              <a:t>proposal</a:t>
            </a:r>
            <a:endParaRPr lang="en-US" sz="1020" dirty="0"/>
          </a:p>
        </p:txBody>
      </p:sp>
      <p:sp>
        <p:nvSpPr>
          <p:cNvPr id="10" name="Shape 31">
            <a:extLst>
              <a:ext uri="{FF2B5EF4-FFF2-40B4-BE49-F238E27FC236}">
                <a16:creationId xmlns:a16="http://schemas.microsoft.com/office/drawing/2014/main" id="{EA3E0F33-20C6-3EF4-7554-238E20AC2613}"/>
              </a:ext>
            </a:extLst>
          </p:cNvPr>
          <p:cNvSpPr/>
          <p:nvPr/>
        </p:nvSpPr>
        <p:spPr>
          <a:xfrm>
            <a:off x="4453822" y="5861662"/>
            <a:ext cx="274320" cy="274320"/>
          </a:xfrm>
          <a:prstGeom prst="ellipse">
            <a:avLst/>
          </a:prstGeom>
          <a:solidFill>
            <a:srgbClr val="5D89B3"/>
          </a:solidFill>
          <a:ln w="12700">
            <a:solidFill>
              <a:srgbClr val="FFFFFF"/>
            </a:solidFill>
            <a:prstDash val="solid"/>
          </a:ln>
        </p:spPr>
        <p:txBody>
          <a:bodyPr/>
          <a:lstStyle/>
          <a:p>
            <a:endParaRPr lang="en-US"/>
          </a:p>
        </p:txBody>
      </p:sp>
      <p:sp>
        <p:nvSpPr>
          <p:cNvPr id="11" name="Text 32">
            <a:extLst>
              <a:ext uri="{FF2B5EF4-FFF2-40B4-BE49-F238E27FC236}">
                <a16:creationId xmlns:a16="http://schemas.microsoft.com/office/drawing/2014/main" id="{866F00CA-99FC-4A49-506C-B101B8B99613}"/>
              </a:ext>
            </a:extLst>
          </p:cNvPr>
          <p:cNvSpPr/>
          <p:nvPr/>
        </p:nvSpPr>
        <p:spPr>
          <a:xfrm>
            <a:off x="4207471" y="5724144"/>
            <a:ext cx="731520" cy="109728"/>
          </a:xfrm>
          <a:prstGeom prst="rect">
            <a:avLst/>
          </a:prstGeom>
          <a:noFill/>
          <a:ln/>
        </p:spPr>
        <p:txBody>
          <a:bodyPr wrap="square" lIns="0" tIns="0" rIns="0" bIns="0" rtlCol="0" anchor="ctr"/>
          <a:lstStyle/>
          <a:p>
            <a:pPr marL="0" indent="0" algn="ctr">
              <a:buNone/>
            </a:pPr>
            <a:r>
              <a:rPr lang="en-US" sz="1140" b="1" dirty="0">
                <a:solidFill>
                  <a:srgbClr val="11263F"/>
                </a:solidFill>
                <a:latin typeface="Aptos" pitchFamily="34" charset="0"/>
                <a:ea typeface="Aptos" pitchFamily="34" charset="-122"/>
                <a:cs typeface="Aptos" pitchFamily="34" charset="-120"/>
              </a:rPr>
              <a:t>Apr 9</a:t>
            </a:r>
            <a:endParaRPr lang="en-US" sz="1140" dirty="0"/>
          </a:p>
        </p:txBody>
      </p:sp>
      <p:sp>
        <p:nvSpPr>
          <p:cNvPr id="12" name="Text 33">
            <a:extLst>
              <a:ext uri="{FF2B5EF4-FFF2-40B4-BE49-F238E27FC236}">
                <a16:creationId xmlns:a16="http://schemas.microsoft.com/office/drawing/2014/main" id="{23374F7B-319E-C392-A64A-242E73014623}"/>
              </a:ext>
            </a:extLst>
          </p:cNvPr>
          <p:cNvSpPr/>
          <p:nvPr/>
        </p:nvSpPr>
        <p:spPr>
          <a:xfrm>
            <a:off x="4042342" y="6154270"/>
            <a:ext cx="1133856" cy="100584"/>
          </a:xfrm>
          <a:prstGeom prst="rect">
            <a:avLst/>
          </a:prstGeom>
          <a:noFill/>
          <a:ln/>
        </p:spPr>
        <p:txBody>
          <a:bodyPr wrap="square" lIns="0" tIns="0" rIns="0" bIns="0" rtlCol="0" anchor="ctr"/>
          <a:lstStyle/>
          <a:p>
            <a:pPr marL="0" indent="0" algn="ctr">
              <a:buNone/>
            </a:pPr>
            <a:r>
              <a:rPr lang="en-US" sz="1020" dirty="0">
                <a:solidFill>
                  <a:srgbClr val="11263F"/>
                </a:solidFill>
                <a:latin typeface="Aptos" pitchFamily="34" charset="0"/>
                <a:ea typeface="Aptos" pitchFamily="34" charset="-122"/>
                <a:cs typeface="Aptos" pitchFamily="34" charset="-120"/>
              </a:rPr>
              <a:t>first repro</a:t>
            </a:r>
            <a:endParaRPr lang="en-US" sz="1020" dirty="0"/>
          </a:p>
        </p:txBody>
      </p:sp>
      <p:sp>
        <p:nvSpPr>
          <p:cNvPr id="13" name="Shape 34">
            <a:extLst>
              <a:ext uri="{FF2B5EF4-FFF2-40B4-BE49-F238E27FC236}">
                <a16:creationId xmlns:a16="http://schemas.microsoft.com/office/drawing/2014/main" id="{72889AD4-D2D0-C94D-1EC3-61175B2DAC83}"/>
              </a:ext>
            </a:extLst>
          </p:cNvPr>
          <p:cNvSpPr/>
          <p:nvPr/>
        </p:nvSpPr>
        <p:spPr>
          <a:xfrm>
            <a:off x="8207347" y="5879592"/>
            <a:ext cx="274320" cy="274320"/>
          </a:xfrm>
          <a:prstGeom prst="ellipse">
            <a:avLst/>
          </a:prstGeom>
          <a:solidFill>
            <a:srgbClr val="5D89B3"/>
          </a:solidFill>
          <a:ln w="12700">
            <a:solidFill>
              <a:srgbClr val="FFFFFF"/>
            </a:solidFill>
            <a:prstDash val="solid"/>
          </a:ln>
        </p:spPr>
        <p:txBody>
          <a:bodyPr/>
          <a:lstStyle/>
          <a:p>
            <a:endParaRPr lang="en-US"/>
          </a:p>
        </p:txBody>
      </p:sp>
      <p:sp>
        <p:nvSpPr>
          <p:cNvPr id="14" name="Text 35">
            <a:extLst>
              <a:ext uri="{FF2B5EF4-FFF2-40B4-BE49-F238E27FC236}">
                <a16:creationId xmlns:a16="http://schemas.microsoft.com/office/drawing/2014/main" id="{02519C4B-F901-F6F0-8791-9B62020306DD}"/>
              </a:ext>
            </a:extLst>
          </p:cNvPr>
          <p:cNvSpPr/>
          <p:nvPr/>
        </p:nvSpPr>
        <p:spPr>
          <a:xfrm>
            <a:off x="7987891" y="5742074"/>
            <a:ext cx="731520" cy="109728"/>
          </a:xfrm>
          <a:prstGeom prst="rect">
            <a:avLst/>
          </a:prstGeom>
          <a:noFill/>
          <a:ln/>
        </p:spPr>
        <p:txBody>
          <a:bodyPr wrap="square" lIns="0" tIns="0" rIns="0" bIns="0" rtlCol="0" anchor="ctr"/>
          <a:lstStyle/>
          <a:p>
            <a:pPr marL="0" indent="0" algn="ctr">
              <a:buNone/>
            </a:pPr>
            <a:r>
              <a:rPr lang="en-US" sz="1140" b="1" dirty="0">
                <a:solidFill>
                  <a:srgbClr val="11263F"/>
                </a:solidFill>
                <a:latin typeface="Aptos" pitchFamily="34" charset="0"/>
                <a:ea typeface="Aptos" pitchFamily="34" charset="-122"/>
                <a:cs typeface="Aptos" pitchFamily="34" charset="-120"/>
              </a:rPr>
              <a:t>Apr 23 </a:t>
            </a:r>
            <a:endParaRPr lang="en-US" sz="1140" dirty="0"/>
          </a:p>
        </p:txBody>
      </p:sp>
      <p:sp>
        <p:nvSpPr>
          <p:cNvPr id="15" name="Text 36">
            <a:extLst>
              <a:ext uri="{FF2B5EF4-FFF2-40B4-BE49-F238E27FC236}">
                <a16:creationId xmlns:a16="http://schemas.microsoft.com/office/drawing/2014/main" id="{1709AEDD-7A9B-D922-9F61-0192B8F5A439}"/>
              </a:ext>
            </a:extLst>
          </p:cNvPr>
          <p:cNvSpPr/>
          <p:nvPr/>
        </p:nvSpPr>
        <p:spPr>
          <a:xfrm>
            <a:off x="7795867" y="6172200"/>
            <a:ext cx="1133856" cy="100584"/>
          </a:xfrm>
          <a:prstGeom prst="rect">
            <a:avLst/>
          </a:prstGeom>
          <a:noFill/>
          <a:ln/>
        </p:spPr>
        <p:txBody>
          <a:bodyPr wrap="square" lIns="0" tIns="0" rIns="0" bIns="0" rtlCol="0" anchor="ctr"/>
          <a:lstStyle/>
          <a:p>
            <a:pPr marL="0" indent="0" algn="ctr">
              <a:buNone/>
            </a:pPr>
            <a:r>
              <a:rPr lang="en-US" sz="1020" dirty="0">
                <a:solidFill>
                  <a:srgbClr val="11263F"/>
                </a:solidFill>
                <a:latin typeface="Aptos" pitchFamily="34" charset="0"/>
                <a:ea typeface="Aptos" pitchFamily="34" charset="-122"/>
                <a:cs typeface="Aptos" pitchFamily="34" charset="-120"/>
              </a:rPr>
              <a:t>present results</a:t>
            </a:r>
            <a:endParaRPr lang="en-US" sz="1020" dirty="0"/>
          </a:p>
        </p:txBody>
      </p:sp>
      <p:sp>
        <p:nvSpPr>
          <p:cNvPr id="16" name="Shape 37">
            <a:extLst>
              <a:ext uri="{FF2B5EF4-FFF2-40B4-BE49-F238E27FC236}">
                <a16:creationId xmlns:a16="http://schemas.microsoft.com/office/drawing/2014/main" id="{6F17BB3A-A34F-C5CB-AA43-E820A8B2B771}"/>
              </a:ext>
            </a:extLst>
          </p:cNvPr>
          <p:cNvSpPr/>
          <p:nvPr/>
        </p:nvSpPr>
        <p:spPr>
          <a:xfrm>
            <a:off x="10293431" y="5879592"/>
            <a:ext cx="274320" cy="274320"/>
          </a:xfrm>
          <a:prstGeom prst="ellipse">
            <a:avLst/>
          </a:prstGeom>
          <a:solidFill>
            <a:srgbClr val="C39A57"/>
          </a:solidFill>
          <a:ln w="12700">
            <a:solidFill>
              <a:srgbClr val="FFFFFF"/>
            </a:solidFill>
            <a:prstDash val="solid"/>
          </a:ln>
        </p:spPr>
        <p:txBody>
          <a:bodyPr/>
          <a:lstStyle/>
          <a:p>
            <a:endParaRPr lang="en-US"/>
          </a:p>
        </p:txBody>
      </p:sp>
      <p:sp>
        <p:nvSpPr>
          <p:cNvPr id="17" name="Text 38">
            <a:extLst>
              <a:ext uri="{FF2B5EF4-FFF2-40B4-BE49-F238E27FC236}">
                <a16:creationId xmlns:a16="http://schemas.microsoft.com/office/drawing/2014/main" id="{9EE60D76-5B90-F1DD-9F98-E20C07E4B415}"/>
              </a:ext>
            </a:extLst>
          </p:cNvPr>
          <p:cNvSpPr/>
          <p:nvPr/>
        </p:nvSpPr>
        <p:spPr>
          <a:xfrm>
            <a:off x="10073975" y="5724144"/>
            <a:ext cx="731520" cy="109728"/>
          </a:xfrm>
          <a:prstGeom prst="rect">
            <a:avLst/>
          </a:prstGeom>
          <a:noFill/>
          <a:ln/>
        </p:spPr>
        <p:txBody>
          <a:bodyPr wrap="square" lIns="0" tIns="0" rIns="0" bIns="0" rtlCol="0" anchor="ctr"/>
          <a:lstStyle/>
          <a:p>
            <a:pPr marL="0" indent="0" algn="ctr">
              <a:buNone/>
            </a:pPr>
            <a:r>
              <a:rPr lang="en-US" sz="1140" b="1" dirty="0">
                <a:solidFill>
                  <a:srgbClr val="11263F"/>
                </a:solidFill>
                <a:latin typeface="Aptos" pitchFamily="34" charset="0"/>
                <a:ea typeface="Aptos" pitchFamily="34" charset="-122"/>
                <a:cs typeface="Aptos" pitchFamily="34" charset="-120"/>
              </a:rPr>
              <a:t>May 4</a:t>
            </a:r>
            <a:endParaRPr lang="en-US" sz="1140" dirty="0"/>
          </a:p>
        </p:txBody>
      </p:sp>
      <p:sp>
        <p:nvSpPr>
          <p:cNvPr id="18" name="Text 39">
            <a:extLst>
              <a:ext uri="{FF2B5EF4-FFF2-40B4-BE49-F238E27FC236}">
                <a16:creationId xmlns:a16="http://schemas.microsoft.com/office/drawing/2014/main" id="{D0C2BAB6-A9DB-139C-0F24-E413F88EC186}"/>
              </a:ext>
            </a:extLst>
          </p:cNvPr>
          <p:cNvSpPr/>
          <p:nvPr/>
        </p:nvSpPr>
        <p:spPr>
          <a:xfrm>
            <a:off x="9881951" y="6172200"/>
            <a:ext cx="1133856" cy="100584"/>
          </a:xfrm>
          <a:prstGeom prst="rect">
            <a:avLst/>
          </a:prstGeom>
          <a:noFill/>
          <a:ln/>
        </p:spPr>
        <p:txBody>
          <a:bodyPr wrap="square" lIns="0" tIns="0" rIns="0" bIns="0" rtlCol="0" anchor="ctr"/>
          <a:lstStyle/>
          <a:p>
            <a:pPr marL="0" indent="0" algn="ctr">
              <a:buNone/>
            </a:pPr>
            <a:r>
              <a:rPr lang="en-US" sz="1020" dirty="0">
                <a:solidFill>
                  <a:srgbClr val="11263F"/>
                </a:solidFill>
                <a:latin typeface="Aptos" pitchFamily="34" charset="0"/>
                <a:ea typeface="Aptos" pitchFamily="34" charset="-122"/>
                <a:cs typeface="Aptos" pitchFamily="34" charset="-120"/>
              </a:rPr>
              <a:t>final report + code</a:t>
            </a:r>
            <a:endParaRPr lang="en-US" sz="1020" dirty="0"/>
          </a:p>
        </p:txBody>
      </p:sp>
      <p:sp>
        <p:nvSpPr>
          <p:cNvPr id="19" name="Shape 31">
            <a:extLst>
              <a:ext uri="{FF2B5EF4-FFF2-40B4-BE49-F238E27FC236}">
                <a16:creationId xmlns:a16="http://schemas.microsoft.com/office/drawing/2014/main" id="{00C2FD1C-51C2-87CA-9D7C-35900CBB2D17}"/>
              </a:ext>
            </a:extLst>
          </p:cNvPr>
          <p:cNvSpPr/>
          <p:nvPr/>
        </p:nvSpPr>
        <p:spPr>
          <a:xfrm>
            <a:off x="6184014" y="5843731"/>
            <a:ext cx="274320" cy="274320"/>
          </a:xfrm>
          <a:prstGeom prst="ellipse">
            <a:avLst/>
          </a:prstGeom>
          <a:solidFill>
            <a:srgbClr val="5D89B3"/>
          </a:solidFill>
          <a:ln w="12700">
            <a:solidFill>
              <a:srgbClr val="FFFFFF"/>
            </a:solidFill>
            <a:prstDash val="solid"/>
          </a:ln>
        </p:spPr>
        <p:txBody>
          <a:bodyPr/>
          <a:lstStyle/>
          <a:p>
            <a:endParaRPr lang="en-US"/>
          </a:p>
        </p:txBody>
      </p:sp>
      <p:sp>
        <p:nvSpPr>
          <p:cNvPr id="20" name="Text 32">
            <a:extLst>
              <a:ext uri="{FF2B5EF4-FFF2-40B4-BE49-F238E27FC236}">
                <a16:creationId xmlns:a16="http://schemas.microsoft.com/office/drawing/2014/main" id="{35F58FE8-343A-909E-7FD0-0250D97CF2D0}"/>
              </a:ext>
            </a:extLst>
          </p:cNvPr>
          <p:cNvSpPr/>
          <p:nvPr/>
        </p:nvSpPr>
        <p:spPr>
          <a:xfrm>
            <a:off x="5937663" y="5724143"/>
            <a:ext cx="731520" cy="109728"/>
          </a:xfrm>
          <a:prstGeom prst="rect">
            <a:avLst/>
          </a:prstGeom>
          <a:noFill/>
          <a:ln/>
        </p:spPr>
        <p:txBody>
          <a:bodyPr wrap="square" lIns="0" tIns="0" rIns="0" bIns="0" rtlCol="0" anchor="ctr"/>
          <a:lstStyle/>
          <a:p>
            <a:pPr marL="0" indent="0" algn="ctr">
              <a:buNone/>
            </a:pPr>
            <a:r>
              <a:rPr lang="en-US" sz="1140" b="1" dirty="0">
                <a:solidFill>
                  <a:srgbClr val="11263F"/>
                </a:solidFill>
                <a:latin typeface="Aptos" pitchFamily="34" charset="0"/>
                <a:ea typeface="Aptos" pitchFamily="34" charset="-122"/>
                <a:cs typeface="Aptos" pitchFamily="34" charset="-120"/>
              </a:rPr>
              <a:t>Apr 16</a:t>
            </a:r>
            <a:endParaRPr lang="en-US" sz="1140" dirty="0"/>
          </a:p>
        </p:txBody>
      </p:sp>
      <p:sp>
        <p:nvSpPr>
          <p:cNvPr id="21" name="Text 33">
            <a:extLst>
              <a:ext uri="{FF2B5EF4-FFF2-40B4-BE49-F238E27FC236}">
                <a16:creationId xmlns:a16="http://schemas.microsoft.com/office/drawing/2014/main" id="{9607A3E5-CF9A-F051-B4F2-0B1B8BC23CAC}"/>
              </a:ext>
            </a:extLst>
          </p:cNvPr>
          <p:cNvSpPr/>
          <p:nvPr/>
        </p:nvSpPr>
        <p:spPr>
          <a:xfrm>
            <a:off x="5772534" y="6136339"/>
            <a:ext cx="1133856" cy="100584"/>
          </a:xfrm>
          <a:prstGeom prst="rect">
            <a:avLst/>
          </a:prstGeom>
          <a:noFill/>
          <a:ln/>
        </p:spPr>
        <p:txBody>
          <a:bodyPr wrap="square" lIns="0" tIns="0" rIns="0" bIns="0" rtlCol="0" anchor="ctr"/>
          <a:lstStyle/>
          <a:p>
            <a:pPr marL="0" indent="0" algn="ctr">
              <a:buNone/>
            </a:pPr>
            <a:r>
              <a:rPr lang="en-US" sz="1020" dirty="0">
                <a:solidFill>
                  <a:srgbClr val="11263F"/>
                </a:solidFill>
                <a:latin typeface="Aptos" pitchFamily="34" charset="0"/>
                <a:ea typeface="Aptos" pitchFamily="34" charset="-122"/>
                <a:cs typeface="Aptos" pitchFamily="34" charset="-120"/>
              </a:rPr>
              <a:t>results progress</a:t>
            </a:r>
            <a:endParaRPr lang="en-US" sz="1020" dirty="0"/>
          </a:p>
        </p:txBody>
      </p:sp>
    </p:spTree>
    <p:extLst>
      <p:ext uri="{BB962C8B-B14F-4D97-AF65-F5344CB8AC3E}">
        <p14:creationId xmlns:p14="http://schemas.microsoft.com/office/powerpoint/2010/main" val="1188118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D1E35F-DA6A-8100-88F2-8334558F0B77}"/>
              </a:ext>
            </a:extLst>
          </p:cNvPr>
          <p:cNvSpPr txBox="1"/>
          <p:nvPr/>
        </p:nvSpPr>
        <p:spPr>
          <a:xfrm>
            <a:off x="473647" y="1537582"/>
            <a:ext cx="11485916" cy="4021998"/>
          </a:xfrm>
          <a:prstGeom prst="rect">
            <a:avLst/>
          </a:prstGeom>
          <a:noFill/>
        </p:spPr>
        <p:txBody>
          <a:bodyPr wrap="square">
            <a:spAutoFit/>
          </a:bodyPr>
          <a:lstStyle/>
          <a:p>
            <a:pPr algn="l">
              <a:lnSpc>
                <a:spcPct val="200000"/>
              </a:lnSpc>
            </a:pPr>
            <a:r>
              <a:rPr lang="en-US" sz="2400" b="1" i="0" u="none" strike="noStrike" baseline="0" dirty="0">
                <a:latin typeface="CMR10"/>
              </a:rPr>
              <a:t>First</a:t>
            </a:r>
            <a:r>
              <a:rPr lang="en-US" sz="2400" b="0" i="0" u="none" strike="noStrike" baseline="0" dirty="0">
                <a:latin typeface="CMR10"/>
              </a:rPr>
              <a:t>, </a:t>
            </a:r>
            <a:r>
              <a:rPr lang="en-US" sz="2000" b="0" i="0" u="none" strike="noStrike" baseline="0" dirty="0">
                <a:latin typeface="CMR10"/>
              </a:rPr>
              <a:t>the original TIME-IMM/ IMM-TSF forecasting framework was reproduced</a:t>
            </a:r>
          </a:p>
          <a:p>
            <a:pPr marL="285750" indent="-285750" algn="l">
              <a:lnSpc>
                <a:spcPct val="150000"/>
              </a:lnSpc>
              <a:buFont typeface="Arial" panose="020B0604020202020204" pitchFamily="34" charset="0"/>
              <a:buChar char="•"/>
            </a:pPr>
            <a:r>
              <a:rPr lang="en-US" dirty="0">
                <a:latin typeface="CMR10"/>
              </a:rPr>
              <a:t>U</a:t>
            </a:r>
            <a:r>
              <a:rPr lang="en-US" sz="1800" b="0" i="0" u="none" strike="noStrike" baseline="0" dirty="0">
                <a:latin typeface="CMR10"/>
              </a:rPr>
              <a:t>sing the official repository structure, preserving the modular pipeline consisting of an irregular time-series backbone, a timestamp-to-text fusion module, and a multimodality fusion module. </a:t>
            </a:r>
          </a:p>
          <a:p>
            <a:pPr marL="285750" indent="-285750" algn="l">
              <a:lnSpc>
                <a:spcPct val="150000"/>
              </a:lnSpc>
              <a:buFont typeface="Arial" panose="020B0604020202020204" pitchFamily="34" charset="0"/>
              <a:buChar char="•"/>
            </a:pPr>
            <a:r>
              <a:rPr lang="en-US" sz="1800" b="0" i="0" u="none" strike="noStrike" baseline="0" dirty="0">
                <a:latin typeface="CMR10"/>
              </a:rPr>
              <a:t>The addition of a reliability aware MMF gate, altering the GR-Add gate to make </a:t>
            </a:r>
          </a:p>
          <a:p>
            <a:pPr algn="l">
              <a:lnSpc>
                <a:spcPct val="200000"/>
              </a:lnSpc>
            </a:pPr>
            <a:r>
              <a:rPr lang="en-US" sz="2400" b="1" i="0" u="none" strike="noStrike" baseline="0" dirty="0">
                <a:latin typeface="CMR10"/>
              </a:rPr>
              <a:t>Second, </a:t>
            </a:r>
            <a:r>
              <a:rPr lang="en-US" sz="2000" b="0" i="0" u="none" strike="noStrike" baseline="0" dirty="0">
                <a:latin typeface="CMR10"/>
              </a:rPr>
              <a:t>framework extended from irregular multimodal forecasting to binary ICU readmission classification </a:t>
            </a:r>
          </a:p>
          <a:p>
            <a:pPr marL="285750" indent="-285750" algn="l">
              <a:lnSpc>
                <a:spcPct val="150000"/>
              </a:lnSpc>
              <a:buFont typeface="Arial" panose="020B0604020202020204" pitchFamily="34" charset="0"/>
              <a:buChar char="•"/>
            </a:pPr>
            <a:r>
              <a:rPr lang="en-US" sz="1800" b="0" i="0" u="none" strike="noStrike" baseline="0" dirty="0">
                <a:latin typeface="CMR10"/>
              </a:rPr>
              <a:t>On MIMIC-IV </a:t>
            </a:r>
            <a:r>
              <a:rPr lang="en-US" dirty="0">
                <a:latin typeface="CMR10"/>
              </a:rPr>
              <a:t>(with clinical notes)</a:t>
            </a:r>
          </a:p>
          <a:p>
            <a:pPr marL="285750" indent="-285750" algn="l">
              <a:lnSpc>
                <a:spcPct val="150000"/>
              </a:lnSpc>
              <a:buFont typeface="Arial" panose="020B0604020202020204" pitchFamily="34" charset="0"/>
              <a:buChar char="•"/>
            </a:pPr>
            <a:r>
              <a:rPr lang="en-US" dirty="0">
                <a:latin typeface="CMR10"/>
              </a:rPr>
              <a:t>R</a:t>
            </a:r>
            <a:r>
              <a:rPr lang="en-US" sz="1800" b="0" i="0" u="none" strike="noStrike" baseline="0" dirty="0">
                <a:latin typeface="CMR10"/>
              </a:rPr>
              <a:t>etaining core multimodal learning strategy </a:t>
            </a:r>
          </a:p>
          <a:p>
            <a:pPr marL="285750" indent="-285750" algn="l">
              <a:lnSpc>
                <a:spcPct val="150000"/>
              </a:lnSpc>
              <a:buFont typeface="Arial" panose="020B0604020202020204" pitchFamily="34" charset="0"/>
              <a:buChar char="•"/>
            </a:pPr>
            <a:r>
              <a:rPr lang="en-US" dirty="0">
                <a:latin typeface="CMR10"/>
              </a:rPr>
              <a:t>R</a:t>
            </a:r>
            <a:r>
              <a:rPr lang="en-US" sz="1800" b="0" i="0" u="none" strike="noStrike" baseline="0" dirty="0">
                <a:latin typeface="CMR10"/>
              </a:rPr>
              <a:t>eplacing the forecasting head with a binary classification head.</a:t>
            </a:r>
            <a:endParaRPr lang="en-US" dirty="0"/>
          </a:p>
        </p:txBody>
      </p:sp>
      <p:sp>
        <p:nvSpPr>
          <p:cNvPr id="4" name="Title 1">
            <a:extLst>
              <a:ext uri="{FF2B5EF4-FFF2-40B4-BE49-F238E27FC236}">
                <a16:creationId xmlns:a16="http://schemas.microsoft.com/office/drawing/2014/main" id="{5D778B69-A391-8C79-5641-E1367839B1EC}"/>
              </a:ext>
            </a:extLst>
          </p:cNvPr>
          <p:cNvSpPr txBox="1">
            <a:spLocks/>
          </p:cNvSpPr>
          <p:nvPr/>
        </p:nvSpPr>
        <p:spPr>
          <a:xfrm>
            <a:off x="1646221" y="401721"/>
            <a:ext cx="8333237" cy="132556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Our Project Methods Alteration and Extension:</a:t>
            </a:r>
          </a:p>
        </p:txBody>
      </p:sp>
    </p:spTree>
    <p:extLst>
      <p:ext uri="{BB962C8B-B14F-4D97-AF65-F5344CB8AC3E}">
        <p14:creationId xmlns:p14="http://schemas.microsoft.com/office/powerpoint/2010/main" val="523466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4CA866-F518-2120-FB1E-B2B5A68FD386}"/>
              </a:ext>
            </a:extLst>
          </p:cNvPr>
          <p:cNvPicPr>
            <a:picLocks noChangeAspect="1"/>
          </p:cNvPicPr>
          <p:nvPr/>
        </p:nvPicPr>
        <p:blipFill>
          <a:blip r:embed="rId2"/>
          <a:stretch>
            <a:fillRect/>
          </a:stretch>
        </p:blipFill>
        <p:spPr>
          <a:xfrm>
            <a:off x="470155" y="827269"/>
            <a:ext cx="2806844" cy="87634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348B64C2-CF26-ADAC-F8E3-57949EF1F4B6}"/>
              </a:ext>
            </a:extLst>
          </p:cNvPr>
          <p:cNvPicPr>
            <a:picLocks noChangeAspect="1"/>
          </p:cNvPicPr>
          <p:nvPr/>
        </p:nvPicPr>
        <p:blipFill>
          <a:blip r:embed="rId3"/>
          <a:stretch>
            <a:fillRect/>
          </a:stretch>
        </p:blipFill>
        <p:spPr>
          <a:xfrm>
            <a:off x="3878334" y="1172036"/>
            <a:ext cx="1657435" cy="46357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2A54A835-22BD-461E-6A55-3D6C5BDFD814}"/>
              </a:ext>
            </a:extLst>
          </p:cNvPr>
          <p:cNvPicPr>
            <a:picLocks noChangeAspect="1"/>
          </p:cNvPicPr>
          <p:nvPr/>
        </p:nvPicPr>
        <p:blipFill>
          <a:blip r:embed="rId4"/>
          <a:stretch>
            <a:fillRect/>
          </a:stretch>
        </p:blipFill>
        <p:spPr>
          <a:xfrm>
            <a:off x="6281271" y="1172036"/>
            <a:ext cx="1625684" cy="46357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8F963A6E-D31A-AAF2-B6B7-A6B3A33DE898}"/>
              </a:ext>
            </a:extLst>
          </p:cNvPr>
          <p:cNvSpPr txBox="1"/>
          <p:nvPr/>
        </p:nvSpPr>
        <p:spPr>
          <a:xfrm>
            <a:off x="648939" y="2642980"/>
            <a:ext cx="11088010" cy="4308872"/>
          </a:xfrm>
          <a:prstGeom prst="rect">
            <a:avLst/>
          </a:prstGeom>
          <a:solidFill>
            <a:srgbClr val="F7F5F0"/>
          </a:solidFill>
        </p:spPr>
        <p:txBody>
          <a:bodyPr wrap="square" rtlCol="0">
            <a:spAutoFit/>
          </a:bodyPr>
          <a:lstStyle/>
          <a:p>
            <a:r>
              <a:rPr lang="en-US" sz="3200" b="1" dirty="0"/>
              <a:t>The </a:t>
            </a:r>
            <a:r>
              <a:rPr lang="en-US" sz="3200" b="1" dirty="0" err="1"/>
              <a:t>github</a:t>
            </a:r>
            <a:r>
              <a:rPr lang="en-US" sz="3200" b="1" dirty="0"/>
              <a:t> based python reproduction workflow is:</a:t>
            </a:r>
          </a:p>
          <a:p>
            <a:pPr>
              <a:spcBef>
                <a:spcPts val="1200"/>
              </a:spcBef>
            </a:pPr>
            <a:r>
              <a:rPr lang="en-US" dirty="0"/>
              <a:t>Define experiment settings with </a:t>
            </a:r>
            <a:r>
              <a:rPr lang="en-US" dirty="0" err="1"/>
              <a:t>ReproRunConfig</a:t>
            </a:r>
            <a:r>
              <a:rPr lang="en-US" dirty="0"/>
              <a:t>. </a:t>
            </a:r>
          </a:p>
          <a:p>
            <a:pPr>
              <a:spcBef>
                <a:spcPts val="1200"/>
              </a:spcBef>
            </a:pPr>
            <a:r>
              <a:rPr lang="en-US" dirty="0"/>
              <a:t>Set filesystem paths with </a:t>
            </a:r>
            <a:r>
              <a:rPr lang="en-US" dirty="0" err="1"/>
              <a:t>RepoPaths</a:t>
            </a:r>
            <a:r>
              <a:rPr lang="en-US" dirty="0"/>
              <a:t>. </a:t>
            </a:r>
          </a:p>
          <a:p>
            <a:pPr>
              <a:spcBef>
                <a:spcPts val="1200"/>
              </a:spcBef>
            </a:pPr>
            <a:r>
              <a:rPr lang="en-US" dirty="0"/>
              <a:t>Patch evaluation.py using </a:t>
            </a:r>
            <a:r>
              <a:rPr lang="en-US" dirty="0" err="1"/>
              <a:t>patch_evaluation_for_empty_splits</a:t>
            </a:r>
            <a:r>
              <a:rPr lang="en-US" dirty="0"/>
              <a:t>() to safely handle empty validation or test splits. </a:t>
            </a:r>
          </a:p>
          <a:p>
            <a:pPr>
              <a:spcBef>
                <a:spcPts val="1200"/>
              </a:spcBef>
            </a:pPr>
            <a:r>
              <a:rPr lang="en-US" dirty="0"/>
              <a:t>Build dataset- and model-specific CLI commands with </a:t>
            </a:r>
            <a:r>
              <a:rPr lang="en-US" dirty="0" err="1"/>
              <a:t>build_main_command</a:t>
            </a:r>
            <a:r>
              <a:rPr lang="en-US" dirty="0"/>
              <a:t>(). </a:t>
            </a:r>
          </a:p>
          <a:p>
            <a:pPr>
              <a:spcBef>
                <a:spcPts val="1200"/>
              </a:spcBef>
            </a:pPr>
            <a:r>
              <a:rPr lang="en-US" dirty="0"/>
              <a:t>Execute the official forecasting run with </a:t>
            </a:r>
            <a:r>
              <a:rPr lang="en-US" dirty="0" err="1"/>
              <a:t>run_one</a:t>
            </a:r>
            <a:r>
              <a:rPr lang="en-US" dirty="0"/>
              <a:t>(). </a:t>
            </a:r>
          </a:p>
          <a:p>
            <a:pPr>
              <a:spcBef>
                <a:spcPts val="1200"/>
              </a:spcBef>
            </a:pPr>
            <a:r>
              <a:rPr lang="en-US" dirty="0"/>
              <a:t>Parse metrics from logs using </a:t>
            </a:r>
            <a:r>
              <a:rPr lang="en-US" dirty="0" err="1"/>
              <a:t>parse_metrics_from_log</a:t>
            </a:r>
            <a:r>
              <a:rPr lang="en-US" dirty="0"/>
              <a:t>(). </a:t>
            </a:r>
          </a:p>
          <a:p>
            <a:pPr>
              <a:spcBef>
                <a:spcPts val="1200"/>
              </a:spcBef>
            </a:pPr>
            <a:r>
              <a:rPr lang="en-US" dirty="0"/>
              <a:t>Aggregate all runs with </a:t>
            </a:r>
            <a:r>
              <a:rPr lang="en-US" dirty="0" err="1"/>
              <a:t>collect_results</a:t>
            </a:r>
            <a:r>
              <a:rPr lang="en-US" dirty="0"/>
              <a:t>(). </a:t>
            </a:r>
          </a:p>
          <a:p>
            <a:pPr>
              <a:spcBef>
                <a:spcPts val="1200"/>
              </a:spcBef>
            </a:pPr>
            <a:r>
              <a:rPr lang="en-US" dirty="0"/>
              <a:t>Compare MIMIC reproduction outputs against the paper using </a:t>
            </a:r>
            <a:r>
              <a:rPr lang="en-US" dirty="0" err="1"/>
              <a:t>build_mimic_comparison_table</a:t>
            </a:r>
            <a:r>
              <a:rPr lang="en-US" dirty="0"/>
              <a:t>().</a:t>
            </a:r>
          </a:p>
          <a:p>
            <a:endParaRPr lang="en-US" dirty="0"/>
          </a:p>
        </p:txBody>
      </p:sp>
      <p:sp>
        <p:nvSpPr>
          <p:cNvPr id="9" name="TextBox 8">
            <a:extLst>
              <a:ext uri="{FF2B5EF4-FFF2-40B4-BE49-F238E27FC236}">
                <a16:creationId xmlns:a16="http://schemas.microsoft.com/office/drawing/2014/main" id="{7423EFAF-0A11-D985-77EF-66329549F3B4}"/>
              </a:ext>
            </a:extLst>
          </p:cNvPr>
          <p:cNvSpPr txBox="1"/>
          <p:nvPr/>
        </p:nvSpPr>
        <p:spPr>
          <a:xfrm>
            <a:off x="277597" y="315562"/>
            <a:ext cx="2863404" cy="461665"/>
          </a:xfrm>
          <a:prstGeom prst="rect">
            <a:avLst/>
          </a:prstGeom>
          <a:noFill/>
        </p:spPr>
        <p:txBody>
          <a:bodyPr wrap="square" rtlCol="0">
            <a:spAutoFit/>
          </a:bodyPr>
          <a:lstStyle/>
          <a:p>
            <a:r>
              <a:rPr lang="en-US" sz="2400" b="1" dirty="0"/>
              <a:t>Forecasting:</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86EC092C-D3C9-DC7F-6E32-CD765143DBBF}"/>
                  </a:ext>
                </a:extLst>
              </p:cNvPr>
              <p:cNvSpPr txBox="1"/>
              <p:nvPr/>
            </p:nvSpPr>
            <p:spPr>
              <a:xfrm>
                <a:off x="204618" y="1740143"/>
                <a:ext cx="5479259" cy="790473"/>
              </a:xfrm>
              <a:prstGeom prst="rect">
                <a:avLst/>
              </a:prstGeom>
              <a:solidFill>
                <a:srgbClr val="F7F5F0"/>
              </a:solidFill>
            </p:spPr>
            <p:txBody>
              <a:bodyPr wrap="square" rtlCol="0">
                <a:spAutoFit/>
              </a:bodyPr>
              <a:lstStyle/>
              <a:p>
                <a14:m>
                  <m:oMath xmlns:m="http://schemas.openxmlformats.org/officeDocument/2006/math">
                    <m:sSubSup>
                      <m:sSubSupPr>
                        <m:ctrlPr>
                          <a:rPr lang="ar-AE"/>
                        </m:ctrlPr>
                      </m:sSubSupPr>
                      <m:e>
                        <m:r>
                          <a:rPr lang="ar-AE" i="1"/>
                          <m:t>𝑥</m:t>
                        </m:r>
                      </m:e>
                      <m:sub>
                        <m:r>
                          <a:rPr lang="ar-AE" i="1"/>
                          <m:t>𝑖</m:t>
                        </m:r>
                      </m:sub>
                      <m:sup>
                        <m:d>
                          <m:dPr>
                            <m:ctrlPr>
                              <a:rPr lang="ar-AE" i="1"/>
                            </m:ctrlPr>
                          </m:dPr>
                          <m:e>
                            <m:r>
                              <a:rPr lang="ar-AE" i="1"/>
                              <m:t>𝑛</m:t>
                            </m:r>
                          </m:e>
                        </m:d>
                      </m:sup>
                    </m:sSubSup>
                    <m:r>
                      <a:rPr lang="ar-AE"/>
                      <m:t>∈</m:t>
                    </m:r>
                    <m:r>
                      <a:rPr lang="ar-AE"/>
                      <m:t>ℝ</m:t>
                    </m:r>
                  </m:oMath>
                </a14:m>
                <a:r>
                  <a:rPr lang="en-US" dirty="0"/>
                  <a:t>is the observed value of variable </a:t>
                </a:r>
                <a14:m>
                  <m:oMath xmlns:m="http://schemas.openxmlformats.org/officeDocument/2006/math">
                    <m:r>
                      <a:rPr lang="en-US" i="1"/>
                      <m:t>𝑛</m:t>
                    </m:r>
                  </m:oMath>
                </a14:m>
                <a:r>
                  <a:rPr lang="en-US" dirty="0"/>
                  <a:t> at time </a:t>
                </a:r>
                <a14:m>
                  <m:oMath xmlns:m="http://schemas.openxmlformats.org/officeDocument/2006/math">
                    <m:sSubSup>
                      <m:sSubSupPr>
                        <m:ctrlPr>
                          <a:rPr lang="ar-AE"/>
                        </m:ctrlPr>
                      </m:sSubSupPr>
                      <m:e>
                        <m:r>
                          <a:rPr lang="ar-AE" i="1"/>
                          <m:t>𝑡</m:t>
                        </m:r>
                      </m:e>
                      <m:sub>
                        <m:r>
                          <a:rPr lang="ar-AE" i="1"/>
                          <m:t>𝑖</m:t>
                        </m:r>
                      </m:sub>
                      <m:sup>
                        <m:d>
                          <m:dPr>
                            <m:ctrlPr>
                              <a:rPr lang="ar-AE" i="1"/>
                            </m:ctrlPr>
                          </m:dPr>
                          <m:e>
                            <m:r>
                              <a:rPr lang="ar-AE" i="1"/>
                              <m:t>𝑛</m:t>
                            </m:r>
                          </m:e>
                        </m:d>
                      </m:sup>
                    </m:sSubSup>
                  </m:oMath>
                </a14:m>
                <a:r>
                  <a:rPr lang="ar-AE" dirty="0"/>
                  <a:t>,</a:t>
                </a:r>
                <a:r>
                  <a:rPr lang="en-US" dirty="0"/>
                  <a:t>and the observations are irregularly sampled. </a:t>
                </a:r>
              </a:p>
            </p:txBody>
          </p:sp>
        </mc:Choice>
        <mc:Fallback>
          <p:sp>
            <p:nvSpPr>
              <p:cNvPr id="10" name="TextBox 9">
                <a:extLst>
                  <a:ext uri="{FF2B5EF4-FFF2-40B4-BE49-F238E27FC236}">
                    <a16:creationId xmlns:a16="http://schemas.microsoft.com/office/drawing/2014/main" id="{86EC092C-D3C9-DC7F-6E32-CD765143DBBF}"/>
                  </a:ext>
                </a:extLst>
              </p:cNvPr>
              <p:cNvSpPr txBox="1">
                <a:spLocks noRot="1" noChangeAspect="1" noMove="1" noResize="1" noEditPoints="1" noAdjustHandles="1" noChangeArrowheads="1" noChangeShapeType="1" noTextEdit="1"/>
              </p:cNvSpPr>
              <p:nvPr/>
            </p:nvSpPr>
            <p:spPr>
              <a:xfrm>
                <a:off x="204618" y="1740143"/>
                <a:ext cx="5479259" cy="790473"/>
              </a:xfrm>
              <a:prstGeom prst="rect">
                <a:avLst/>
              </a:prstGeom>
              <a:blipFill>
                <a:blip r:embed="rId5"/>
                <a:stretch>
                  <a:fillRect b="-10769"/>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DC7EDB6A-41A3-1EC6-C99B-FB10C0F765D5}"/>
              </a:ext>
            </a:extLst>
          </p:cNvPr>
          <p:cNvSpPr txBox="1"/>
          <p:nvPr/>
        </p:nvSpPr>
        <p:spPr>
          <a:xfrm>
            <a:off x="3683358" y="799166"/>
            <a:ext cx="1938270" cy="369332"/>
          </a:xfrm>
          <a:prstGeom prst="rect">
            <a:avLst/>
          </a:prstGeom>
          <a:noFill/>
        </p:spPr>
        <p:txBody>
          <a:bodyPr wrap="square" rtlCol="0">
            <a:spAutoFit/>
          </a:bodyPr>
          <a:lstStyle/>
          <a:p>
            <a:r>
              <a:rPr lang="en-US" dirty="0"/>
              <a:t>Text Stream:</a:t>
            </a:r>
          </a:p>
        </p:txBody>
      </p:sp>
      <p:sp>
        <p:nvSpPr>
          <p:cNvPr id="12" name="TextBox 11">
            <a:extLst>
              <a:ext uri="{FF2B5EF4-FFF2-40B4-BE49-F238E27FC236}">
                <a16:creationId xmlns:a16="http://schemas.microsoft.com/office/drawing/2014/main" id="{15B81A4C-ABAC-96BF-7805-43A23AE6944B}"/>
              </a:ext>
            </a:extLst>
          </p:cNvPr>
          <p:cNvSpPr txBox="1"/>
          <p:nvPr/>
        </p:nvSpPr>
        <p:spPr>
          <a:xfrm>
            <a:off x="5683877" y="784440"/>
            <a:ext cx="3329862" cy="369332"/>
          </a:xfrm>
          <a:prstGeom prst="rect">
            <a:avLst/>
          </a:prstGeom>
          <a:noFill/>
        </p:spPr>
        <p:txBody>
          <a:bodyPr wrap="square" rtlCol="0">
            <a:spAutoFit/>
          </a:bodyPr>
          <a:lstStyle/>
          <a:p>
            <a:r>
              <a:rPr lang="en-US" dirty="0"/>
              <a:t>Original Forecasting Objective:</a:t>
            </a:r>
          </a:p>
        </p:txBody>
      </p:sp>
    </p:spTree>
    <p:extLst>
      <p:ext uri="{BB962C8B-B14F-4D97-AF65-F5344CB8AC3E}">
        <p14:creationId xmlns:p14="http://schemas.microsoft.com/office/powerpoint/2010/main" val="1755352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L-Shape 29">
            <a:extLst>
              <a:ext uri="{FF2B5EF4-FFF2-40B4-BE49-F238E27FC236}">
                <a16:creationId xmlns:a16="http://schemas.microsoft.com/office/drawing/2014/main" id="{D9872412-6A07-AFA5-C2B4-11D58587613A}"/>
              </a:ext>
            </a:extLst>
          </p:cNvPr>
          <p:cNvSpPr/>
          <p:nvPr/>
        </p:nvSpPr>
        <p:spPr>
          <a:xfrm>
            <a:off x="9543245" y="2401560"/>
            <a:ext cx="934875" cy="754615"/>
          </a:xfrm>
          <a:prstGeom prst="corner">
            <a:avLst>
              <a:gd name="adj1" fmla="val 18426"/>
              <a:gd name="adj2" fmla="val 22693"/>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8B13D79-9F0A-CB0C-3A1F-89CB3C760158}"/>
              </a:ext>
            </a:extLst>
          </p:cNvPr>
          <p:cNvSpPr/>
          <p:nvPr/>
        </p:nvSpPr>
        <p:spPr>
          <a:xfrm>
            <a:off x="10464085" y="2009104"/>
            <a:ext cx="1614883" cy="19769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75DC2FB5-CB78-62DF-0E4A-CFD3FE2E445B}"/>
              </a:ext>
            </a:extLst>
          </p:cNvPr>
          <p:cNvPicPr>
            <a:picLocks noChangeAspect="1"/>
          </p:cNvPicPr>
          <p:nvPr/>
        </p:nvPicPr>
        <p:blipFill>
          <a:blip r:embed="rId2"/>
          <a:stretch>
            <a:fillRect/>
          </a:stretch>
        </p:blipFill>
        <p:spPr>
          <a:xfrm>
            <a:off x="3286668" y="2102362"/>
            <a:ext cx="5112910" cy="30474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a:extLst>
              <a:ext uri="{FF2B5EF4-FFF2-40B4-BE49-F238E27FC236}">
                <a16:creationId xmlns:a16="http://schemas.microsoft.com/office/drawing/2014/main" id="{8D5998D3-8D47-98E1-8192-CF57E5D1C0DA}"/>
              </a:ext>
            </a:extLst>
          </p:cNvPr>
          <p:cNvSpPr txBox="1"/>
          <p:nvPr/>
        </p:nvSpPr>
        <p:spPr>
          <a:xfrm>
            <a:off x="810545" y="5409897"/>
            <a:ext cx="10570909" cy="923330"/>
          </a:xfrm>
          <a:prstGeom prst="rect">
            <a:avLst/>
          </a:prstGeom>
          <a:solidFill>
            <a:schemeClr val="accent6">
              <a:lumMod val="20000"/>
              <a:lumOff val="80000"/>
            </a:schemeClr>
          </a:solidFill>
          <a:ln>
            <a:solidFill>
              <a:srgbClr val="00B050"/>
            </a:solidFill>
          </a:ln>
        </p:spPr>
        <p:txBody>
          <a:bodyPr wrap="square" rtlCol="0">
            <a:spAutoFit/>
          </a:bodyPr>
          <a:lstStyle/>
          <a:p>
            <a:pPr algn="ctr"/>
            <a:r>
              <a:rPr lang="en-US" b="1" dirty="0"/>
              <a:t>GR-Add already learns how to blend text into the forecast, but it does so implicitly from hidden features. Our extension would make that gating decision more explicit by providing the gate with reliability signals that reflect whether the note stream is likely to be useful at that forecast time.</a:t>
            </a:r>
          </a:p>
        </p:txBody>
      </p:sp>
      <p:pic>
        <p:nvPicPr>
          <p:cNvPr id="5" name="Picture 4">
            <a:extLst>
              <a:ext uri="{FF2B5EF4-FFF2-40B4-BE49-F238E27FC236}">
                <a16:creationId xmlns:a16="http://schemas.microsoft.com/office/drawing/2014/main" id="{0435E76A-CBF3-7F9D-7B22-B52F53E66914}"/>
              </a:ext>
            </a:extLst>
          </p:cNvPr>
          <p:cNvPicPr>
            <a:picLocks noChangeAspect="1"/>
          </p:cNvPicPr>
          <p:nvPr/>
        </p:nvPicPr>
        <p:blipFill>
          <a:blip r:embed="rId3"/>
          <a:stretch>
            <a:fillRect/>
          </a:stretch>
        </p:blipFill>
        <p:spPr>
          <a:xfrm>
            <a:off x="267719" y="523555"/>
            <a:ext cx="11656562" cy="1329043"/>
          </a:xfrm>
          <a:prstGeom prst="rect">
            <a:avLst/>
          </a:prstGeom>
          <a:ln>
            <a:noFill/>
          </a:ln>
          <a:effectLst>
            <a:outerShdw blurRad="292100" dist="139700" dir="2700000" algn="tl" rotWithShape="0">
              <a:srgbClr val="333333">
                <a:alpha val="65000"/>
              </a:srgbClr>
            </a:outerShdw>
          </a:effectLst>
        </p:spPr>
      </p:pic>
      <p:sp>
        <p:nvSpPr>
          <p:cNvPr id="6" name="Shape 19">
            <a:extLst>
              <a:ext uri="{FF2B5EF4-FFF2-40B4-BE49-F238E27FC236}">
                <a16:creationId xmlns:a16="http://schemas.microsoft.com/office/drawing/2014/main" id="{0B5B40E0-482B-4057-3933-BB9069DB9492}"/>
              </a:ext>
            </a:extLst>
          </p:cNvPr>
          <p:cNvSpPr/>
          <p:nvPr/>
        </p:nvSpPr>
        <p:spPr>
          <a:xfrm>
            <a:off x="10588365" y="2606426"/>
            <a:ext cx="1353312" cy="292608"/>
          </a:xfrm>
          <a:prstGeom prst="roundRect">
            <a:avLst>
              <a:gd name="adj" fmla="val 18750"/>
            </a:avLst>
          </a:prstGeom>
          <a:solidFill>
            <a:srgbClr val="F7F0E2"/>
          </a:solidFill>
          <a:ln w="12700">
            <a:solidFill>
              <a:srgbClr val="C39A57"/>
            </a:solidFill>
            <a:prstDash val="solid"/>
          </a:ln>
        </p:spPr>
        <p:txBody>
          <a:bodyPr/>
          <a:lstStyle/>
          <a:p>
            <a:endParaRPr lang="en-US"/>
          </a:p>
        </p:txBody>
      </p:sp>
      <p:sp>
        <p:nvSpPr>
          <p:cNvPr id="7" name="Text 20">
            <a:extLst>
              <a:ext uri="{FF2B5EF4-FFF2-40B4-BE49-F238E27FC236}">
                <a16:creationId xmlns:a16="http://schemas.microsoft.com/office/drawing/2014/main" id="{97EECB99-C033-B029-0338-BFA75EF75161}"/>
              </a:ext>
            </a:extLst>
          </p:cNvPr>
          <p:cNvSpPr/>
          <p:nvPr/>
        </p:nvSpPr>
        <p:spPr>
          <a:xfrm>
            <a:off x="10652373" y="2711245"/>
            <a:ext cx="1225296" cy="109728"/>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Note density</a:t>
            </a:r>
            <a:endParaRPr lang="en-US" sz="1170" dirty="0"/>
          </a:p>
        </p:txBody>
      </p:sp>
      <p:sp>
        <p:nvSpPr>
          <p:cNvPr id="8" name="Shape 23">
            <a:extLst>
              <a:ext uri="{FF2B5EF4-FFF2-40B4-BE49-F238E27FC236}">
                <a16:creationId xmlns:a16="http://schemas.microsoft.com/office/drawing/2014/main" id="{E9F937F8-C6B4-76DA-55F6-5A092452CF05}"/>
              </a:ext>
            </a:extLst>
          </p:cNvPr>
          <p:cNvSpPr/>
          <p:nvPr/>
        </p:nvSpPr>
        <p:spPr>
          <a:xfrm>
            <a:off x="10670275" y="3064342"/>
            <a:ext cx="1234440" cy="292608"/>
          </a:xfrm>
          <a:prstGeom prst="roundRect">
            <a:avLst>
              <a:gd name="adj" fmla="val 18750"/>
            </a:avLst>
          </a:prstGeom>
          <a:solidFill>
            <a:srgbClr val="F7E8E6"/>
          </a:solidFill>
          <a:ln w="12700">
            <a:solidFill>
              <a:srgbClr val="D97B73"/>
            </a:solidFill>
            <a:prstDash val="solid"/>
          </a:ln>
        </p:spPr>
        <p:txBody>
          <a:bodyPr/>
          <a:lstStyle/>
          <a:p>
            <a:endParaRPr lang="en-US"/>
          </a:p>
        </p:txBody>
      </p:sp>
      <p:sp>
        <p:nvSpPr>
          <p:cNvPr id="9" name="Text 24">
            <a:extLst>
              <a:ext uri="{FF2B5EF4-FFF2-40B4-BE49-F238E27FC236}">
                <a16:creationId xmlns:a16="http://schemas.microsoft.com/office/drawing/2014/main" id="{5298884D-E2FB-2E14-E7DB-5E419D3FF037}"/>
              </a:ext>
            </a:extLst>
          </p:cNvPr>
          <p:cNvSpPr/>
          <p:nvPr/>
        </p:nvSpPr>
        <p:spPr>
          <a:xfrm>
            <a:off x="10642843" y="3126204"/>
            <a:ext cx="1280160" cy="160463"/>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TS-text alignment</a:t>
            </a:r>
            <a:endParaRPr lang="en-US" sz="1170" dirty="0"/>
          </a:p>
        </p:txBody>
      </p:sp>
      <p:sp>
        <p:nvSpPr>
          <p:cNvPr id="10" name="Shape 17">
            <a:extLst>
              <a:ext uri="{FF2B5EF4-FFF2-40B4-BE49-F238E27FC236}">
                <a16:creationId xmlns:a16="http://schemas.microsoft.com/office/drawing/2014/main" id="{757B0CFF-B88F-5F72-1D8A-D04AF1937123}"/>
              </a:ext>
            </a:extLst>
          </p:cNvPr>
          <p:cNvSpPr/>
          <p:nvPr/>
        </p:nvSpPr>
        <p:spPr>
          <a:xfrm>
            <a:off x="10652373" y="2163114"/>
            <a:ext cx="1097280" cy="292608"/>
          </a:xfrm>
          <a:prstGeom prst="roundRect">
            <a:avLst>
              <a:gd name="adj" fmla="val 18750"/>
            </a:avLst>
          </a:prstGeom>
          <a:solidFill>
            <a:srgbClr val="EAF1F8"/>
          </a:solidFill>
          <a:ln w="12700">
            <a:solidFill>
              <a:srgbClr val="5D89B3"/>
            </a:solidFill>
            <a:prstDash val="solid"/>
          </a:ln>
        </p:spPr>
        <p:txBody>
          <a:bodyPr/>
          <a:lstStyle/>
          <a:p>
            <a:endParaRPr lang="en-US"/>
          </a:p>
        </p:txBody>
      </p:sp>
      <p:sp>
        <p:nvSpPr>
          <p:cNvPr id="11" name="Text 18">
            <a:extLst>
              <a:ext uri="{FF2B5EF4-FFF2-40B4-BE49-F238E27FC236}">
                <a16:creationId xmlns:a16="http://schemas.microsoft.com/office/drawing/2014/main" id="{CD9EECA5-FA33-D691-04AA-BD4FBDF9B83A}"/>
              </a:ext>
            </a:extLst>
          </p:cNvPr>
          <p:cNvSpPr/>
          <p:nvPr/>
        </p:nvSpPr>
        <p:spPr>
          <a:xfrm>
            <a:off x="10716381" y="2255583"/>
            <a:ext cx="969264" cy="109728"/>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Recency</a:t>
            </a:r>
            <a:endParaRPr lang="en-US" sz="1170" dirty="0"/>
          </a:p>
        </p:txBody>
      </p:sp>
      <p:sp>
        <p:nvSpPr>
          <p:cNvPr id="12" name="Shape 21">
            <a:extLst>
              <a:ext uri="{FF2B5EF4-FFF2-40B4-BE49-F238E27FC236}">
                <a16:creationId xmlns:a16="http://schemas.microsoft.com/office/drawing/2014/main" id="{D5FBB3E3-C77B-66D8-3D4B-0EEB8CAE2E15}"/>
              </a:ext>
            </a:extLst>
          </p:cNvPr>
          <p:cNvSpPr/>
          <p:nvPr/>
        </p:nvSpPr>
        <p:spPr>
          <a:xfrm>
            <a:off x="10662409" y="3540047"/>
            <a:ext cx="1261872" cy="292608"/>
          </a:xfrm>
          <a:prstGeom prst="roundRect">
            <a:avLst>
              <a:gd name="adj" fmla="val 18750"/>
            </a:avLst>
          </a:prstGeom>
          <a:solidFill>
            <a:srgbClr val="E8F2F1"/>
          </a:solidFill>
          <a:ln w="12700">
            <a:solidFill>
              <a:srgbClr val="3B7C8F"/>
            </a:solidFill>
            <a:prstDash val="solid"/>
          </a:ln>
        </p:spPr>
        <p:txBody>
          <a:bodyPr/>
          <a:lstStyle/>
          <a:p>
            <a:endParaRPr lang="en-US"/>
          </a:p>
        </p:txBody>
      </p:sp>
      <p:sp>
        <p:nvSpPr>
          <p:cNvPr id="13" name="Text 22">
            <a:extLst>
              <a:ext uri="{FF2B5EF4-FFF2-40B4-BE49-F238E27FC236}">
                <a16:creationId xmlns:a16="http://schemas.microsoft.com/office/drawing/2014/main" id="{97F50C0D-1A66-9B80-FD03-A7EA287E5806}"/>
              </a:ext>
            </a:extLst>
          </p:cNvPr>
          <p:cNvSpPr/>
          <p:nvPr/>
        </p:nvSpPr>
        <p:spPr>
          <a:xfrm>
            <a:off x="10726417" y="3626077"/>
            <a:ext cx="1133856" cy="109728"/>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Missingness</a:t>
            </a:r>
            <a:endParaRPr lang="en-US" sz="1170" dirty="0"/>
          </a:p>
        </p:txBody>
      </p:sp>
      <p:cxnSp>
        <p:nvCxnSpPr>
          <p:cNvPr id="17" name="Straight Arrow Connector 16">
            <a:extLst>
              <a:ext uri="{FF2B5EF4-FFF2-40B4-BE49-F238E27FC236}">
                <a16:creationId xmlns:a16="http://schemas.microsoft.com/office/drawing/2014/main" id="{67A6BAC5-06C2-0D51-169E-99596DA95552}"/>
              </a:ext>
            </a:extLst>
          </p:cNvPr>
          <p:cNvCxnSpPr>
            <a:cxnSpLocks/>
          </p:cNvCxnSpPr>
          <p:nvPr/>
        </p:nvCxnSpPr>
        <p:spPr>
          <a:xfrm flipH="1">
            <a:off x="6986279" y="2156360"/>
            <a:ext cx="1900144" cy="84119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33266655-C09D-A17F-DA15-5F3DEB57C482}"/>
              </a:ext>
            </a:extLst>
          </p:cNvPr>
          <p:cNvSpPr/>
          <p:nvPr/>
        </p:nvSpPr>
        <p:spPr>
          <a:xfrm>
            <a:off x="8752610" y="2009104"/>
            <a:ext cx="1614883" cy="439864"/>
          </a:xfrm>
          <a:prstGeom prst="roundRect">
            <a:avLst/>
          </a:prstGeom>
          <a:solidFill>
            <a:srgbClr val="DED5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 18">
            <a:extLst>
              <a:ext uri="{FF2B5EF4-FFF2-40B4-BE49-F238E27FC236}">
                <a16:creationId xmlns:a16="http://schemas.microsoft.com/office/drawing/2014/main" id="{D6E70895-BB38-9D53-9151-56B0B597E7C2}"/>
              </a:ext>
            </a:extLst>
          </p:cNvPr>
          <p:cNvSpPr/>
          <p:nvPr/>
        </p:nvSpPr>
        <p:spPr>
          <a:xfrm>
            <a:off x="8794724" y="2185222"/>
            <a:ext cx="1507344" cy="110151"/>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GR-Add to RA-</a:t>
            </a:r>
            <a:r>
              <a:rPr lang="en-US" sz="1170" b="1" dirty="0" err="1">
                <a:solidFill>
                  <a:srgbClr val="11263F"/>
                </a:solidFill>
                <a:latin typeface="Aptos" pitchFamily="34" charset="0"/>
                <a:ea typeface="Aptos" pitchFamily="34" charset="-122"/>
                <a:cs typeface="Aptos" pitchFamily="34" charset="-120"/>
              </a:rPr>
              <a:t>GRAdd</a:t>
            </a:r>
            <a:r>
              <a:rPr lang="en-US" sz="1170" b="1" dirty="0">
                <a:solidFill>
                  <a:srgbClr val="11263F"/>
                </a:solidFill>
                <a:latin typeface="Aptos" pitchFamily="34" charset="0"/>
                <a:ea typeface="Aptos" pitchFamily="34" charset="-122"/>
                <a:cs typeface="Aptos" pitchFamily="34" charset="-120"/>
              </a:rPr>
              <a:t>:</a:t>
            </a:r>
            <a:endParaRPr lang="en-US" sz="1170" dirty="0"/>
          </a:p>
        </p:txBody>
      </p:sp>
      <p:sp>
        <p:nvSpPr>
          <p:cNvPr id="28" name="Title 1">
            <a:extLst>
              <a:ext uri="{FF2B5EF4-FFF2-40B4-BE49-F238E27FC236}">
                <a16:creationId xmlns:a16="http://schemas.microsoft.com/office/drawing/2014/main" id="{3F80C9EF-D35C-ACC3-7D59-98FC89A88E83}"/>
              </a:ext>
            </a:extLst>
          </p:cNvPr>
          <p:cNvSpPr txBox="1">
            <a:spLocks/>
          </p:cNvSpPr>
          <p:nvPr/>
        </p:nvSpPr>
        <p:spPr>
          <a:xfrm>
            <a:off x="310803" y="2401560"/>
            <a:ext cx="2678481" cy="132556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Methods Alteration:</a:t>
            </a:r>
          </a:p>
        </p:txBody>
      </p:sp>
    </p:spTree>
    <p:extLst>
      <p:ext uri="{BB962C8B-B14F-4D97-AF65-F5344CB8AC3E}">
        <p14:creationId xmlns:p14="http://schemas.microsoft.com/office/powerpoint/2010/main" val="1230597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55C0C6-6A94-F034-6E16-AAD8F72A25B0}"/>
              </a:ext>
            </a:extLst>
          </p:cNvPr>
          <p:cNvSpPr txBox="1"/>
          <p:nvPr/>
        </p:nvSpPr>
        <p:spPr>
          <a:xfrm>
            <a:off x="747746" y="673995"/>
            <a:ext cx="10696506" cy="3231654"/>
          </a:xfrm>
          <a:prstGeom prst="rect">
            <a:avLst/>
          </a:prstGeom>
          <a:noFill/>
        </p:spPr>
        <p:txBody>
          <a:bodyPr wrap="square">
            <a:spAutoFit/>
          </a:bodyPr>
          <a:lstStyle/>
          <a:p>
            <a:pPr algn="l"/>
            <a:r>
              <a:rPr lang="en-US" sz="2400" b="1" i="0" u="none" strike="noStrike" baseline="0" dirty="0">
                <a:latin typeface="CMR10"/>
              </a:rPr>
              <a:t>The GR-Add module formed a residual update to the structured representation.</a:t>
            </a:r>
          </a:p>
          <a:p>
            <a:pPr algn="l"/>
            <a:endParaRPr lang="en-US" sz="1800" b="0" i="0" u="none" strike="noStrike" baseline="0" dirty="0">
              <a:latin typeface="CMR10"/>
            </a:endParaRPr>
          </a:p>
          <a:p>
            <a:pPr algn="l"/>
            <a:endParaRPr lang="en-US" sz="1800" b="1" i="0" u="none" strike="noStrike" baseline="0" dirty="0">
              <a:latin typeface="CMR10"/>
            </a:endParaRPr>
          </a:p>
          <a:p>
            <a:pPr algn="l"/>
            <a:endParaRPr lang="en-US" b="1" dirty="0">
              <a:latin typeface="CMR10"/>
            </a:endParaRPr>
          </a:p>
          <a:p>
            <a:pPr algn="l"/>
            <a:r>
              <a:rPr lang="en-US" sz="1800" b="1" i="0" u="none" strike="noStrike" baseline="0" dirty="0">
                <a:latin typeface="CMR10"/>
              </a:rPr>
              <a:t>The pair (</a:t>
            </a:r>
            <a:r>
              <a:rPr lang="en-US" sz="1800" b="1" i="0" u="none" strike="noStrike" baseline="0" dirty="0" err="1">
                <a:latin typeface="CMMI10"/>
              </a:rPr>
              <a:t>h</a:t>
            </a:r>
            <a:r>
              <a:rPr lang="en-US" sz="800" b="1" i="0" u="none" strike="noStrike" baseline="0" dirty="0" err="1">
                <a:latin typeface="CMMI7"/>
              </a:rPr>
              <a:t>ts</a:t>
            </a:r>
            <a:r>
              <a:rPr lang="en-US" sz="1800" b="1" i="0" u="none" strike="noStrike" baseline="0" dirty="0">
                <a:latin typeface="CMMI10"/>
              </a:rPr>
              <a:t>, </a:t>
            </a:r>
            <a:r>
              <a:rPr lang="en-US" sz="1800" b="1" i="0" u="none" strike="noStrike" baseline="0" dirty="0" err="1">
                <a:latin typeface="CMMI10"/>
              </a:rPr>
              <a:t>h</a:t>
            </a:r>
            <a:r>
              <a:rPr lang="en-US" sz="800" b="1" i="0" u="none" strike="noStrike" baseline="0" dirty="0" err="1">
                <a:latin typeface="CMMI7"/>
              </a:rPr>
              <a:t>txt</a:t>
            </a:r>
            <a:r>
              <a:rPr lang="en-US" sz="1800" b="1" i="0" u="none" strike="noStrike" baseline="0" dirty="0">
                <a:latin typeface="CMR10"/>
              </a:rPr>
              <a:t>) was processed sequentially through a recurrent unit:</a:t>
            </a:r>
          </a:p>
          <a:p>
            <a:pPr algn="l"/>
            <a:endParaRPr lang="en-US" sz="1800" b="1" i="0" u="none" strike="noStrike" baseline="0" dirty="0">
              <a:latin typeface="CMR10"/>
            </a:endParaRPr>
          </a:p>
          <a:p>
            <a:pPr algn="l"/>
            <a:endParaRPr lang="en-US" dirty="0">
              <a:latin typeface="CMR10"/>
            </a:endParaRPr>
          </a:p>
          <a:p>
            <a:pPr algn="l"/>
            <a:r>
              <a:rPr lang="en-US" sz="1800" b="1" i="0" u="none" strike="noStrike" baseline="0" dirty="0">
                <a:latin typeface="CMR10"/>
              </a:rPr>
              <a:t>A residual candidate was computed:</a:t>
            </a:r>
          </a:p>
          <a:p>
            <a:pPr algn="l"/>
            <a:endParaRPr lang="en-US" b="1" dirty="0">
              <a:latin typeface="CMR10"/>
            </a:endParaRPr>
          </a:p>
          <a:p>
            <a:pPr algn="l"/>
            <a:endParaRPr lang="en-US" b="1" dirty="0">
              <a:latin typeface="CMR10"/>
            </a:endParaRPr>
          </a:p>
          <a:p>
            <a:r>
              <a:rPr lang="en-US" b="1" dirty="0"/>
              <a:t>A gate learned from the concatenated modalities:</a:t>
            </a:r>
            <a:endParaRPr lang="en-US" sz="1800" b="1" i="0" u="none" strike="noStrike" baseline="0" dirty="0">
              <a:latin typeface="CMR10"/>
            </a:endParaRPr>
          </a:p>
        </p:txBody>
      </p:sp>
      <p:pic>
        <p:nvPicPr>
          <p:cNvPr id="9" name="Picture 8">
            <a:extLst>
              <a:ext uri="{FF2B5EF4-FFF2-40B4-BE49-F238E27FC236}">
                <a16:creationId xmlns:a16="http://schemas.microsoft.com/office/drawing/2014/main" id="{58830F20-AE11-F305-AFFA-16F0D76969AC}"/>
              </a:ext>
            </a:extLst>
          </p:cNvPr>
          <p:cNvPicPr>
            <a:picLocks noChangeAspect="1"/>
          </p:cNvPicPr>
          <p:nvPr/>
        </p:nvPicPr>
        <p:blipFill>
          <a:blip r:embed="rId2"/>
          <a:stretch>
            <a:fillRect/>
          </a:stretch>
        </p:blipFill>
        <p:spPr>
          <a:xfrm>
            <a:off x="8080564" y="1729084"/>
            <a:ext cx="2735778" cy="665460"/>
          </a:xfrm>
          <a:prstGeom prst="rect">
            <a:avLst/>
          </a:prstGeom>
        </p:spPr>
      </p:pic>
      <p:pic>
        <p:nvPicPr>
          <p:cNvPr id="11" name="Picture 10">
            <a:extLst>
              <a:ext uri="{FF2B5EF4-FFF2-40B4-BE49-F238E27FC236}">
                <a16:creationId xmlns:a16="http://schemas.microsoft.com/office/drawing/2014/main" id="{597F84FF-C7AA-C769-0E3C-C539085EB7AC}"/>
              </a:ext>
            </a:extLst>
          </p:cNvPr>
          <p:cNvPicPr>
            <a:picLocks noChangeAspect="1"/>
          </p:cNvPicPr>
          <p:nvPr/>
        </p:nvPicPr>
        <p:blipFill>
          <a:blip r:embed="rId3"/>
          <a:stretch>
            <a:fillRect/>
          </a:stretch>
        </p:blipFill>
        <p:spPr>
          <a:xfrm>
            <a:off x="4466048" y="2589534"/>
            <a:ext cx="2245765" cy="559112"/>
          </a:xfrm>
          <a:prstGeom prst="rect">
            <a:avLst/>
          </a:prstGeom>
        </p:spPr>
      </p:pic>
      <p:pic>
        <p:nvPicPr>
          <p:cNvPr id="13" name="Picture 12">
            <a:extLst>
              <a:ext uri="{FF2B5EF4-FFF2-40B4-BE49-F238E27FC236}">
                <a16:creationId xmlns:a16="http://schemas.microsoft.com/office/drawing/2014/main" id="{3CD4DED3-735C-7E0E-E31C-8CB7E6BA3D4A}"/>
              </a:ext>
            </a:extLst>
          </p:cNvPr>
          <p:cNvPicPr>
            <a:picLocks noChangeAspect="1"/>
          </p:cNvPicPr>
          <p:nvPr/>
        </p:nvPicPr>
        <p:blipFill>
          <a:blip r:embed="rId4"/>
          <a:stretch>
            <a:fillRect/>
          </a:stretch>
        </p:blipFill>
        <p:spPr>
          <a:xfrm>
            <a:off x="6254411" y="3346538"/>
            <a:ext cx="3108993" cy="559111"/>
          </a:xfrm>
          <a:prstGeom prst="rect">
            <a:avLst/>
          </a:prstGeom>
        </p:spPr>
      </p:pic>
      <p:pic>
        <p:nvPicPr>
          <p:cNvPr id="15" name="Picture 14">
            <a:extLst>
              <a:ext uri="{FF2B5EF4-FFF2-40B4-BE49-F238E27FC236}">
                <a16:creationId xmlns:a16="http://schemas.microsoft.com/office/drawing/2014/main" id="{E8F74984-E1C5-8BF3-D7CD-08D64636C604}"/>
              </a:ext>
            </a:extLst>
          </p:cNvPr>
          <p:cNvPicPr>
            <a:picLocks noChangeAspect="1"/>
          </p:cNvPicPr>
          <p:nvPr/>
        </p:nvPicPr>
        <p:blipFill>
          <a:blip r:embed="rId5"/>
          <a:stretch>
            <a:fillRect/>
          </a:stretch>
        </p:blipFill>
        <p:spPr>
          <a:xfrm>
            <a:off x="1108354" y="4592394"/>
            <a:ext cx="2519757" cy="488525"/>
          </a:xfrm>
          <a:prstGeom prst="rect">
            <a:avLst/>
          </a:prstGeom>
        </p:spPr>
      </p:pic>
      <p:sp>
        <p:nvSpPr>
          <p:cNvPr id="16" name="TextBox 15">
            <a:extLst>
              <a:ext uri="{FF2B5EF4-FFF2-40B4-BE49-F238E27FC236}">
                <a16:creationId xmlns:a16="http://schemas.microsoft.com/office/drawing/2014/main" id="{5259C53C-C106-B5FF-FC43-6884E09713F9}"/>
              </a:ext>
            </a:extLst>
          </p:cNvPr>
          <p:cNvSpPr txBox="1"/>
          <p:nvPr/>
        </p:nvSpPr>
        <p:spPr>
          <a:xfrm>
            <a:off x="747746" y="4186487"/>
            <a:ext cx="3108993" cy="369332"/>
          </a:xfrm>
          <a:prstGeom prst="rect">
            <a:avLst/>
          </a:prstGeom>
          <a:noFill/>
        </p:spPr>
        <p:txBody>
          <a:bodyPr wrap="square" rtlCol="0">
            <a:spAutoFit/>
          </a:bodyPr>
          <a:lstStyle/>
          <a:p>
            <a:r>
              <a:rPr lang="en-US" b="1" dirty="0"/>
              <a:t>Fused Representation:</a:t>
            </a:r>
          </a:p>
        </p:txBody>
      </p:sp>
    </p:spTree>
    <p:extLst>
      <p:ext uri="{BB962C8B-B14F-4D97-AF65-F5344CB8AC3E}">
        <p14:creationId xmlns:p14="http://schemas.microsoft.com/office/powerpoint/2010/main" val="1237380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436928-4AF7-BB71-7855-BF07DCF0BF50}"/>
              </a:ext>
            </a:extLst>
          </p:cNvPr>
          <p:cNvSpPr txBox="1"/>
          <p:nvPr/>
        </p:nvSpPr>
        <p:spPr>
          <a:xfrm>
            <a:off x="425003" y="665882"/>
            <a:ext cx="10305647" cy="1631216"/>
          </a:xfrm>
          <a:prstGeom prst="rect">
            <a:avLst/>
          </a:prstGeom>
          <a:noFill/>
        </p:spPr>
        <p:txBody>
          <a:bodyPr wrap="square">
            <a:spAutoFit/>
          </a:bodyPr>
          <a:lstStyle/>
          <a:p>
            <a:r>
              <a:rPr lang="en-US" sz="2800" b="1" dirty="0"/>
              <a:t>Extension introduced an explicit reliability-aware gate:</a:t>
            </a:r>
          </a:p>
          <a:p>
            <a:r>
              <a:rPr lang="en-US" dirty="0"/>
              <a:t> </a:t>
            </a:r>
          </a:p>
          <a:p>
            <a:pPr marL="285750" indent="-285750">
              <a:buFont typeface="Arial" panose="020B0604020202020204" pitchFamily="34" charset="0"/>
              <a:buChar char="•"/>
            </a:pPr>
            <a:r>
              <a:rPr lang="en-US" dirty="0"/>
              <a:t>Instead of letting the gate depend only on latent structured and text features, it additionally incorporates observable indicators describing whether the note stream should influence prediction. The reliability vector:</a:t>
            </a:r>
          </a:p>
        </p:txBody>
      </p:sp>
      <p:pic>
        <p:nvPicPr>
          <p:cNvPr id="5" name="Picture 4">
            <a:extLst>
              <a:ext uri="{FF2B5EF4-FFF2-40B4-BE49-F238E27FC236}">
                <a16:creationId xmlns:a16="http://schemas.microsoft.com/office/drawing/2014/main" id="{962ACCBA-9BFD-3665-B36A-0BC43C39F721}"/>
              </a:ext>
            </a:extLst>
          </p:cNvPr>
          <p:cNvPicPr>
            <a:picLocks noChangeAspect="1"/>
          </p:cNvPicPr>
          <p:nvPr/>
        </p:nvPicPr>
        <p:blipFill>
          <a:blip r:embed="rId2"/>
          <a:stretch>
            <a:fillRect/>
          </a:stretch>
        </p:blipFill>
        <p:spPr>
          <a:xfrm>
            <a:off x="2194465" y="2297098"/>
            <a:ext cx="7137068" cy="538462"/>
          </a:xfrm>
          <a:prstGeom prst="rect">
            <a:avLst/>
          </a:prstGeom>
        </p:spPr>
      </p:pic>
      <p:pic>
        <p:nvPicPr>
          <p:cNvPr id="7" name="Picture 6">
            <a:extLst>
              <a:ext uri="{FF2B5EF4-FFF2-40B4-BE49-F238E27FC236}">
                <a16:creationId xmlns:a16="http://schemas.microsoft.com/office/drawing/2014/main" id="{19214619-6E64-B9EE-2792-611D1C4BC057}"/>
              </a:ext>
            </a:extLst>
          </p:cNvPr>
          <p:cNvPicPr>
            <a:picLocks noChangeAspect="1"/>
          </p:cNvPicPr>
          <p:nvPr/>
        </p:nvPicPr>
        <p:blipFill>
          <a:blip r:embed="rId3"/>
          <a:stretch>
            <a:fillRect/>
          </a:stretch>
        </p:blipFill>
        <p:spPr>
          <a:xfrm>
            <a:off x="505386" y="3234033"/>
            <a:ext cx="2795505" cy="822655"/>
          </a:xfrm>
          <a:prstGeom prst="rect">
            <a:avLst/>
          </a:prstGeom>
        </p:spPr>
      </p:pic>
      <p:pic>
        <p:nvPicPr>
          <p:cNvPr id="9" name="Picture 8">
            <a:extLst>
              <a:ext uri="{FF2B5EF4-FFF2-40B4-BE49-F238E27FC236}">
                <a16:creationId xmlns:a16="http://schemas.microsoft.com/office/drawing/2014/main" id="{0F88CE88-FD98-A5FE-BE9F-4E7081DC7D3B}"/>
              </a:ext>
            </a:extLst>
          </p:cNvPr>
          <p:cNvPicPr>
            <a:picLocks noChangeAspect="1"/>
          </p:cNvPicPr>
          <p:nvPr/>
        </p:nvPicPr>
        <p:blipFill>
          <a:blip r:embed="rId4"/>
          <a:stretch>
            <a:fillRect/>
          </a:stretch>
        </p:blipFill>
        <p:spPr>
          <a:xfrm>
            <a:off x="6763552" y="3792829"/>
            <a:ext cx="4157167" cy="686035"/>
          </a:xfrm>
          <a:prstGeom prst="rect">
            <a:avLst/>
          </a:prstGeom>
        </p:spPr>
      </p:pic>
      <p:pic>
        <p:nvPicPr>
          <p:cNvPr id="11" name="Picture 10">
            <a:extLst>
              <a:ext uri="{FF2B5EF4-FFF2-40B4-BE49-F238E27FC236}">
                <a16:creationId xmlns:a16="http://schemas.microsoft.com/office/drawing/2014/main" id="{D06D52EC-DA98-2713-B5B3-CE383EE70387}"/>
              </a:ext>
            </a:extLst>
          </p:cNvPr>
          <p:cNvPicPr>
            <a:picLocks noChangeAspect="1"/>
          </p:cNvPicPr>
          <p:nvPr/>
        </p:nvPicPr>
        <p:blipFill>
          <a:blip r:embed="rId5"/>
          <a:stretch>
            <a:fillRect/>
          </a:stretch>
        </p:blipFill>
        <p:spPr>
          <a:xfrm>
            <a:off x="4547756" y="5457602"/>
            <a:ext cx="2430485" cy="594316"/>
          </a:xfrm>
          <a:prstGeom prst="rect">
            <a:avLst/>
          </a:prstGeom>
        </p:spPr>
      </p:pic>
      <p:sp>
        <p:nvSpPr>
          <p:cNvPr id="13" name="TextBox 12">
            <a:extLst>
              <a:ext uri="{FF2B5EF4-FFF2-40B4-BE49-F238E27FC236}">
                <a16:creationId xmlns:a16="http://schemas.microsoft.com/office/drawing/2014/main" id="{3C6195CB-DC05-659B-FE5E-E480BB3732A0}"/>
              </a:ext>
            </a:extLst>
          </p:cNvPr>
          <p:cNvSpPr txBox="1"/>
          <p:nvPr/>
        </p:nvSpPr>
        <p:spPr>
          <a:xfrm>
            <a:off x="5139209" y="3410357"/>
            <a:ext cx="7137068" cy="646331"/>
          </a:xfrm>
          <a:prstGeom prst="rect">
            <a:avLst/>
          </a:prstGeom>
          <a:noFill/>
        </p:spPr>
        <p:txBody>
          <a:bodyPr wrap="square">
            <a:spAutoFit/>
          </a:bodyPr>
          <a:lstStyle/>
          <a:p>
            <a:r>
              <a:rPr lang="en-US" dirty="0"/>
              <a:t>Compute residual candidate </a:t>
            </a:r>
            <a:r>
              <a:rPr lang="en-US" i="1" dirty="0"/>
              <a:t>r</a:t>
            </a:r>
            <a:r>
              <a:rPr lang="en-US" dirty="0"/>
              <a:t> from recurrent multimodal interaction compute gate:</a:t>
            </a:r>
          </a:p>
        </p:txBody>
      </p:sp>
      <p:sp>
        <p:nvSpPr>
          <p:cNvPr id="15" name="TextBox 14">
            <a:extLst>
              <a:ext uri="{FF2B5EF4-FFF2-40B4-BE49-F238E27FC236}">
                <a16:creationId xmlns:a16="http://schemas.microsoft.com/office/drawing/2014/main" id="{14E751AE-5698-6E32-6330-0CCD30B15980}"/>
              </a:ext>
            </a:extLst>
          </p:cNvPr>
          <p:cNvSpPr txBox="1"/>
          <p:nvPr/>
        </p:nvSpPr>
        <p:spPr>
          <a:xfrm>
            <a:off x="3804096" y="5062607"/>
            <a:ext cx="6140002" cy="369332"/>
          </a:xfrm>
          <a:prstGeom prst="rect">
            <a:avLst/>
          </a:prstGeom>
          <a:noFill/>
        </p:spPr>
        <p:txBody>
          <a:bodyPr wrap="square">
            <a:spAutoFit/>
          </a:bodyPr>
          <a:lstStyle/>
          <a:p>
            <a:r>
              <a:rPr lang="en-US" dirty="0"/>
              <a:t>Fuse modalities in same way as paper:</a:t>
            </a:r>
          </a:p>
        </p:txBody>
      </p:sp>
      <p:sp>
        <p:nvSpPr>
          <p:cNvPr id="17" name="TextBox 16">
            <a:extLst>
              <a:ext uri="{FF2B5EF4-FFF2-40B4-BE49-F238E27FC236}">
                <a16:creationId xmlns:a16="http://schemas.microsoft.com/office/drawing/2014/main" id="{FBC7A38E-C3C1-165F-EE60-83F164D0769C}"/>
              </a:ext>
            </a:extLst>
          </p:cNvPr>
          <p:cNvSpPr txBox="1"/>
          <p:nvPr/>
        </p:nvSpPr>
        <p:spPr>
          <a:xfrm>
            <a:off x="458232" y="4226791"/>
            <a:ext cx="3472466" cy="646331"/>
          </a:xfrm>
          <a:prstGeom prst="rect">
            <a:avLst/>
          </a:prstGeom>
          <a:noFill/>
        </p:spPr>
        <p:txBody>
          <a:bodyPr wrap="square">
            <a:spAutoFit/>
          </a:bodyPr>
          <a:lstStyle/>
          <a:p>
            <a:r>
              <a:rPr lang="en-US" dirty="0"/>
              <a:t>The reliability features were projected into a latent space:</a:t>
            </a:r>
          </a:p>
        </p:txBody>
      </p:sp>
      <p:pic>
        <p:nvPicPr>
          <p:cNvPr id="19" name="Picture 18">
            <a:extLst>
              <a:ext uri="{FF2B5EF4-FFF2-40B4-BE49-F238E27FC236}">
                <a16:creationId xmlns:a16="http://schemas.microsoft.com/office/drawing/2014/main" id="{F6112E13-939C-2805-B06E-4EF2BCEC4498}"/>
              </a:ext>
            </a:extLst>
          </p:cNvPr>
          <p:cNvPicPr>
            <a:picLocks noChangeAspect="1"/>
          </p:cNvPicPr>
          <p:nvPr/>
        </p:nvPicPr>
        <p:blipFill>
          <a:blip r:embed="rId6"/>
          <a:stretch>
            <a:fillRect/>
          </a:stretch>
        </p:blipFill>
        <p:spPr>
          <a:xfrm>
            <a:off x="978763" y="4904096"/>
            <a:ext cx="1661406" cy="527843"/>
          </a:xfrm>
          <a:prstGeom prst="rect">
            <a:avLst/>
          </a:prstGeom>
        </p:spPr>
      </p:pic>
    </p:spTree>
    <p:extLst>
      <p:ext uri="{BB962C8B-B14F-4D97-AF65-F5344CB8AC3E}">
        <p14:creationId xmlns:p14="http://schemas.microsoft.com/office/powerpoint/2010/main" val="2921847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2094A-E1E9-E1A2-2B15-445EDC3F9BFC}"/>
              </a:ext>
            </a:extLst>
          </p:cNvPr>
          <p:cNvSpPr>
            <a:spLocks noGrp="1"/>
          </p:cNvSpPr>
          <p:nvPr>
            <p:ph type="title" idx="4294967295"/>
          </p:nvPr>
        </p:nvSpPr>
        <p:spPr>
          <a:xfrm>
            <a:off x="-904301" y="338499"/>
            <a:ext cx="10515600" cy="1325563"/>
          </a:xfrm>
          <a:prstGeom prst="rect">
            <a:avLst/>
          </a:prstGeom>
        </p:spPr>
        <p:txBody>
          <a:bodyPr/>
          <a:lstStyle/>
          <a:p>
            <a:r>
              <a:rPr lang="en-US" dirty="0"/>
              <a:t>Paper Methods Reproduction: </a:t>
            </a:r>
            <a:r>
              <a:rPr kumimoji="0" lang="en-US" sz="2000" b="1" i="0" u="none" strike="noStrike" kern="1200" cap="none" spc="0" normalizeH="0" baseline="0" noProof="0" dirty="0">
                <a:ln>
                  <a:noFill/>
                </a:ln>
                <a:solidFill>
                  <a:srgbClr val="000000"/>
                </a:solidFill>
                <a:effectLst/>
                <a:uLnTx/>
                <a:uFillTx/>
                <a:latin typeface="Aptos Narrow"/>
                <a:ea typeface="+mn-ea"/>
                <a:cs typeface="+mn-cs"/>
              </a:rPr>
              <a:t>(04/09/2026)</a:t>
            </a:r>
            <a:endParaRPr lang="en-US" dirty="0"/>
          </a:p>
        </p:txBody>
      </p:sp>
      <p:sp>
        <p:nvSpPr>
          <p:cNvPr id="3" name="Content Placeholder 2">
            <a:extLst>
              <a:ext uri="{FF2B5EF4-FFF2-40B4-BE49-F238E27FC236}">
                <a16:creationId xmlns:a16="http://schemas.microsoft.com/office/drawing/2014/main" id="{6C107EEE-F109-3109-99AC-88FD21B0FA19}"/>
              </a:ext>
            </a:extLst>
          </p:cNvPr>
          <p:cNvSpPr>
            <a:spLocks noGrp="1"/>
          </p:cNvSpPr>
          <p:nvPr>
            <p:ph idx="4294967295"/>
          </p:nvPr>
        </p:nvSpPr>
        <p:spPr>
          <a:xfrm>
            <a:off x="592057" y="1238316"/>
            <a:ext cx="10515600" cy="2960687"/>
          </a:xfrm>
          <a:prstGeom prst="rect">
            <a:avLst/>
          </a:prstGeom>
        </p:spPr>
        <p:txBody>
          <a:bodyPr/>
          <a:lstStyle/>
          <a:p>
            <a:r>
              <a:rPr lang="en-US" dirty="0"/>
              <a:t>Reproduced results for 5 datasets covering the 3 types of time-series irregularity identified in the paper</a:t>
            </a:r>
          </a:p>
          <a:p>
            <a:pPr lvl="1"/>
            <a:endParaRPr lang="en-US" dirty="0">
              <a:solidFill>
                <a:schemeClr val="bg1"/>
              </a:solidFill>
            </a:endParaRPr>
          </a:p>
        </p:txBody>
      </p:sp>
      <p:graphicFrame>
        <p:nvGraphicFramePr>
          <p:cNvPr id="6" name="Table 5">
            <a:extLst>
              <a:ext uri="{FF2B5EF4-FFF2-40B4-BE49-F238E27FC236}">
                <a16:creationId xmlns:a16="http://schemas.microsoft.com/office/drawing/2014/main" id="{635B1AC1-CB88-8663-729C-BB26E98E4ADE}"/>
              </a:ext>
            </a:extLst>
          </p:cNvPr>
          <p:cNvGraphicFramePr>
            <a:graphicFrameLocks noGrp="1"/>
          </p:cNvGraphicFramePr>
          <p:nvPr>
            <p:extLst>
              <p:ext uri="{D42A27DB-BD31-4B8C-83A1-F6EECF244321}">
                <p14:modId xmlns:p14="http://schemas.microsoft.com/office/powerpoint/2010/main" val="48423398"/>
              </p:ext>
            </p:extLst>
          </p:nvPr>
        </p:nvGraphicFramePr>
        <p:xfrm>
          <a:off x="1860997" y="2563879"/>
          <a:ext cx="8159419" cy="3900891"/>
        </p:xfrm>
        <a:graphic>
          <a:graphicData uri="http://schemas.openxmlformats.org/drawingml/2006/table">
            <a:tbl>
              <a:tblPr/>
              <a:tblGrid>
                <a:gridCol w="1440197">
                  <a:extLst>
                    <a:ext uri="{9D8B030D-6E8A-4147-A177-3AD203B41FA5}">
                      <a16:colId xmlns:a16="http://schemas.microsoft.com/office/drawing/2014/main" val="347509223"/>
                    </a:ext>
                  </a:extLst>
                </a:gridCol>
                <a:gridCol w="2553098">
                  <a:extLst>
                    <a:ext uri="{9D8B030D-6E8A-4147-A177-3AD203B41FA5}">
                      <a16:colId xmlns:a16="http://schemas.microsoft.com/office/drawing/2014/main" val="3980417026"/>
                    </a:ext>
                  </a:extLst>
                </a:gridCol>
                <a:gridCol w="1041531">
                  <a:extLst>
                    <a:ext uri="{9D8B030D-6E8A-4147-A177-3AD203B41FA5}">
                      <a16:colId xmlns:a16="http://schemas.microsoft.com/office/drawing/2014/main" val="3985619348"/>
                    </a:ext>
                  </a:extLst>
                </a:gridCol>
                <a:gridCol w="1041531">
                  <a:extLst>
                    <a:ext uri="{9D8B030D-6E8A-4147-A177-3AD203B41FA5}">
                      <a16:colId xmlns:a16="http://schemas.microsoft.com/office/drawing/2014/main" val="1945792390"/>
                    </a:ext>
                  </a:extLst>
                </a:gridCol>
                <a:gridCol w="1041531">
                  <a:extLst>
                    <a:ext uri="{9D8B030D-6E8A-4147-A177-3AD203B41FA5}">
                      <a16:colId xmlns:a16="http://schemas.microsoft.com/office/drawing/2014/main" val="403839876"/>
                    </a:ext>
                  </a:extLst>
                </a:gridCol>
                <a:gridCol w="1041531">
                  <a:extLst>
                    <a:ext uri="{9D8B030D-6E8A-4147-A177-3AD203B41FA5}">
                      <a16:colId xmlns:a16="http://schemas.microsoft.com/office/drawing/2014/main" val="2738948510"/>
                    </a:ext>
                  </a:extLst>
                </a:gridCol>
              </a:tblGrid>
              <a:tr h="808987">
                <a:tc gridSpan="2">
                  <a:txBody>
                    <a:bodyPr/>
                    <a:lstStyle/>
                    <a:p>
                      <a:pPr algn="ctr" fontAlgn="t">
                        <a:buNone/>
                      </a:pPr>
                      <a:r>
                        <a:rPr lang="en-US" sz="2000" b="1" i="0" u="none" strike="noStrike" dirty="0">
                          <a:solidFill>
                            <a:srgbClr val="000000"/>
                          </a:solidFill>
                          <a:effectLst/>
                          <a:latin typeface="Aptos Narrow"/>
                        </a:rPr>
                        <a:t>Current Results </a:t>
                      </a:r>
                    </a:p>
                    <a:p>
                      <a:pPr algn="ctr" fontAlgn="t">
                        <a:buNone/>
                      </a:pPr>
                      <a:r>
                        <a:rPr lang="en-US" sz="2000" b="1" i="0" u="none" strike="noStrike" dirty="0">
                          <a:solidFill>
                            <a:srgbClr val="000000"/>
                          </a:solidFill>
                          <a:effectLst/>
                          <a:latin typeface="Aptos Narrow"/>
                        </a:rPr>
                        <a:t>(t-</a:t>
                      </a:r>
                      <a:r>
                        <a:rPr lang="en-US" sz="2000" b="1" i="0" u="none" strike="noStrike" dirty="0" err="1">
                          <a:solidFill>
                            <a:srgbClr val="000000"/>
                          </a:solidFill>
                          <a:effectLst/>
                          <a:latin typeface="Aptos Narrow"/>
                        </a:rPr>
                        <a:t>PatchGNN</a:t>
                      </a:r>
                      <a:r>
                        <a:rPr lang="en-US" sz="2000" b="1" i="0" u="none" strike="noStrike" dirty="0">
                          <a:solidFill>
                            <a:srgbClr val="000000"/>
                          </a:solidFill>
                          <a:effectLst/>
                          <a:latin typeface="Aptos Narrow"/>
                        </a:rPr>
                        <a:t>)</a:t>
                      </a:r>
                    </a:p>
                  </a:txBody>
                  <a:tcPr marL="6350" marR="6350" marT="63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gridSpan="2">
                  <a:txBody>
                    <a:bodyPr/>
                    <a:lstStyle/>
                    <a:p>
                      <a:pPr algn="ctr" fontAlgn="b">
                        <a:buNone/>
                      </a:pPr>
                      <a:r>
                        <a:rPr lang="en-US" sz="1800" b="1" i="0" u="none" strike="noStrike" dirty="0">
                          <a:solidFill>
                            <a:srgbClr val="000000"/>
                          </a:solidFill>
                          <a:effectLst/>
                          <a:latin typeface="Aptos Narrow" panose="020B0004020202020204" pitchFamily="34" charset="0"/>
                        </a:rPr>
                        <a:t>Multimodal MSE</a:t>
                      </a:r>
                    </a:p>
                    <a:p>
                      <a:pPr algn="ctr" fontAlgn="b">
                        <a:buNone/>
                      </a:pPr>
                      <a:r>
                        <a:rPr lang="en-US" sz="1800" b="1" i="0" u="none" strike="noStrike" dirty="0">
                          <a:solidFill>
                            <a:srgbClr val="000000"/>
                          </a:solidFill>
                          <a:effectLst/>
                          <a:latin typeface="Aptos Narrow" panose="020B0004020202020204" pitchFamily="34" charset="0"/>
                        </a:rPr>
                        <a:t>(GPT-2) </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gridSpan="2">
                  <a:txBody>
                    <a:bodyPr/>
                    <a:lstStyle/>
                    <a:p>
                      <a:pPr algn="ctr" fontAlgn="b">
                        <a:buNone/>
                      </a:pPr>
                      <a:r>
                        <a:rPr lang="en-US" sz="1800" b="1" i="0" u="none" strike="noStrike" dirty="0">
                          <a:solidFill>
                            <a:srgbClr val="000000"/>
                          </a:solidFill>
                          <a:effectLst/>
                          <a:latin typeface="Aptos Narrow" panose="020B0004020202020204" pitchFamily="34" charset="0"/>
                        </a:rPr>
                        <a:t>Unimodal MSE </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extLst>
                  <a:ext uri="{0D108BD9-81ED-4DB2-BD59-A6C34878D82A}">
                    <a16:rowId xmlns:a16="http://schemas.microsoft.com/office/drawing/2014/main" val="3614756834"/>
                  </a:ext>
                </a:extLst>
              </a:tr>
              <a:tr h="435190">
                <a:tc>
                  <a:txBody>
                    <a:bodyPr/>
                    <a:lstStyle/>
                    <a:p>
                      <a:pPr algn="ctr" fontAlgn="b">
                        <a:buNone/>
                      </a:pPr>
                      <a:r>
                        <a:rPr lang="en-US" sz="1400" b="1" i="0" u="none" strike="noStrike" dirty="0">
                          <a:solidFill>
                            <a:srgbClr val="000000"/>
                          </a:solidFill>
                          <a:effectLst/>
                          <a:latin typeface="Aptos Narrow" panose="020B0004020202020204" pitchFamily="34" charset="0"/>
                        </a:rPr>
                        <a:t>Dataset</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1" i="0" u="none" strike="noStrike" dirty="0">
                          <a:solidFill>
                            <a:srgbClr val="000000"/>
                          </a:solidFill>
                          <a:effectLst/>
                          <a:latin typeface="Aptos Narrow" panose="020B0004020202020204" pitchFamily="34" charset="0"/>
                        </a:rPr>
                        <a:t>Irregularity Type</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Paper</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Ours</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Paper</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Ours</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69092460"/>
                  </a:ext>
                </a:extLst>
              </a:tr>
              <a:tr h="521651">
                <a:tc>
                  <a:txBody>
                    <a:bodyPr/>
                    <a:lstStyle/>
                    <a:p>
                      <a:pPr algn="ctr" fontAlgn="b">
                        <a:buNone/>
                      </a:pPr>
                      <a:r>
                        <a:rPr lang="en-US" sz="1400" b="0" i="0" u="none" strike="noStrike">
                          <a:solidFill>
                            <a:srgbClr val="000000"/>
                          </a:solidFill>
                          <a:effectLst/>
                          <a:latin typeface="Aptos Narrow" panose="020B0004020202020204" pitchFamily="34" charset="0"/>
                        </a:rPr>
                        <a:t>GDELT</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Trigger-Based</a:t>
                      </a:r>
                    </a:p>
                    <a:p>
                      <a:pPr algn="ctr" fontAlgn="b">
                        <a:buNone/>
                      </a:pPr>
                      <a:r>
                        <a:rPr lang="en-US" sz="1100" b="0" i="0" u="none" strike="noStrike" dirty="0">
                          <a:solidFill>
                            <a:srgbClr val="000000"/>
                          </a:solidFill>
                          <a:effectLst/>
                          <a:latin typeface="Aptos Narrow" panose="020B0004020202020204" pitchFamily="34" charset="0"/>
                        </a:rPr>
                        <a:t> (</a:t>
                      </a:r>
                      <a:r>
                        <a:rPr lang="en-US" sz="1100" dirty="0"/>
                        <a:t>Event-Based Logging</a:t>
                      </a:r>
                      <a:r>
                        <a:rPr lang="en-US" sz="1100" b="0" i="0" u="none" strike="noStrike" dirty="0">
                          <a:solidFill>
                            <a:srgbClr val="000000"/>
                          </a:solidFill>
                          <a:effectLst/>
                          <a:latin typeface="Aptos Narrow" panose="020B0004020202020204" pitchFamily="34" charset="0"/>
                        </a:rPr>
                        <a:t>)</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1.03</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1.02</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1.03</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1.04</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42921678"/>
                  </a:ext>
                </a:extLst>
              </a:tr>
              <a:tr h="521651">
                <a:tc>
                  <a:txBody>
                    <a:bodyPr/>
                    <a:lstStyle/>
                    <a:p>
                      <a:pPr algn="ctr" fontAlgn="b">
                        <a:buNone/>
                      </a:pPr>
                      <a:r>
                        <a:rPr lang="en-US" sz="1400" b="0" i="0" u="none" strike="noStrike">
                          <a:solidFill>
                            <a:srgbClr val="000000"/>
                          </a:solidFill>
                          <a:effectLst/>
                          <a:latin typeface="Aptos Narrow" panose="020B0004020202020204" pitchFamily="34" charset="0"/>
                        </a:rPr>
                        <a:t>FNSPID</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Artifact-Based </a:t>
                      </a:r>
                    </a:p>
                    <a:p>
                      <a:pPr algn="ctr" fontAlgn="b">
                        <a:buNone/>
                      </a:pPr>
                      <a:r>
                        <a:rPr lang="en-US" sz="1100" b="0" i="0" u="none" strike="noStrike" dirty="0">
                          <a:solidFill>
                            <a:srgbClr val="000000"/>
                          </a:solidFill>
                          <a:effectLst/>
                          <a:latin typeface="Aptos Narrow" panose="020B0004020202020204" pitchFamily="34" charset="0"/>
                        </a:rPr>
                        <a:t>(</a:t>
                      </a:r>
                      <a:r>
                        <a:rPr lang="en-US" sz="1100" dirty="0"/>
                        <a:t>Operational Window Sampling</a:t>
                      </a:r>
                      <a:r>
                        <a:rPr lang="en-US" sz="1100" b="0" i="0" u="none" strike="noStrike" dirty="0">
                          <a:solidFill>
                            <a:srgbClr val="000000"/>
                          </a:solidFill>
                          <a:effectLst/>
                          <a:latin typeface="Aptos Narrow" panose="020B0004020202020204" pitchFamily="34" charset="0"/>
                        </a:rPr>
                        <a:t> )</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0.12</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0.16</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0.12</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0.16</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83399887"/>
                  </a:ext>
                </a:extLst>
              </a:tr>
              <a:tr h="521651">
                <a:tc>
                  <a:txBody>
                    <a:bodyPr/>
                    <a:lstStyle/>
                    <a:p>
                      <a:pPr algn="ctr" fontAlgn="b">
                        <a:buNone/>
                      </a:pPr>
                      <a:r>
                        <a:rPr lang="en-US" sz="1400" b="0" i="0" u="none" strike="noStrike" dirty="0">
                          <a:solidFill>
                            <a:srgbClr val="000000"/>
                          </a:solidFill>
                          <a:effectLst/>
                          <a:latin typeface="Aptos Narrow" panose="020B0004020202020204" pitchFamily="34" charset="0"/>
                        </a:rPr>
                        <a:t>CLUSTERTRACE</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Artifact-Based </a:t>
                      </a:r>
                    </a:p>
                    <a:p>
                      <a:pPr algn="ctr" fontAlgn="b">
                        <a:buNone/>
                      </a:pPr>
                      <a:r>
                        <a:rPr lang="en-US" sz="1100" b="0" i="0" u="none" strike="noStrike" dirty="0">
                          <a:solidFill>
                            <a:srgbClr val="000000"/>
                          </a:solidFill>
                          <a:effectLst/>
                          <a:latin typeface="Aptos Narrow" panose="020B0004020202020204" pitchFamily="34" charset="0"/>
                        </a:rPr>
                        <a:t>(</a:t>
                      </a:r>
                      <a:r>
                        <a:rPr lang="en-US" sz="1100" dirty="0"/>
                        <a:t>Resource-Aware Collection</a:t>
                      </a:r>
                      <a:r>
                        <a:rPr lang="en-US" sz="1100" b="0" i="0" u="none" strike="noStrike" dirty="0">
                          <a:solidFill>
                            <a:srgbClr val="000000"/>
                          </a:solidFill>
                          <a:effectLst/>
                          <a:latin typeface="Aptos Narrow" panose="020B0004020202020204" pitchFamily="34" charset="0"/>
                        </a:rPr>
                        <a:t>)</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0.61</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0.85</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0.98</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0.87</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21850367"/>
                  </a:ext>
                </a:extLst>
              </a:tr>
              <a:tr h="570110">
                <a:tc>
                  <a:txBody>
                    <a:bodyPr/>
                    <a:lstStyle/>
                    <a:p>
                      <a:pPr algn="ctr" fontAlgn="b">
                        <a:buNone/>
                      </a:pPr>
                      <a:r>
                        <a:rPr lang="en-US" sz="1400" b="0" i="0" u="none" strike="noStrike" dirty="0">
                          <a:solidFill>
                            <a:srgbClr val="000000"/>
                          </a:solidFill>
                          <a:effectLst/>
                          <a:latin typeface="Aptos Narrow" panose="020B0004020202020204" pitchFamily="34" charset="0"/>
                        </a:rPr>
                        <a:t>CESNET</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Aptos Narrow" panose="020B0004020202020204" pitchFamily="34" charset="0"/>
                        </a:rPr>
                        <a:t>Constraint-Based </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Aptos Narrow" panose="020B0004020202020204" pitchFamily="34" charset="0"/>
                        </a:rPr>
                        <a:t>(</a:t>
                      </a:r>
                      <a:r>
                        <a:rPr lang="en-US" sz="1100" dirty="0"/>
                        <a:t>Scheduling Jitter / Delay</a:t>
                      </a:r>
                      <a:r>
                        <a:rPr lang="en-US" sz="1100" b="0" i="0" u="none" strike="noStrike" dirty="0">
                          <a:solidFill>
                            <a:srgbClr val="000000"/>
                          </a:solidFill>
                          <a:effectLst/>
                          <a:latin typeface="Aptos Narrow" panose="020B0004020202020204" pitchFamily="34" charset="0"/>
                        </a:rPr>
                        <a:t>)</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0.91</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0.96</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0.98</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1.03</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47621506"/>
                  </a:ext>
                </a:extLst>
              </a:tr>
              <a:tr h="521651">
                <a:tc>
                  <a:txBody>
                    <a:bodyPr/>
                    <a:lstStyle/>
                    <a:p>
                      <a:pPr lvl="0" algn="ctr">
                        <a:buNone/>
                      </a:pPr>
                      <a:r>
                        <a:rPr lang="en-US" sz="1400" b="0" i="0" u="none" strike="noStrike">
                          <a:solidFill>
                            <a:srgbClr val="000000"/>
                          </a:solidFill>
                          <a:effectLst/>
                          <a:latin typeface="Aptos Narrow"/>
                        </a:rPr>
                        <a:t>MIMIC</a:t>
                      </a:r>
                    </a:p>
                  </a:txBody>
                  <a:tcPr marL="6350" marR="6350" marT="6350" anchor="b">
                    <a:lnL w="12700">
                      <a:solidFill>
                        <a:srgbClr val="000000"/>
                      </a:solidFill>
                    </a:lnL>
                    <a:lnR w="6350">
                      <a:solidFill>
                        <a:srgbClr val="000000"/>
                      </a:solidFill>
                    </a:lnR>
                    <a:lnT w="12700">
                      <a:solidFill>
                        <a:srgbClr val="000000"/>
                      </a:solidFill>
                    </a:lnT>
                    <a:lnB w="12700">
                      <a:solidFill>
                        <a:srgbClr val="000000"/>
                      </a:solidFill>
                    </a:lnB>
                    <a:solidFill>
                      <a:schemeClr val="bg1"/>
                    </a:solidFill>
                  </a:tcPr>
                </a:tc>
                <a:tc>
                  <a:txBody>
                    <a:bodyPr/>
                    <a:lstStyle/>
                    <a:p>
                      <a:pPr lvl="0" algn="ctr">
                        <a:buNone/>
                      </a:pPr>
                      <a:r>
                        <a:rPr lang="en-US" sz="1100" b="0" i="0" u="none" strike="noStrike" noProof="0">
                          <a:solidFill>
                            <a:srgbClr val="000000"/>
                          </a:solidFill>
                          <a:effectLst/>
                          <a:latin typeface="Aptos Narrow"/>
                        </a:rPr>
                        <a:t>Trigger-Based</a:t>
                      </a:r>
                    </a:p>
                    <a:p>
                      <a:pPr lvl="0" algn="ctr">
                        <a:buNone/>
                      </a:pPr>
                      <a:r>
                        <a:rPr lang="en-US" sz="1100" b="0" i="0" u="none" strike="noStrike" noProof="0">
                          <a:solidFill>
                            <a:srgbClr val="000000"/>
                          </a:solidFill>
                          <a:effectLst/>
                          <a:latin typeface="Aptos Narrow"/>
                        </a:rPr>
                        <a:t>(</a:t>
                      </a:r>
                      <a:r>
                        <a:rPr lang="en-US" sz="1100" b="0" i="0" u="none" strike="noStrike" noProof="0">
                          <a:solidFill>
                            <a:srgbClr val="000000"/>
                          </a:solidFill>
                          <a:effectLst/>
                          <a:latin typeface="Aptos"/>
                        </a:rPr>
                        <a:t>Event-Based Logging</a:t>
                      </a:r>
                      <a:r>
                        <a:rPr lang="en-US" sz="1100" b="0" i="0" u="none" strike="noStrike" noProof="0">
                          <a:solidFill>
                            <a:srgbClr val="000000"/>
                          </a:solidFill>
                          <a:effectLst/>
                          <a:latin typeface="Aptos Narrow"/>
                        </a:rPr>
                        <a:t>)</a:t>
                      </a:r>
                      <a:endParaRPr lang="en-US"/>
                    </a:p>
                  </a:txBody>
                  <a:tcPr marL="6350" marR="6350" marT="6350" anchor="b">
                    <a:lnL w="6350">
                      <a:solidFill>
                        <a:srgbClr val="000000"/>
                      </a:solidFill>
                    </a:lnL>
                    <a:lnR w="12700">
                      <a:solidFill>
                        <a:srgbClr val="000000"/>
                      </a:solidFill>
                    </a:lnR>
                    <a:lnT w="12700">
                      <a:solidFill>
                        <a:srgbClr val="000000"/>
                      </a:solidFill>
                    </a:lnT>
                    <a:lnB w="12700">
                      <a:solidFill>
                        <a:srgbClr val="000000"/>
                      </a:solidFill>
                    </a:lnB>
                    <a:solidFill>
                      <a:schemeClr val="bg1"/>
                    </a:solidFill>
                  </a:tcPr>
                </a:tc>
                <a:tc>
                  <a:txBody>
                    <a:bodyPr/>
                    <a:lstStyle/>
                    <a:p>
                      <a:pPr lvl="0" algn="ctr">
                        <a:buNone/>
                      </a:pPr>
                      <a:r>
                        <a:rPr lang="en-US" sz="1100" b="0" i="0" u="none" strike="noStrike">
                          <a:solidFill>
                            <a:srgbClr val="000000"/>
                          </a:solidFill>
                          <a:effectLst/>
                          <a:latin typeface="Aptos Narrow"/>
                        </a:rPr>
                        <a:t>0.77</a:t>
                      </a:r>
                    </a:p>
                  </a:txBody>
                  <a:tcPr marL="6350" marR="6350" marT="6350" anchor="b">
                    <a:lnL w="12700">
                      <a:solidFill>
                        <a:srgbClr val="000000"/>
                      </a:solidFill>
                    </a:lnL>
                    <a:lnR w="6350">
                      <a:solidFill>
                        <a:srgbClr val="000000"/>
                      </a:solidFill>
                    </a:lnR>
                    <a:lnT w="12700">
                      <a:solidFill>
                        <a:srgbClr val="000000"/>
                      </a:solidFill>
                    </a:lnT>
                    <a:lnB w="12700">
                      <a:solidFill>
                        <a:srgbClr val="000000"/>
                      </a:solidFill>
                    </a:lnB>
                    <a:solidFill>
                      <a:schemeClr val="bg1"/>
                    </a:solidFill>
                  </a:tcPr>
                </a:tc>
                <a:tc>
                  <a:txBody>
                    <a:bodyPr/>
                    <a:lstStyle/>
                    <a:p>
                      <a:pPr lvl="0" algn="ctr">
                        <a:buNone/>
                      </a:pPr>
                      <a:r>
                        <a:rPr lang="en-US" sz="1100" b="0" i="0" u="none" strike="noStrike">
                          <a:solidFill>
                            <a:srgbClr val="000000"/>
                          </a:solidFill>
                          <a:effectLst/>
                          <a:latin typeface="Aptos Narrow"/>
                        </a:rPr>
                        <a:t>0.74</a:t>
                      </a:r>
                    </a:p>
                  </a:txBody>
                  <a:tcPr marL="6350" marR="6350" marT="6350" anchor="b">
                    <a:lnL w="6350">
                      <a:solidFill>
                        <a:srgbClr val="000000"/>
                      </a:solidFill>
                    </a:lnL>
                    <a:lnR w="12700">
                      <a:solidFill>
                        <a:srgbClr val="000000"/>
                      </a:solidFill>
                    </a:lnR>
                    <a:lnT w="12700">
                      <a:solidFill>
                        <a:srgbClr val="000000"/>
                      </a:solidFill>
                    </a:lnT>
                    <a:lnB w="12700">
                      <a:solidFill>
                        <a:srgbClr val="000000"/>
                      </a:solidFill>
                    </a:lnB>
                    <a:solidFill>
                      <a:schemeClr val="bg1"/>
                    </a:solidFill>
                  </a:tcPr>
                </a:tc>
                <a:tc>
                  <a:txBody>
                    <a:bodyPr/>
                    <a:lstStyle/>
                    <a:p>
                      <a:pPr lvl="0" algn="ctr">
                        <a:buNone/>
                      </a:pPr>
                      <a:r>
                        <a:rPr lang="en-US" sz="1100" b="0" i="0" u="none" strike="noStrike">
                          <a:solidFill>
                            <a:srgbClr val="000000"/>
                          </a:solidFill>
                          <a:effectLst/>
                          <a:latin typeface="Aptos Narrow"/>
                        </a:rPr>
                        <a:t>0.73</a:t>
                      </a:r>
                    </a:p>
                  </a:txBody>
                  <a:tcPr marL="6350" marR="6350" marT="6350" anchor="b">
                    <a:lnL w="12700">
                      <a:solidFill>
                        <a:srgbClr val="000000"/>
                      </a:solidFill>
                    </a:lnL>
                    <a:lnR w="6350">
                      <a:solidFill>
                        <a:srgbClr val="000000"/>
                      </a:solidFill>
                    </a:lnR>
                    <a:lnT w="12700">
                      <a:solidFill>
                        <a:srgbClr val="000000"/>
                      </a:solidFill>
                    </a:lnT>
                    <a:lnB w="12700">
                      <a:solidFill>
                        <a:srgbClr val="000000"/>
                      </a:solidFill>
                    </a:lnB>
                    <a:solidFill>
                      <a:schemeClr val="bg1"/>
                    </a:solidFill>
                  </a:tcPr>
                </a:tc>
                <a:tc>
                  <a:txBody>
                    <a:bodyPr/>
                    <a:lstStyle/>
                    <a:p>
                      <a:pPr lvl="0" algn="ctr">
                        <a:buNone/>
                      </a:pPr>
                      <a:r>
                        <a:rPr lang="en-US" sz="1100" b="0" i="0" u="none" strike="noStrike" dirty="0">
                          <a:solidFill>
                            <a:srgbClr val="000000"/>
                          </a:solidFill>
                          <a:effectLst/>
                          <a:latin typeface="Aptos Narrow"/>
                        </a:rPr>
                        <a:t>0.74</a:t>
                      </a:r>
                    </a:p>
                  </a:txBody>
                  <a:tcPr marL="6350" marR="6350" marT="6350" anchor="b">
                    <a:lnL w="6350">
                      <a:solidFill>
                        <a:srgbClr val="000000"/>
                      </a:solidFill>
                    </a:lnL>
                    <a:lnR w="12700">
                      <a:solidFill>
                        <a:srgbClr val="000000"/>
                      </a:solidFill>
                    </a:lnR>
                    <a:lnT w="12700">
                      <a:solidFill>
                        <a:srgbClr val="000000"/>
                      </a:solidFill>
                    </a:lnT>
                    <a:lnB w="12700">
                      <a:solidFill>
                        <a:srgbClr val="000000"/>
                      </a:solidFill>
                    </a:lnB>
                    <a:solidFill>
                      <a:schemeClr val="bg1"/>
                    </a:solidFill>
                  </a:tcPr>
                </a:tc>
                <a:extLst>
                  <a:ext uri="{0D108BD9-81ED-4DB2-BD59-A6C34878D82A}">
                    <a16:rowId xmlns:a16="http://schemas.microsoft.com/office/drawing/2014/main" val="2799131304"/>
                  </a:ext>
                </a:extLst>
              </a:tr>
            </a:tbl>
          </a:graphicData>
        </a:graphic>
      </p:graphicFrame>
    </p:spTree>
    <p:extLst>
      <p:ext uri="{BB962C8B-B14F-4D97-AF65-F5344CB8AC3E}">
        <p14:creationId xmlns:p14="http://schemas.microsoft.com/office/powerpoint/2010/main" val="3097449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7947-EBB2-D7CE-B9C0-2AEC3B8A44B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5367D50-C99C-B62E-D908-CA44772C89D3}"/>
              </a:ext>
            </a:extLst>
          </p:cNvPr>
          <p:cNvPicPr>
            <a:picLocks noChangeAspect="1"/>
          </p:cNvPicPr>
          <p:nvPr/>
        </p:nvPicPr>
        <p:blipFill>
          <a:blip r:embed="rId2"/>
          <a:stretch>
            <a:fillRect/>
          </a:stretch>
        </p:blipFill>
        <p:spPr>
          <a:xfrm>
            <a:off x="500880" y="918667"/>
            <a:ext cx="3315205" cy="103506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3E6B2A1E-10A1-CADC-055E-2452A3A9779F}"/>
              </a:ext>
            </a:extLst>
          </p:cNvPr>
          <p:cNvPicPr>
            <a:picLocks noChangeAspect="1"/>
          </p:cNvPicPr>
          <p:nvPr/>
        </p:nvPicPr>
        <p:blipFill>
          <a:blip r:embed="rId3"/>
          <a:stretch>
            <a:fillRect/>
          </a:stretch>
        </p:blipFill>
        <p:spPr>
          <a:xfrm>
            <a:off x="5012051" y="1283867"/>
            <a:ext cx="2089433" cy="5844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5EA8CC81-693C-ACA3-F550-5A69B0814FDF}"/>
              </a:ext>
            </a:extLst>
          </p:cNvPr>
          <p:cNvPicPr>
            <a:picLocks noChangeAspect="1"/>
          </p:cNvPicPr>
          <p:nvPr/>
        </p:nvPicPr>
        <p:blipFill>
          <a:blip r:embed="rId4"/>
          <a:stretch>
            <a:fillRect/>
          </a:stretch>
        </p:blipFill>
        <p:spPr>
          <a:xfrm>
            <a:off x="8491616" y="1172035"/>
            <a:ext cx="2049406" cy="5844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D907E40B-74DB-9C6F-866F-311B06273C30}"/>
              </a:ext>
            </a:extLst>
          </p:cNvPr>
          <p:cNvSpPr txBox="1"/>
          <p:nvPr/>
        </p:nvSpPr>
        <p:spPr>
          <a:xfrm>
            <a:off x="2999753" y="2832194"/>
            <a:ext cx="5994653" cy="461665"/>
          </a:xfrm>
          <a:prstGeom prst="rect">
            <a:avLst/>
          </a:prstGeom>
          <a:solidFill>
            <a:srgbClr val="F7F5F0"/>
          </a:solidFill>
        </p:spPr>
        <p:txBody>
          <a:bodyPr wrap="square" rtlCol="0">
            <a:spAutoFit/>
          </a:bodyPr>
          <a:lstStyle/>
          <a:p>
            <a:r>
              <a:rPr lang="en-US" sz="2400" b="1" dirty="0"/>
              <a:t>New objective for classification becomes:</a:t>
            </a:r>
          </a:p>
        </p:txBody>
      </p:sp>
      <p:sp>
        <p:nvSpPr>
          <p:cNvPr id="9" name="TextBox 8">
            <a:extLst>
              <a:ext uri="{FF2B5EF4-FFF2-40B4-BE49-F238E27FC236}">
                <a16:creationId xmlns:a16="http://schemas.microsoft.com/office/drawing/2014/main" id="{EC31449D-5159-9A42-81D5-80A01E65D00F}"/>
              </a:ext>
            </a:extLst>
          </p:cNvPr>
          <p:cNvSpPr txBox="1"/>
          <p:nvPr/>
        </p:nvSpPr>
        <p:spPr>
          <a:xfrm>
            <a:off x="277596" y="315562"/>
            <a:ext cx="9761485" cy="461665"/>
          </a:xfrm>
          <a:prstGeom prst="rect">
            <a:avLst/>
          </a:prstGeom>
          <a:noFill/>
        </p:spPr>
        <p:txBody>
          <a:bodyPr wrap="square" rtlCol="0">
            <a:spAutoFit/>
          </a:bodyPr>
          <a:lstStyle/>
          <a:p>
            <a:r>
              <a:rPr lang="en-US" sz="2400" b="1" dirty="0"/>
              <a:t>Forecasting Extension to ICU Readmission Classification:</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F0672F94-A4BA-54BF-E0EA-74E6B8F4049F}"/>
                  </a:ext>
                </a:extLst>
              </p:cNvPr>
              <p:cNvSpPr txBox="1"/>
              <p:nvPr/>
            </p:nvSpPr>
            <p:spPr>
              <a:xfrm>
                <a:off x="470155" y="1997726"/>
                <a:ext cx="5681027" cy="790473"/>
              </a:xfrm>
              <a:prstGeom prst="rect">
                <a:avLst/>
              </a:prstGeom>
              <a:solidFill>
                <a:srgbClr val="F7F5F0"/>
              </a:solidFill>
            </p:spPr>
            <p:txBody>
              <a:bodyPr wrap="square" rtlCol="0">
                <a:spAutoFit/>
              </a:bodyPr>
              <a:lstStyle/>
              <a:p>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𝑥</m:t>
                        </m:r>
                      </m:e>
                      <m:sub>
                        <m:r>
                          <a:rPr lang="ar-AE" i="1">
                            <a:latin typeface="Cambria Math" panose="02040503050406030204" pitchFamily="18" charset="0"/>
                          </a:rPr>
                          <m:t>𝑖</m:t>
                        </m:r>
                      </m:sub>
                      <m:sup>
                        <m:d>
                          <m:dPr>
                            <m:ctrlPr>
                              <a:rPr lang="ar-AE" i="1">
                                <a:latin typeface="Cambria Math" panose="02040503050406030204" pitchFamily="18" charset="0"/>
                              </a:rPr>
                            </m:ctrlPr>
                          </m:dPr>
                          <m:e>
                            <m:r>
                              <a:rPr lang="ar-AE" i="1">
                                <a:latin typeface="Cambria Math" panose="02040503050406030204" pitchFamily="18" charset="0"/>
                              </a:rPr>
                              <m:t>𝑛</m:t>
                            </m:r>
                          </m:e>
                        </m:d>
                      </m:sup>
                    </m:sSubSup>
                    <m:r>
                      <a:rPr lang="ar-AE">
                        <a:latin typeface="Cambria Math" panose="02040503050406030204" pitchFamily="18" charset="0"/>
                      </a:rPr>
                      <m:t>∈</m:t>
                    </m:r>
                    <m:r>
                      <a:rPr lang="ar-AE">
                        <a:latin typeface="Cambria Math" panose="02040503050406030204" pitchFamily="18" charset="0"/>
                      </a:rPr>
                      <m:t>ℝ</m:t>
                    </m:r>
                  </m:oMath>
                </a14:m>
                <a:r>
                  <a:rPr lang="en-US" dirty="0"/>
                  <a:t>is the observed value of variable </a:t>
                </a:r>
                <a14:m>
                  <m:oMath xmlns:m="http://schemas.openxmlformats.org/officeDocument/2006/math">
                    <m:r>
                      <a:rPr lang="en-US" i="1">
                        <a:latin typeface="Cambria Math" panose="02040503050406030204" pitchFamily="18" charset="0"/>
                      </a:rPr>
                      <m:t>𝑛</m:t>
                    </m:r>
                  </m:oMath>
                </a14:m>
                <a:r>
                  <a:rPr lang="en-US" dirty="0"/>
                  <a:t> at time </a:t>
                </a: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𝑡</m:t>
                        </m:r>
                      </m:e>
                      <m:sub>
                        <m:r>
                          <a:rPr lang="ar-AE" i="1">
                            <a:latin typeface="Cambria Math" panose="02040503050406030204" pitchFamily="18" charset="0"/>
                          </a:rPr>
                          <m:t>𝑖</m:t>
                        </m:r>
                      </m:sub>
                      <m:sup>
                        <m:d>
                          <m:dPr>
                            <m:ctrlPr>
                              <a:rPr lang="ar-AE" i="1">
                                <a:latin typeface="Cambria Math" panose="02040503050406030204" pitchFamily="18" charset="0"/>
                              </a:rPr>
                            </m:ctrlPr>
                          </m:dPr>
                          <m:e>
                            <m:r>
                              <a:rPr lang="ar-AE" i="1">
                                <a:latin typeface="Cambria Math" panose="02040503050406030204" pitchFamily="18" charset="0"/>
                              </a:rPr>
                              <m:t>𝑛</m:t>
                            </m:r>
                          </m:e>
                        </m:d>
                      </m:sup>
                    </m:sSubSup>
                  </m:oMath>
                </a14:m>
                <a:r>
                  <a:rPr lang="ar-AE" dirty="0"/>
                  <a:t>,</a:t>
                </a:r>
                <a:r>
                  <a:rPr lang="en-US" dirty="0"/>
                  <a:t>and the observations are irregularly sampled. </a:t>
                </a:r>
              </a:p>
            </p:txBody>
          </p:sp>
        </mc:Choice>
        <mc:Fallback>
          <p:sp>
            <p:nvSpPr>
              <p:cNvPr id="10" name="TextBox 9">
                <a:extLst>
                  <a:ext uri="{FF2B5EF4-FFF2-40B4-BE49-F238E27FC236}">
                    <a16:creationId xmlns:a16="http://schemas.microsoft.com/office/drawing/2014/main" id="{F0672F94-A4BA-54BF-E0EA-74E6B8F4049F}"/>
                  </a:ext>
                </a:extLst>
              </p:cNvPr>
              <p:cNvSpPr txBox="1">
                <a:spLocks noRot="1" noChangeAspect="1" noMove="1" noResize="1" noEditPoints="1" noAdjustHandles="1" noChangeArrowheads="1" noChangeShapeType="1" noTextEdit="1"/>
              </p:cNvSpPr>
              <p:nvPr/>
            </p:nvSpPr>
            <p:spPr>
              <a:xfrm>
                <a:off x="470155" y="1997726"/>
                <a:ext cx="5681027" cy="790473"/>
              </a:xfrm>
              <a:prstGeom prst="rect">
                <a:avLst/>
              </a:prstGeom>
              <a:blipFill>
                <a:blip r:embed="rId5"/>
                <a:stretch>
                  <a:fillRect b="-11628"/>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F9B2A8D1-8A32-1E2A-F03B-14215E4BF0FC}"/>
              </a:ext>
            </a:extLst>
          </p:cNvPr>
          <p:cNvSpPr txBox="1"/>
          <p:nvPr/>
        </p:nvSpPr>
        <p:spPr>
          <a:xfrm>
            <a:off x="4930881" y="928083"/>
            <a:ext cx="1938270" cy="369332"/>
          </a:xfrm>
          <a:prstGeom prst="rect">
            <a:avLst/>
          </a:prstGeom>
          <a:noFill/>
        </p:spPr>
        <p:txBody>
          <a:bodyPr wrap="square" rtlCol="0">
            <a:spAutoFit/>
          </a:bodyPr>
          <a:lstStyle/>
          <a:p>
            <a:r>
              <a:rPr lang="en-US" dirty="0"/>
              <a:t>Text Stream:</a:t>
            </a:r>
          </a:p>
        </p:txBody>
      </p:sp>
      <p:sp>
        <p:nvSpPr>
          <p:cNvPr id="12" name="TextBox 11">
            <a:extLst>
              <a:ext uri="{FF2B5EF4-FFF2-40B4-BE49-F238E27FC236}">
                <a16:creationId xmlns:a16="http://schemas.microsoft.com/office/drawing/2014/main" id="{4606E99A-025C-3D93-E07D-629E947C8CCA}"/>
              </a:ext>
            </a:extLst>
          </p:cNvPr>
          <p:cNvSpPr txBox="1"/>
          <p:nvPr/>
        </p:nvSpPr>
        <p:spPr>
          <a:xfrm>
            <a:off x="8361527" y="793926"/>
            <a:ext cx="3329862" cy="369332"/>
          </a:xfrm>
          <a:prstGeom prst="rect">
            <a:avLst/>
          </a:prstGeom>
          <a:noFill/>
        </p:spPr>
        <p:txBody>
          <a:bodyPr wrap="square" rtlCol="0">
            <a:spAutoFit/>
          </a:bodyPr>
          <a:lstStyle/>
          <a:p>
            <a:r>
              <a:rPr lang="en-US" dirty="0"/>
              <a:t>Original Forecasting Objective:</a:t>
            </a:r>
          </a:p>
        </p:txBody>
      </p:sp>
      <p:pic>
        <p:nvPicPr>
          <p:cNvPr id="4" name="Picture 3">
            <a:extLst>
              <a:ext uri="{FF2B5EF4-FFF2-40B4-BE49-F238E27FC236}">
                <a16:creationId xmlns:a16="http://schemas.microsoft.com/office/drawing/2014/main" id="{3902DDC3-1BC2-143E-AE7D-623AC20D9D64}"/>
              </a:ext>
            </a:extLst>
          </p:cNvPr>
          <p:cNvPicPr>
            <a:picLocks noChangeAspect="1"/>
          </p:cNvPicPr>
          <p:nvPr/>
        </p:nvPicPr>
        <p:blipFill>
          <a:blip r:embed="rId6"/>
          <a:stretch>
            <a:fillRect/>
          </a:stretch>
        </p:blipFill>
        <p:spPr>
          <a:xfrm>
            <a:off x="4781650" y="3394129"/>
            <a:ext cx="2303529" cy="6121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a:extLst>
              <a:ext uri="{FF2B5EF4-FFF2-40B4-BE49-F238E27FC236}">
                <a16:creationId xmlns:a16="http://schemas.microsoft.com/office/drawing/2014/main" id="{5A35415A-3E47-48EF-B572-87AE312B9C1A}"/>
              </a:ext>
            </a:extLst>
          </p:cNvPr>
          <p:cNvPicPr>
            <a:picLocks noChangeAspect="1"/>
          </p:cNvPicPr>
          <p:nvPr/>
        </p:nvPicPr>
        <p:blipFill>
          <a:blip r:embed="rId7"/>
          <a:stretch>
            <a:fillRect/>
          </a:stretch>
        </p:blipFill>
        <p:spPr>
          <a:xfrm>
            <a:off x="4593510" y="5187050"/>
            <a:ext cx="3004980" cy="7822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03DA3201-6FFB-2351-AC54-2A67BCEB359D}"/>
                  </a:ext>
                </a:extLst>
              </p:cNvPr>
              <p:cNvSpPr txBox="1"/>
              <p:nvPr/>
            </p:nvSpPr>
            <p:spPr>
              <a:xfrm>
                <a:off x="2341458" y="4128327"/>
                <a:ext cx="6960424" cy="923330"/>
              </a:xfrm>
              <a:prstGeom prst="rect">
                <a:avLst/>
              </a:prstGeom>
              <a:noFill/>
            </p:spPr>
            <p:txBody>
              <a:bodyPr wrap="square" rtlCol="0">
                <a:spAutoFit/>
              </a:bodyPr>
              <a:lstStyle/>
              <a:p>
                <a:r>
                  <a:rPr lang="en-US" dirty="0"/>
                  <a:t>where </a:t>
                </a:r>
                <a14:m>
                  <m:oMath xmlns:m="http://schemas.openxmlformats.org/officeDocument/2006/math">
                    <m:r>
                      <a:rPr lang="en-US" i="1"/>
                      <m:t>𝑟</m:t>
                    </m:r>
                    <m:r>
                      <a:rPr lang="en-US"/>
                      <m:t>∈</m:t>
                    </m:r>
                    <m:d>
                      <m:dPr>
                        <m:begChr m:val="{"/>
                        <m:endChr m:val="}"/>
                        <m:sepChr m:val=","/>
                        <m:ctrlPr>
                          <a:rPr lang="ar-AE" i="1"/>
                        </m:ctrlPr>
                      </m:dPr>
                      <m:e>
                        <m:r>
                          <a:rPr lang="ar-AE"/>
                          <m:t>0</m:t>
                        </m:r>
                      </m:e>
                      <m:e>
                        <m:r>
                          <a:rPr lang="ar-AE"/>
                          <m:t>1</m:t>
                        </m:r>
                      </m:e>
                    </m:d>
                  </m:oMath>
                </a14:m>
                <a:r>
                  <a:rPr lang="en-US" dirty="0"/>
                  <a:t>is the ICU readmission label and </a:t>
                </a:r>
                <a14:m>
                  <m:oMath xmlns:m="http://schemas.openxmlformats.org/officeDocument/2006/math">
                    <m:r>
                      <a:rPr lang="en-US" i="1"/>
                      <m:t>𝑍</m:t>
                    </m:r>
                  </m:oMath>
                </a14:m>
                <a:r>
                  <a:rPr lang="en-US" dirty="0"/>
                  <a:t>denotes optional static covariates. The model output is a readmission probability (where </a:t>
                </a:r>
                <a14:m>
                  <m:oMath xmlns:m="http://schemas.openxmlformats.org/officeDocument/2006/math">
                    <m:r>
                      <a:rPr lang="en-US" i="1"/>
                      <m:t>𝜎</m:t>
                    </m:r>
                    <m:d>
                      <m:dPr>
                        <m:ctrlPr>
                          <a:rPr lang="ar-AE" i="1"/>
                        </m:ctrlPr>
                      </m:dPr>
                      <m:e>
                        <m:r>
                          <a:rPr lang="ar-AE"/>
                          <m:t>⋅</m:t>
                        </m:r>
                      </m:e>
                    </m:d>
                  </m:oMath>
                </a14:m>
                <a:r>
                  <a:rPr lang="en-US" dirty="0"/>
                  <a:t>is the logistic sigmoid):</a:t>
                </a:r>
              </a:p>
            </p:txBody>
          </p:sp>
        </mc:Choice>
        <mc:Fallback>
          <p:sp>
            <p:nvSpPr>
              <p:cNvPr id="14" name="TextBox 13">
                <a:extLst>
                  <a:ext uri="{FF2B5EF4-FFF2-40B4-BE49-F238E27FC236}">
                    <a16:creationId xmlns:a16="http://schemas.microsoft.com/office/drawing/2014/main" id="{03DA3201-6FFB-2351-AC54-2A67BCEB359D}"/>
                  </a:ext>
                </a:extLst>
              </p:cNvPr>
              <p:cNvSpPr txBox="1">
                <a:spLocks noRot="1" noChangeAspect="1" noMove="1" noResize="1" noEditPoints="1" noAdjustHandles="1" noChangeArrowheads="1" noChangeShapeType="1" noTextEdit="1"/>
              </p:cNvSpPr>
              <p:nvPr/>
            </p:nvSpPr>
            <p:spPr>
              <a:xfrm>
                <a:off x="2341458" y="4128327"/>
                <a:ext cx="6960424" cy="923330"/>
              </a:xfrm>
              <a:prstGeom prst="rect">
                <a:avLst/>
              </a:prstGeom>
              <a:blipFill>
                <a:blip r:embed="rId8"/>
                <a:stretch>
                  <a:fillRect l="-701" t="-2632" b="-9868"/>
                </a:stretch>
              </a:blipFill>
            </p:spPr>
            <p:txBody>
              <a:bodyPr/>
              <a:lstStyle/>
              <a:p>
                <a:r>
                  <a:rPr lang="en-US">
                    <a:noFill/>
                  </a:rPr>
                  <a:t> </a:t>
                </a:r>
              </a:p>
            </p:txBody>
          </p:sp>
        </mc:Fallback>
      </mc:AlternateContent>
    </p:spTree>
    <p:extLst>
      <p:ext uri="{BB962C8B-B14F-4D97-AF65-F5344CB8AC3E}">
        <p14:creationId xmlns:p14="http://schemas.microsoft.com/office/powerpoint/2010/main" val="34017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481C82-4700-22A5-F802-DF524B2FDAF4}"/>
              </a:ext>
            </a:extLst>
          </p:cNvPr>
          <p:cNvPicPr>
            <a:picLocks noChangeAspect="1"/>
          </p:cNvPicPr>
          <p:nvPr/>
        </p:nvPicPr>
        <p:blipFill>
          <a:blip r:embed="rId2"/>
          <a:stretch>
            <a:fillRect/>
          </a:stretch>
        </p:blipFill>
        <p:spPr>
          <a:xfrm>
            <a:off x="301613" y="927280"/>
            <a:ext cx="7407517" cy="27580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AE465E80-AA59-8910-8296-76731573F41D}"/>
              </a:ext>
            </a:extLst>
          </p:cNvPr>
          <p:cNvPicPr>
            <a:picLocks noChangeAspect="1"/>
          </p:cNvPicPr>
          <p:nvPr/>
        </p:nvPicPr>
        <p:blipFill>
          <a:blip r:embed="rId3"/>
          <a:stretch>
            <a:fillRect/>
          </a:stretch>
        </p:blipFill>
        <p:spPr>
          <a:xfrm>
            <a:off x="1323490" y="3942887"/>
            <a:ext cx="4921503" cy="263538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8" name="TextBox 7">
            <a:extLst>
              <a:ext uri="{FF2B5EF4-FFF2-40B4-BE49-F238E27FC236}">
                <a16:creationId xmlns:a16="http://schemas.microsoft.com/office/drawing/2014/main" id="{76D8EC4F-F81E-6C88-D87D-157A191ACD23}"/>
              </a:ext>
            </a:extLst>
          </p:cNvPr>
          <p:cNvSpPr txBox="1"/>
          <p:nvPr/>
        </p:nvSpPr>
        <p:spPr>
          <a:xfrm>
            <a:off x="347730" y="343910"/>
            <a:ext cx="10305647" cy="523220"/>
          </a:xfrm>
          <a:prstGeom prst="rect">
            <a:avLst/>
          </a:prstGeom>
          <a:noFill/>
        </p:spPr>
        <p:txBody>
          <a:bodyPr wrap="square">
            <a:spAutoFit/>
          </a:bodyPr>
          <a:lstStyle/>
          <a:p>
            <a:r>
              <a:rPr lang="en-US" sz="2800" b="1" dirty="0"/>
              <a:t>Extension to ICU Readmission Classification:</a:t>
            </a:r>
          </a:p>
        </p:txBody>
      </p:sp>
      <p:pic>
        <p:nvPicPr>
          <p:cNvPr id="10" name="Picture 9">
            <a:extLst>
              <a:ext uri="{FF2B5EF4-FFF2-40B4-BE49-F238E27FC236}">
                <a16:creationId xmlns:a16="http://schemas.microsoft.com/office/drawing/2014/main" id="{D1D5F7E0-38E5-DDE8-14B9-E10BE489C19C}"/>
              </a:ext>
            </a:extLst>
          </p:cNvPr>
          <p:cNvPicPr>
            <a:picLocks noChangeAspect="1"/>
          </p:cNvPicPr>
          <p:nvPr/>
        </p:nvPicPr>
        <p:blipFill>
          <a:blip r:embed="rId4"/>
          <a:stretch>
            <a:fillRect/>
          </a:stretch>
        </p:blipFill>
        <p:spPr>
          <a:xfrm>
            <a:off x="8350178" y="2344654"/>
            <a:ext cx="2806844" cy="349268"/>
          </a:xfrm>
          <a:prstGeom prst="rect">
            <a:avLst/>
          </a:prstGeom>
        </p:spPr>
      </p:pic>
      <p:sp>
        <p:nvSpPr>
          <p:cNvPr id="12" name="TextBox 11">
            <a:extLst>
              <a:ext uri="{FF2B5EF4-FFF2-40B4-BE49-F238E27FC236}">
                <a16:creationId xmlns:a16="http://schemas.microsoft.com/office/drawing/2014/main" id="{56CA1F55-F025-99A6-1594-C42DDC616279}"/>
              </a:ext>
            </a:extLst>
          </p:cNvPr>
          <p:cNvSpPr txBox="1"/>
          <p:nvPr/>
        </p:nvSpPr>
        <p:spPr>
          <a:xfrm>
            <a:off x="7850798" y="1231544"/>
            <a:ext cx="3978447" cy="923330"/>
          </a:xfrm>
          <a:prstGeom prst="rect">
            <a:avLst/>
          </a:prstGeom>
          <a:noFill/>
        </p:spPr>
        <p:txBody>
          <a:bodyPr wrap="square">
            <a:spAutoFit/>
          </a:bodyPr>
          <a:lstStyle/>
          <a:p>
            <a:r>
              <a:rPr lang="en-US" dirty="0"/>
              <a:t>Binary cross-entropy on logits. For</a:t>
            </a:r>
          </a:p>
          <a:p>
            <a:r>
              <a:rPr lang="en-US" dirty="0"/>
              <a:t>patient </a:t>
            </a:r>
            <a:r>
              <a:rPr lang="en-US" i="1" dirty="0" err="1"/>
              <a:t>i</a:t>
            </a:r>
            <a:r>
              <a:rPr lang="en-US" dirty="0"/>
              <a:t>, with observed label </a:t>
            </a:r>
            <a:r>
              <a:rPr lang="en-US" i="1" dirty="0" err="1"/>
              <a:t>y</a:t>
            </a:r>
            <a:r>
              <a:rPr lang="en-US" i="1" baseline="-25000" dirty="0" err="1"/>
              <a:t>i</a:t>
            </a:r>
            <a:r>
              <a:rPr lang="en-US" i="1" baseline="-25000" dirty="0"/>
              <a:t> </a:t>
            </a:r>
            <a:r>
              <a:rPr lang="en-US" dirty="0"/>
              <a:t>and predicted probability ˆ</a:t>
            </a:r>
            <a:r>
              <a:rPr lang="en-US" i="1" dirty="0"/>
              <a:t>p</a:t>
            </a:r>
            <a:r>
              <a:rPr lang="en-US" i="1" baseline="-25000" dirty="0"/>
              <a:t>i</a:t>
            </a:r>
            <a:r>
              <a:rPr lang="en-US" dirty="0"/>
              <a:t>, the loss was</a:t>
            </a:r>
          </a:p>
        </p:txBody>
      </p:sp>
      <p:pic>
        <p:nvPicPr>
          <p:cNvPr id="14" name="Picture 13">
            <a:extLst>
              <a:ext uri="{FF2B5EF4-FFF2-40B4-BE49-F238E27FC236}">
                <a16:creationId xmlns:a16="http://schemas.microsoft.com/office/drawing/2014/main" id="{F3DC6CDE-86E8-D012-FD26-D2F74025576B}"/>
              </a:ext>
            </a:extLst>
          </p:cNvPr>
          <p:cNvPicPr>
            <a:picLocks noChangeAspect="1"/>
          </p:cNvPicPr>
          <p:nvPr/>
        </p:nvPicPr>
        <p:blipFill>
          <a:blip r:embed="rId5"/>
          <a:stretch>
            <a:fillRect/>
          </a:stretch>
        </p:blipFill>
        <p:spPr>
          <a:xfrm>
            <a:off x="9208163" y="2848285"/>
            <a:ext cx="1263715" cy="609631"/>
          </a:xfrm>
          <a:prstGeom prst="rect">
            <a:avLst/>
          </a:prstGeom>
        </p:spPr>
      </p:pic>
    </p:spTree>
    <p:extLst>
      <p:ext uri="{BB962C8B-B14F-4D97-AF65-F5344CB8AC3E}">
        <p14:creationId xmlns:p14="http://schemas.microsoft.com/office/powerpoint/2010/main" val="22943525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bcfc9f0-4e11-443a-bbfd-24857bbb4ee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C98DC2606335A4E9AA6ABC9A026BDB7" ma:contentTypeVersion="13" ma:contentTypeDescription="Create a new document." ma:contentTypeScope="" ma:versionID="5dfb385d20bf024663c9f81bdc20a151">
  <xsd:schema xmlns:xsd="http://www.w3.org/2001/XMLSchema" xmlns:xs="http://www.w3.org/2001/XMLSchema" xmlns:p="http://schemas.microsoft.com/office/2006/metadata/properties" xmlns:ns3="3bcfc9f0-4e11-443a-bbfd-24857bbb4ee2" xmlns:ns4="e2f0b8c8-5a0b-4ae9-b6d0-e730ed024312" targetNamespace="http://schemas.microsoft.com/office/2006/metadata/properties" ma:root="true" ma:fieldsID="8145896a80839fad57cd9e7041843e5d" ns3:_="" ns4:_="">
    <xsd:import namespace="3bcfc9f0-4e11-443a-bbfd-24857bbb4ee2"/>
    <xsd:import namespace="e2f0b8c8-5a0b-4ae9-b6d0-e730ed02431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_activity" minOccurs="0"/>
                <xsd:element ref="ns3:MediaServiceDateTaken"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cfc9f0-4e11-443a-bbfd-24857bbb4e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2f0b8c8-5a0b-4ae9-b6d0-e730ed02431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A84A72-A9DC-4853-8970-55EA7B811067}">
  <ds:schemaRefs>
    <ds:schemaRef ds:uri="http://purl.org/dc/dcmitype/"/>
    <ds:schemaRef ds:uri="e2f0b8c8-5a0b-4ae9-b6d0-e730ed024312"/>
    <ds:schemaRef ds:uri="http://purl.org/dc/elements/1.1/"/>
    <ds:schemaRef ds:uri="http://schemas.microsoft.com/office/2006/documentManagement/types"/>
    <ds:schemaRef ds:uri="3bcfc9f0-4e11-443a-bbfd-24857bbb4ee2"/>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800D7711-5F26-4A91-A722-9272C0755CBC}">
  <ds:schemaRefs>
    <ds:schemaRef ds:uri="http://schemas.microsoft.com/sharepoint/v3/contenttype/forms"/>
  </ds:schemaRefs>
</ds:datastoreItem>
</file>

<file path=customXml/itemProps3.xml><?xml version="1.0" encoding="utf-8"?>
<ds:datastoreItem xmlns:ds="http://schemas.openxmlformats.org/officeDocument/2006/customXml" ds:itemID="{9C8FD875-8B2E-42B8-973C-1939CBF418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cfc9f0-4e11-443a-bbfd-24857bbb4ee2"/>
    <ds:schemaRef ds:uri="e2f0b8c8-5a0b-4ae9-b6d0-e730ed0243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3582</TotalTime>
  <Words>1441</Words>
  <Application>Microsoft Office PowerPoint</Application>
  <PresentationFormat>Widescreen</PresentationFormat>
  <Paragraphs>220</Paragraphs>
  <Slides>11</Slides>
  <Notes>2</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Aptos Narrow</vt:lpstr>
      <vt:lpstr>Arial</vt:lpstr>
      <vt:lpstr>Cambria Math</vt:lpstr>
      <vt:lpstr>CMMI10</vt:lpstr>
      <vt:lpstr>CMMI7</vt:lpstr>
      <vt:lpstr>CMR10</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Paper Methods Reproduction: (04/09/2026)</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TIME-IMM Project Proposal</dc:title>
  <dc:subject>STAT 8240 project proposal</dc:subject>
  <dc:creator>OpenAI</dc:creator>
  <cp:lastModifiedBy>Brandi Jones</cp:lastModifiedBy>
  <cp:revision>10</cp:revision>
  <dcterms:created xsi:type="dcterms:W3CDTF">2026-03-26T16:34:57Z</dcterms:created>
  <dcterms:modified xsi:type="dcterms:W3CDTF">2026-04-09T14:56:27Z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0x010100DC98DC2606335A4E9AA6ABC9A026BDB7</vt:lpwstr>
  </property>
</Properties>
</file>