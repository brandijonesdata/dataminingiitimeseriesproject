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8"/>
  </p:notesMasterIdLst>
  <p:sldIdLst>
    <p:sldId id="256" r:id="rId5"/>
    <p:sldId id="257" r:id="rId6"/>
    <p:sldId id="258"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ED5E5"/>
    <a:srgbClr val="70AD4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9" d="100"/>
          <a:sy n="99" d="100"/>
        </p:scale>
        <p:origin x="404" y="2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58840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script:
This project uses TIME-IMM because it naturally covers all three assignment options. The paper focuses on irregular, asynchronous, multimodal time series, which is exactly the kind of realistic longitudinal setting the class project is pushing us toward. My plan is to first reproduce the benchmark with the official code, then apply it in a healthcare-focused setting using MIMIC, and finally add a methodological extension: a reliability-aware fusion gate that decides when text should influence the forecast. The central hypothesis is that text is useful, but not uniformly useful, so adaptive fusion should outperform a fixed fusion rule.
[Sources]
- User-uploaded paper: Time-IMM.pdf, pages 1-3 and 6-9 (benchmark motivation, 9 datasets, IMM-TSF modules, multimodal gains, and fusion ablation).
- User-uploaded class slides: Class Project.pptx, slides titled “Anchor Paper: TIME-IMM (2025)”, “Project Tracks”, and “Proposal &amp; Weekly Progress Check”.
- OpenReview page for the paper confirming public dataset and code URLs: https://openreview.net/forum?id=yeqrrn51TL
- GitHub repositories: https://github.com/blacksnail789521/Time-IMM and https://github.com/blacksnail789521/IMM-TSF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script:
On the execution side, I will keep the project staged. First, I will replicate the official benchmark on a small but diverse subset of TIME-IMM, probably MIMIC, ClusterTrace, and one of FNSPID or EPA-Air. I will follow the paper’s split, sliding-window setup, and core fusion baselines so the reproduction is faithful. Second, I will frame the application around healthcare by asking when clinical text helps most in MIMIC. Third, I will implement RA-GRAdd, a reliability-aware version of the paper’s GR-Add fusion that uses recency, note density, missingness, and time-series/text alignment to decide how much text should affect the forecast. Evaluation will use MSE first, then MAE and ablation studies.
[Sources]
- User-uploaded paper: Time-IMM.pdf, pages 2-9 (dataset taxonomy, IMM-TSF architecture, TTF/MMF variants, experimental setup, and ablation findings).
- User-uploaded class slides: Class Project.pptx, slides titled “Proposal &amp; Weekly Progress Check”, “Final Project Report”, and “Code”.
- GitHub README for IMM-TSF documenting main.py, compute_text_embeddings.py, main_all.sh, and MIMIC preprocessing: https://github.com/blacksnail789521/IMM-TSF
- GitHub README for Time-IMM documenting the released 8 datasets and local MIMIC preprocessing requirement: https://github.com/blacksnail789521/Time-IMM
</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5F0"/>
        </a:solidFill>
        <a:effectLst/>
      </p:bgPr>
    </p:bg>
    <p:spTree>
      <p:nvGrpSpPr>
        <p:cNvPr id="1" name=""/>
        <p:cNvGrpSpPr/>
        <p:nvPr/>
      </p:nvGrpSpPr>
      <p:grpSpPr>
        <a:xfrm>
          <a:off x="0" y="0"/>
          <a:ext cx="0" cy="0"/>
          <a:chOff x="0" y="0"/>
          <a:chExt cx="0" cy="0"/>
        </a:xfrm>
      </p:grpSpPr>
      <p:sp>
        <p:nvSpPr>
          <p:cNvPr id="2" name="Shape 0"/>
          <p:cNvSpPr/>
          <p:nvPr/>
        </p:nvSpPr>
        <p:spPr>
          <a:xfrm>
            <a:off x="0" y="0"/>
            <a:ext cx="12191695" cy="310896"/>
          </a:xfrm>
          <a:prstGeom prst="rect">
            <a:avLst/>
          </a:prstGeom>
          <a:solidFill>
            <a:srgbClr val="11263F"/>
          </a:solidFill>
          <a:ln w="12700">
            <a:solidFill>
              <a:srgbClr val="11263F"/>
            </a:solidFill>
            <a:prstDash val="solid"/>
          </a:ln>
        </p:spPr>
        <p:txBody>
          <a:bodyPr/>
          <a:lstStyle/>
          <a:p>
            <a:endParaRPr lang="en-US"/>
          </a:p>
        </p:txBody>
      </p:sp>
      <p:sp>
        <p:nvSpPr>
          <p:cNvPr id="3" name="Text 1"/>
          <p:cNvSpPr/>
          <p:nvPr/>
        </p:nvSpPr>
        <p:spPr>
          <a:xfrm>
            <a:off x="411480" y="82296"/>
            <a:ext cx="3657600" cy="146304"/>
          </a:xfrm>
          <a:prstGeom prst="rect">
            <a:avLst/>
          </a:prstGeom>
          <a:noFill/>
          <a:ln/>
        </p:spPr>
        <p:txBody>
          <a:bodyPr wrap="square" lIns="0" tIns="0" rIns="0" bIns="0" rtlCol="0" anchor="ctr"/>
          <a:lstStyle/>
          <a:p>
            <a:pPr marL="0" indent="0">
              <a:buNone/>
            </a:pPr>
            <a:r>
              <a:rPr lang="en-US" sz="1000" dirty="0">
                <a:solidFill>
                  <a:srgbClr val="E6EDF5"/>
                </a:solidFill>
                <a:latin typeface="Aptos" pitchFamily="34" charset="0"/>
                <a:ea typeface="Aptos" pitchFamily="34" charset="-122"/>
                <a:cs typeface="Aptos" pitchFamily="34" charset="-120"/>
              </a:rPr>
              <a:t>TIME-IMM proposal</a:t>
            </a:r>
            <a:endParaRPr lang="en-US" sz="1000" dirty="0"/>
          </a:p>
        </p:txBody>
      </p:sp>
      <p:sp>
        <p:nvSpPr>
          <p:cNvPr id="4" name="Text 2"/>
          <p:cNvSpPr/>
          <p:nvPr/>
        </p:nvSpPr>
        <p:spPr>
          <a:xfrm>
            <a:off x="8412480" y="82296"/>
            <a:ext cx="3383280" cy="146304"/>
          </a:xfrm>
          <a:prstGeom prst="rect">
            <a:avLst/>
          </a:prstGeom>
          <a:noFill/>
          <a:ln/>
        </p:spPr>
        <p:txBody>
          <a:bodyPr wrap="square" lIns="0" tIns="0" rIns="0" bIns="0" rtlCol="0" anchor="ctr"/>
          <a:lstStyle/>
          <a:p>
            <a:pPr marL="0" indent="0" algn="r">
              <a:buNone/>
            </a:pPr>
            <a:r>
              <a:rPr lang="en-US" sz="1000" dirty="0">
                <a:solidFill>
                  <a:srgbClr val="E6EDF5"/>
                </a:solidFill>
                <a:latin typeface="Aptos" pitchFamily="34" charset="0"/>
                <a:ea typeface="Aptos" pitchFamily="34" charset="-122"/>
                <a:cs typeface="Aptos" pitchFamily="34" charset="-120"/>
              </a:rPr>
              <a:t>STAT 8240 • Data Mining II</a:t>
            </a:r>
            <a:endParaRPr lang="en-US" sz="1000" dirty="0"/>
          </a:p>
        </p:txBody>
      </p:sp>
      <p:sp>
        <p:nvSpPr>
          <p:cNvPr id="5" name="Shape 3"/>
          <p:cNvSpPr/>
          <p:nvPr/>
        </p:nvSpPr>
        <p:spPr>
          <a:xfrm>
            <a:off x="411480" y="6419088"/>
            <a:ext cx="11338560" cy="0"/>
          </a:xfrm>
          <a:prstGeom prst="line">
            <a:avLst/>
          </a:prstGeom>
          <a:noFill/>
          <a:ln w="12700">
            <a:solidFill>
              <a:srgbClr val="D7D0C7"/>
            </a:solidFill>
            <a:prstDash val="solid"/>
          </a:ln>
        </p:spPr>
        <p:txBody>
          <a:bodyPr/>
          <a:lstStyle/>
          <a:p>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246888" y="402628"/>
            <a:ext cx="6309360" cy="502920"/>
          </a:xfrm>
          <a:prstGeom prst="rect">
            <a:avLst/>
          </a:prstGeom>
          <a:noFill/>
          <a:ln/>
        </p:spPr>
        <p:txBody>
          <a:bodyPr wrap="square" lIns="0" tIns="0" rIns="0" bIns="0" rtlCol="0" anchor="ctr"/>
          <a:lstStyle/>
          <a:p>
            <a:pPr marL="0" indent="0">
              <a:buNone/>
            </a:pPr>
            <a:r>
              <a:rPr lang="en-US" sz="4000" b="1" dirty="0">
                <a:solidFill>
                  <a:srgbClr val="11263F"/>
                </a:solidFill>
                <a:latin typeface="Aptos Display" pitchFamily="34" charset="0"/>
                <a:ea typeface="Aptos Display" pitchFamily="34" charset="-122"/>
                <a:cs typeface="Aptos Display" pitchFamily="34" charset="-120"/>
              </a:rPr>
              <a:t>TIME-IMM Project Proposal</a:t>
            </a:r>
            <a:endParaRPr lang="en-US" sz="4000" dirty="0"/>
          </a:p>
        </p:txBody>
      </p:sp>
      <p:sp>
        <p:nvSpPr>
          <p:cNvPr id="3" name="Text 1"/>
          <p:cNvSpPr/>
          <p:nvPr/>
        </p:nvSpPr>
        <p:spPr>
          <a:xfrm>
            <a:off x="340650" y="956823"/>
            <a:ext cx="6217920" cy="566928"/>
          </a:xfrm>
          <a:prstGeom prst="rect">
            <a:avLst/>
          </a:prstGeom>
          <a:noFill/>
          <a:ln/>
        </p:spPr>
        <p:txBody>
          <a:bodyPr wrap="square" lIns="0" tIns="0" rIns="0" bIns="0" rtlCol="0" anchor="ctr"/>
          <a:lstStyle/>
          <a:p>
            <a:pPr marL="0" indent="0">
              <a:buNone/>
            </a:pPr>
            <a:r>
              <a:rPr lang="en-US" b="1" dirty="0">
                <a:solidFill>
                  <a:srgbClr val="6B7785"/>
                </a:solidFill>
                <a:latin typeface="Aptos" pitchFamily="34" charset="0"/>
                <a:ea typeface="Aptos" pitchFamily="34" charset="-122"/>
                <a:cs typeface="Aptos" pitchFamily="34" charset="-120"/>
              </a:rPr>
              <a:t>Brandi Jones</a:t>
            </a:r>
          </a:p>
          <a:p>
            <a:pPr marL="0" indent="0">
              <a:buNone/>
            </a:pPr>
            <a:r>
              <a:rPr lang="en-US" b="1" dirty="0">
                <a:solidFill>
                  <a:srgbClr val="6B7785"/>
                </a:solidFill>
                <a:latin typeface="Aptos" pitchFamily="34" charset="0"/>
              </a:rPr>
              <a:t>Chad Bishop</a:t>
            </a:r>
          </a:p>
          <a:p>
            <a:pPr marL="0" indent="0">
              <a:buNone/>
            </a:pPr>
            <a:r>
              <a:rPr lang="en-US" b="1" dirty="0">
                <a:solidFill>
                  <a:srgbClr val="6B7785"/>
                </a:solidFill>
                <a:latin typeface="Aptos" pitchFamily="34" charset="0"/>
              </a:rPr>
              <a:t>Nnenna Ifeanyi</a:t>
            </a:r>
            <a:endParaRPr lang="en-US" b="1" dirty="0"/>
          </a:p>
        </p:txBody>
      </p:sp>
      <p:sp>
        <p:nvSpPr>
          <p:cNvPr id="4" name="Text 2"/>
          <p:cNvSpPr/>
          <p:nvPr/>
        </p:nvSpPr>
        <p:spPr>
          <a:xfrm>
            <a:off x="548640" y="1802393"/>
            <a:ext cx="2011680" cy="219456"/>
          </a:xfrm>
          <a:prstGeom prst="rect">
            <a:avLst/>
          </a:prstGeom>
          <a:noFill/>
          <a:ln/>
        </p:spPr>
        <p:txBody>
          <a:bodyPr wrap="square" lIns="0" tIns="0" rIns="0" bIns="0" rtlCol="0" anchor="ctr"/>
          <a:lstStyle/>
          <a:p>
            <a:pPr marL="0" indent="0">
              <a:buNone/>
            </a:pPr>
            <a:r>
              <a:rPr lang="en-US" sz="1400" b="1" dirty="0">
                <a:solidFill>
                  <a:srgbClr val="5D89B3"/>
                </a:solidFill>
                <a:latin typeface="Aptos" pitchFamily="34" charset="0"/>
                <a:ea typeface="Aptos" pitchFamily="34" charset="-122"/>
                <a:cs typeface="Aptos" pitchFamily="34" charset="-120"/>
              </a:rPr>
              <a:t>Problem framing</a:t>
            </a:r>
            <a:endParaRPr lang="en-US" sz="1400" dirty="0"/>
          </a:p>
        </p:txBody>
      </p:sp>
      <p:sp>
        <p:nvSpPr>
          <p:cNvPr id="5" name="Text 3"/>
          <p:cNvSpPr/>
          <p:nvPr/>
        </p:nvSpPr>
        <p:spPr>
          <a:xfrm>
            <a:off x="566928" y="1997769"/>
            <a:ext cx="6381224" cy="1078992"/>
          </a:xfrm>
          <a:prstGeom prst="rect">
            <a:avLst/>
          </a:prstGeom>
          <a:noFill/>
          <a:ln/>
        </p:spPr>
        <p:txBody>
          <a:bodyPr wrap="square" lIns="254" tIns="254" rIns="254" bIns="254" rtlCol="0" anchor="t"/>
          <a:lstStyle/>
          <a:p>
            <a:pPr marL="0" indent="0">
              <a:buNone/>
            </a:pPr>
            <a:r>
              <a:rPr lang="en-US" sz="1720" b="1" dirty="0">
                <a:solidFill>
                  <a:srgbClr val="C39A57"/>
                </a:solidFill>
                <a:latin typeface="Aptos" pitchFamily="34" charset="0"/>
                <a:ea typeface="Aptos" pitchFamily="34" charset="-122"/>
                <a:cs typeface="Aptos" pitchFamily="34" charset="-120"/>
              </a:rPr>
              <a:t>• </a:t>
            </a:r>
            <a:r>
              <a:rPr lang="en-US" sz="1720" dirty="0">
                <a:solidFill>
                  <a:srgbClr val="22313F"/>
                </a:solidFill>
                <a:latin typeface="Aptos" pitchFamily="34" charset="0"/>
                <a:ea typeface="Aptos" pitchFamily="34" charset="-122"/>
                <a:cs typeface="Aptos" pitchFamily="34" charset="-120"/>
              </a:rPr>
              <a:t>Real-world time series are irregular, asynchronous,  </a:t>
            </a:r>
          </a:p>
          <a:p>
            <a:pPr marL="0" indent="0">
              <a:buNone/>
            </a:pPr>
            <a:r>
              <a:rPr lang="en-US" sz="1720" dirty="0">
                <a:solidFill>
                  <a:srgbClr val="22313F"/>
                </a:solidFill>
                <a:latin typeface="Aptos" pitchFamily="34" charset="0"/>
                <a:ea typeface="Aptos" pitchFamily="34" charset="-122"/>
                <a:cs typeface="Aptos" pitchFamily="34" charset="-120"/>
              </a:rPr>
              <a:t>    multimodal, and missing-rich.</a:t>
            </a:r>
            <a:endParaRPr lang="en-US" sz="1720" dirty="0"/>
          </a:p>
          <a:p>
            <a:pPr marL="0" indent="0">
              <a:buNone/>
            </a:pPr>
            <a:r>
              <a:rPr lang="en-US" sz="1720" b="1" dirty="0">
                <a:solidFill>
                  <a:srgbClr val="C39A57"/>
                </a:solidFill>
                <a:latin typeface="Aptos" pitchFamily="34" charset="0"/>
                <a:ea typeface="Aptos" pitchFamily="34" charset="-122"/>
                <a:cs typeface="Aptos" pitchFamily="34" charset="-120"/>
              </a:rPr>
              <a:t>• </a:t>
            </a:r>
            <a:r>
              <a:rPr lang="en-US" sz="1720" dirty="0">
                <a:solidFill>
                  <a:srgbClr val="22313F"/>
                </a:solidFill>
                <a:latin typeface="Aptos" pitchFamily="34" charset="0"/>
                <a:ea typeface="Aptos" pitchFamily="34" charset="-122"/>
                <a:cs typeface="Aptos" pitchFamily="34" charset="-120"/>
              </a:rPr>
              <a:t>TIME-IMM contributes 9 datasets and the IMM-TSF </a:t>
            </a:r>
          </a:p>
          <a:p>
            <a:pPr marL="0" indent="0">
              <a:buNone/>
            </a:pPr>
            <a:r>
              <a:rPr lang="en-US" sz="1720" dirty="0">
                <a:solidFill>
                  <a:srgbClr val="22313F"/>
                </a:solidFill>
                <a:latin typeface="Aptos" pitchFamily="34" charset="0"/>
                <a:ea typeface="Aptos" pitchFamily="34" charset="-122"/>
                <a:cs typeface="Aptos" pitchFamily="34" charset="-120"/>
              </a:rPr>
              <a:t>    library, making reproduction, application, and extension all </a:t>
            </a:r>
          </a:p>
          <a:p>
            <a:pPr marL="0" indent="0">
              <a:buNone/>
            </a:pPr>
            <a:r>
              <a:rPr lang="en-US" sz="1720" dirty="0">
                <a:solidFill>
                  <a:srgbClr val="22313F"/>
                </a:solidFill>
                <a:latin typeface="Aptos" pitchFamily="34" charset="0"/>
                <a:ea typeface="Aptos" pitchFamily="34" charset="-122"/>
                <a:cs typeface="Aptos" pitchFamily="34" charset="-120"/>
              </a:rPr>
              <a:t>    feasible.</a:t>
            </a:r>
            <a:endParaRPr lang="en-US" sz="1720" dirty="0"/>
          </a:p>
        </p:txBody>
      </p:sp>
      <p:sp>
        <p:nvSpPr>
          <p:cNvPr id="6" name="Shape 4"/>
          <p:cNvSpPr/>
          <p:nvPr/>
        </p:nvSpPr>
        <p:spPr>
          <a:xfrm>
            <a:off x="548640" y="4926419"/>
            <a:ext cx="1874520" cy="1371600"/>
          </a:xfrm>
          <a:prstGeom prst="roundRect">
            <a:avLst>
              <a:gd name="adj" fmla="val 5333"/>
            </a:avLst>
          </a:prstGeom>
          <a:solidFill>
            <a:srgbClr val="FFFFFF"/>
          </a:solidFill>
          <a:ln w="12700">
            <a:solidFill>
              <a:srgbClr val="E4DED5"/>
            </a:solidFill>
            <a:prstDash val="solid"/>
          </a:ln>
          <a:effectLst>
            <a:outerShdw blurRad="15240" dist="12700" dir="2700000" algn="bl" rotWithShape="0">
              <a:srgbClr val="000000">
                <a:alpha val="12000"/>
              </a:srgbClr>
            </a:outerShdw>
          </a:effectLst>
        </p:spPr>
        <p:txBody>
          <a:bodyPr/>
          <a:lstStyle/>
          <a:p>
            <a:endParaRPr lang="en-US"/>
          </a:p>
        </p:txBody>
      </p:sp>
      <p:sp>
        <p:nvSpPr>
          <p:cNvPr id="7" name="Shape 5"/>
          <p:cNvSpPr/>
          <p:nvPr/>
        </p:nvSpPr>
        <p:spPr>
          <a:xfrm>
            <a:off x="713232" y="4784124"/>
            <a:ext cx="822960" cy="256032"/>
          </a:xfrm>
          <a:prstGeom prst="roundRect">
            <a:avLst>
              <a:gd name="adj" fmla="val 28571"/>
            </a:avLst>
          </a:prstGeom>
          <a:solidFill>
            <a:srgbClr val="3B7C8F"/>
          </a:solidFill>
          <a:ln w="12700">
            <a:solidFill>
              <a:srgbClr val="3B7C8F"/>
            </a:solidFill>
            <a:prstDash val="solid"/>
          </a:ln>
        </p:spPr>
        <p:txBody>
          <a:bodyPr/>
          <a:lstStyle/>
          <a:p>
            <a:endParaRPr lang="en-US"/>
          </a:p>
        </p:txBody>
      </p:sp>
      <p:sp>
        <p:nvSpPr>
          <p:cNvPr id="8" name="Text 6"/>
          <p:cNvSpPr/>
          <p:nvPr/>
        </p:nvSpPr>
        <p:spPr>
          <a:xfrm>
            <a:off x="749808" y="4833727"/>
            <a:ext cx="749808" cy="164592"/>
          </a:xfrm>
          <a:prstGeom prst="rect">
            <a:avLst/>
          </a:prstGeom>
          <a:noFill/>
          <a:ln/>
        </p:spPr>
        <p:txBody>
          <a:bodyPr wrap="square" lIns="0" tIns="0" rIns="0" bIns="0" rtlCol="0" anchor="ctr"/>
          <a:lstStyle/>
          <a:p>
            <a:pPr marL="0" indent="0" algn="ctr">
              <a:buNone/>
            </a:pPr>
            <a:r>
              <a:rPr lang="en-US" sz="1400" b="1" dirty="0">
                <a:solidFill>
                  <a:srgbClr val="FFFFFF"/>
                </a:solidFill>
                <a:latin typeface="Aptos" pitchFamily="34" charset="0"/>
                <a:ea typeface="Aptos" pitchFamily="34" charset="-122"/>
                <a:cs typeface="Aptos" pitchFamily="34" charset="-120"/>
              </a:rPr>
              <a:t>A</a:t>
            </a:r>
            <a:endParaRPr lang="en-US" sz="1400" dirty="0"/>
          </a:p>
        </p:txBody>
      </p:sp>
      <p:sp>
        <p:nvSpPr>
          <p:cNvPr id="9" name="Text 7"/>
          <p:cNvSpPr/>
          <p:nvPr/>
        </p:nvSpPr>
        <p:spPr>
          <a:xfrm>
            <a:off x="713232" y="5037582"/>
            <a:ext cx="1545336" cy="384048"/>
          </a:xfrm>
          <a:prstGeom prst="rect">
            <a:avLst/>
          </a:prstGeom>
          <a:noFill/>
          <a:ln/>
        </p:spPr>
        <p:txBody>
          <a:bodyPr wrap="square" lIns="0" tIns="0" rIns="0" bIns="0" rtlCol="0" anchor="ctr"/>
          <a:lstStyle/>
          <a:p>
            <a:pPr marL="0" indent="0">
              <a:buNone/>
            </a:pPr>
            <a:r>
              <a:rPr lang="en-US" sz="1580" b="1" dirty="0">
                <a:solidFill>
                  <a:srgbClr val="11263F"/>
                </a:solidFill>
                <a:latin typeface="Aptos" pitchFamily="34" charset="0"/>
                <a:ea typeface="Aptos" pitchFamily="34" charset="-122"/>
                <a:cs typeface="Aptos" pitchFamily="34" charset="-120"/>
              </a:rPr>
              <a:t>Reproduction</a:t>
            </a:r>
            <a:endParaRPr lang="en-US" sz="1580" dirty="0"/>
          </a:p>
        </p:txBody>
      </p:sp>
      <p:sp>
        <p:nvSpPr>
          <p:cNvPr id="10" name="Text 8"/>
          <p:cNvSpPr/>
          <p:nvPr/>
        </p:nvSpPr>
        <p:spPr>
          <a:xfrm>
            <a:off x="781812" y="5360204"/>
            <a:ext cx="1545336" cy="310896"/>
          </a:xfrm>
          <a:prstGeom prst="rect">
            <a:avLst/>
          </a:prstGeom>
          <a:noFill/>
          <a:ln/>
        </p:spPr>
        <p:txBody>
          <a:bodyPr wrap="square" lIns="254" tIns="254" rIns="254" bIns="254" rtlCol="0" anchor="t"/>
          <a:lstStyle/>
          <a:p>
            <a:pPr marL="0" indent="0">
              <a:buNone/>
            </a:pPr>
            <a:r>
              <a:rPr lang="en-US" sz="1240" dirty="0">
                <a:solidFill>
                  <a:srgbClr val="22313F"/>
                </a:solidFill>
                <a:latin typeface="Aptos" pitchFamily="34" charset="0"/>
                <a:ea typeface="Aptos" pitchFamily="34" charset="-122"/>
                <a:cs typeface="Aptos" pitchFamily="34" charset="-120"/>
              </a:rPr>
              <a:t>Replicate the paper’s IMM-TSF results with released code and matched settings.</a:t>
            </a:r>
            <a:endParaRPr lang="en-US" sz="1240" dirty="0"/>
          </a:p>
        </p:txBody>
      </p:sp>
      <p:sp>
        <p:nvSpPr>
          <p:cNvPr id="11" name="Shape 9"/>
          <p:cNvSpPr/>
          <p:nvPr/>
        </p:nvSpPr>
        <p:spPr>
          <a:xfrm>
            <a:off x="2624328" y="4908132"/>
            <a:ext cx="1874520" cy="1371600"/>
          </a:xfrm>
          <a:prstGeom prst="roundRect">
            <a:avLst>
              <a:gd name="adj" fmla="val 5333"/>
            </a:avLst>
          </a:prstGeom>
          <a:solidFill>
            <a:srgbClr val="FFFFFF"/>
          </a:solidFill>
          <a:ln w="12700">
            <a:solidFill>
              <a:srgbClr val="E4DED5"/>
            </a:solidFill>
            <a:prstDash val="solid"/>
          </a:ln>
          <a:effectLst>
            <a:outerShdw blurRad="15240" dist="12700" dir="2700000" algn="bl" rotWithShape="0">
              <a:srgbClr val="000000">
                <a:alpha val="12000"/>
              </a:srgbClr>
            </a:outerShdw>
          </a:effectLst>
        </p:spPr>
        <p:txBody>
          <a:bodyPr/>
          <a:lstStyle/>
          <a:p>
            <a:endParaRPr lang="en-US"/>
          </a:p>
        </p:txBody>
      </p:sp>
      <p:sp>
        <p:nvSpPr>
          <p:cNvPr id="12" name="Shape 10"/>
          <p:cNvSpPr/>
          <p:nvPr/>
        </p:nvSpPr>
        <p:spPr>
          <a:xfrm>
            <a:off x="2770632" y="4784124"/>
            <a:ext cx="822960" cy="256032"/>
          </a:xfrm>
          <a:prstGeom prst="roundRect">
            <a:avLst>
              <a:gd name="adj" fmla="val 28571"/>
            </a:avLst>
          </a:prstGeom>
          <a:solidFill>
            <a:srgbClr val="C39A57"/>
          </a:solidFill>
          <a:ln w="12700">
            <a:solidFill>
              <a:srgbClr val="C39A57"/>
            </a:solidFill>
            <a:prstDash val="solid"/>
          </a:ln>
        </p:spPr>
        <p:txBody>
          <a:bodyPr/>
          <a:lstStyle/>
          <a:p>
            <a:endParaRPr lang="en-US"/>
          </a:p>
        </p:txBody>
      </p:sp>
      <p:sp>
        <p:nvSpPr>
          <p:cNvPr id="13" name="Text 11"/>
          <p:cNvSpPr/>
          <p:nvPr/>
        </p:nvSpPr>
        <p:spPr>
          <a:xfrm>
            <a:off x="2807208" y="4833727"/>
            <a:ext cx="749808" cy="164592"/>
          </a:xfrm>
          <a:prstGeom prst="rect">
            <a:avLst/>
          </a:prstGeom>
          <a:noFill/>
          <a:ln/>
        </p:spPr>
        <p:txBody>
          <a:bodyPr wrap="square" lIns="0" tIns="0" rIns="0" bIns="0" rtlCol="0" anchor="ctr"/>
          <a:lstStyle/>
          <a:p>
            <a:pPr marL="0" indent="0" algn="ctr">
              <a:buNone/>
            </a:pPr>
            <a:r>
              <a:rPr lang="en-US" sz="1400" b="1" dirty="0">
                <a:solidFill>
                  <a:srgbClr val="FFFFFF"/>
                </a:solidFill>
                <a:latin typeface="Aptos" pitchFamily="34" charset="0"/>
                <a:ea typeface="Aptos" pitchFamily="34" charset="-122"/>
                <a:cs typeface="Aptos" pitchFamily="34" charset="-120"/>
              </a:rPr>
              <a:t>B</a:t>
            </a:r>
            <a:endParaRPr lang="en-US" sz="1400" dirty="0"/>
          </a:p>
        </p:txBody>
      </p:sp>
      <p:sp>
        <p:nvSpPr>
          <p:cNvPr id="14" name="Text 12"/>
          <p:cNvSpPr/>
          <p:nvPr/>
        </p:nvSpPr>
        <p:spPr>
          <a:xfrm>
            <a:off x="2770632" y="5031388"/>
            <a:ext cx="1545336" cy="384048"/>
          </a:xfrm>
          <a:prstGeom prst="rect">
            <a:avLst/>
          </a:prstGeom>
          <a:noFill/>
          <a:ln/>
        </p:spPr>
        <p:txBody>
          <a:bodyPr wrap="square" lIns="0" tIns="0" rIns="0" bIns="0" rtlCol="0" anchor="ctr"/>
          <a:lstStyle/>
          <a:p>
            <a:pPr marL="0" indent="0">
              <a:buNone/>
            </a:pPr>
            <a:r>
              <a:rPr lang="en-US" sz="1580" b="1" dirty="0">
                <a:solidFill>
                  <a:srgbClr val="11263F"/>
                </a:solidFill>
                <a:latin typeface="Aptos" pitchFamily="34" charset="0"/>
                <a:ea typeface="Aptos" pitchFamily="34" charset="-122"/>
                <a:cs typeface="Aptos" pitchFamily="34" charset="-120"/>
              </a:rPr>
              <a:t>Application</a:t>
            </a:r>
            <a:endParaRPr lang="en-US" sz="1580" dirty="0"/>
          </a:p>
        </p:txBody>
      </p:sp>
      <p:sp>
        <p:nvSpPr>
          <p:cNvPr id="15" name="Text 13"/>
          <p:cNvSpPr/>
          <p:nvPr/>
        </p:nvSpPr>
        <p:spPr>
          <a:xfrm>
            <a:off x="2770632" y="5377357"/>
            <a:ext cx="1545336" cy="310896"/>
          </a:xfrm>
          <a:prstGeom prst="rect">
            <a:avLst/>
          </a:prstGeom>
          <a:noFill/>
          <a:ln/>
        </p:spPr>
        <p:txBody>
          <a:bodyPr wrap="square" lIns="254" tIns="254" rIns="254" bIns="254" rtlCol="0" anchor="t"/>
          <a:lstStyle/>
          <a:p>
            <a:pPr marL="0" indent="0">
              <a:buNone/>
            </a:pPr>
            <a:r>
              <a:rPr lang="en-US" sz="1240" dirty="0">
                <a:solidFill>
                  <a:srgbClr val="22313F"/>
                </a:solidFill>
                <a:latin typeface="Aptos" pitchFamily="34" charset="0"/>
                <a:ea typeface="Aptos" pitchFamily="34" charset="-122"/>
                <a:cs typeface="Aptos" pitchFamily="34" charset="-120"/>
              </a:rPr>
              <a:t>Use MIMIC as the healthcare case and analyze when notes help forecasting most.</a:t>
            </a:r>
            <a:endParaRPr lang="en-US" sz="1240" dirty="0"/>
          </a:p>
        </p:txBody>
      </p:sp>
      <p:sp>
        <p:nvSpPr>
          <p:cNvPr id="16" name="Shape 14"/>
          <p:cNvSpPr/>
          <p:nvPr/>
        </p:nvSpPr>
        <p:spPr>
          <a:xfrm>
            <a:off x="4663440" y="4926419"/>
            <a:ext cx="1874520" cy="1371600"/>
          </a:xfrm>
          <a:prstGeom prst="roundRect">
            <a:avLst>
              <a:gd name="adj" fmla="val 5333"/>
            </a:avLst>
          </a:prstGeom>
          <a:solidFill>
            <a:srgbClr val="FFFFFF"/>
          </a:solidFill>
          <a:ln w="12700">
            <a:solidFill>
              <a:srgbClr val="E4DED5"/>
            </a:solidFill>
            <a:prstDash val="solid"/>
          </a:ln>
          <a:effectLst>
            <a:outerShdw blurRad="15240" dist="12700" dir="2700000" algn="bl" rotWithShape="0">
              <a:srgbClr val="000000">
                <a:alpha val="12000"/>
              </a:srgbClr>
            </a:outerShdw>
          </a:effectLst>
        </p:spPr>
        <p:txBody>
          <a:bodyPr/>
          <a:lstStyle/>
          <a:p>
            <a:endParaRPr lang="en-US"/>
          </a:p>
        </p:txBody>
      </p:sp>
      <p:sp>
        <p:nvSpPr>
          <p:cNvPr id="17" name="Shape 15"/>
          <p:cNvSpPr/>
          <p:nvPr/>
        </p:nvSpPr>
        <p:spPr>
          <a:xfrm>
            <a:off x="4828032" y="4784124"/>
            <a:ext cx="822960" cy="256032"/>
          </a:xfrm>
          <a:prstGeom prst="roundRect">
            <a:avLst>
              <a:gd name="adj" fmla="val 28571"/>
            </a:avLst>
          </a:prstGeom>
          <a:solidFill>
            <a:srgbClr val="D97B73"/>
          </a:solidFill>
          <a:ln w="12700">
            <a:solidFill>
              <a:srgbClr val="D97B73"/>
            </a:solidFill>
            <a:prstDash val="solid"/>
          </a:ln>
        </p:spPr>
        <p:txBody>
          <a:bodyPr/>
          <a:lstStyle/>
          <a:p>
            <a:endParaRPr lang="en-US"/>
          </a:p>
        </p:txBody>
      </p:sp>
      <p:sp>
        <p:nvSpPr>
          <p:cNvPr id="18" name="Text 16"/>
          <p:cNvSpPr/>
          <p:nvPr/>
        </p:nvSpPr>
        <p:spPr>
          <a:xfrm>
            <a:off x="4864608" y="4833727"/>
            <a:ext cx="749808" cy="164592"/>
          </a:xfrm>
          <a:prstGeom prst="rect">
            <a:avLst/>
          </a:prstGeom>
          <a:noFill/>
          <a:ln/>
        </p:spPr>
        <p:txBody>
          <a:bodyPr wrap="square" lIns="0" tIns="0" rIns="0" bIns="0" rtlCol="0" anchor="ctr"/>
          <a:lstStyle/>
          <a:p>
            <a:pPr marL="0" indent="0" algn="ctr">
              <a:buNone/>
            </a:pPr>
            <a:r>
              <a:rPr lang="en-US" sz="1400" b="1" dirty="0">
                <a:solidFill>
                  <a:srgbClr val="FFFFFF"/>
                </a:solidFill>
                <a:latin typeface="Aptos" pitchFamily="34" charset="0"/>
                <a:ea typeface="Aptos" pitchFamily="34" charset="-122"/>
                <a:cs typeface="Aptos" pitchFamily="34" charset="-120"/>
              </a:rPr>
              <a:t>C</a:t>
            </a:r>
            <a:endParaRPr lang="en-US" sz="1400" dirty="0"/>
          </a:p>
        </p:txBody>
      </p:sp>
      <p:sp>
        <p:nvSpPr>
          <p:cNvPr id="19" name="Text 17"/>
          <p:cNvSpPr/>
          <p:nvPr/>
        </p:nvSpPr>
        <p:spPr>
          <a:xfrm>
            <a:off x="4828032" y="5043914"/>
            <a:ext cx="1545336" cy="384048"/>
          </a:xfrm>
          <a:prstGeom prst="rect">
            <a:avLst/>
          </a:prstGeom>
          <a:noFill/>
          <a:ln/>
        </p:spPr>
        <p:txBody>
          <a:bodyPr wrap="square" lIns="0" tIns="0" rIns="0" bIns="0" rtlCol="0" anchor="ctr"/>
          <a:lstStyle/>
          <a:p>
            <a:pPr marL="0" indent="0">
              <a:buNone/>
            </a:pPr>
            <a:r>
              <a:rPr lang="en-US" sz="1580" b="1" dirty="0">
                <a:solidFill>
                  <a:srgbClr val="11263F"/>
                </a:solidFill>
                <a:latin typeface="Aptos" pitchFamily="34" charset="0"/>
                <a:ea typeface="Aptos" pitchFamily="34" charset="-122"/>
                <a:cs typeface="Aptos" pitchFamily="34" charset="-120"/>
              </a:rPr>
              <a:t>Extension</a:t>
            </a:r>
            <a:endParaRPr lang="en-US" sz="1580" dirty="0"/>
          </a:p>
        </p:txBody>
      </p:sp>
      <p:sp>
        <p:nvSpPr>
          <p:cNvPr id="20" name="Text 18"/>
          <p:cNvSpPr/>
          <p:nvPr/>
        </p:nvSpPr>
        <p:spPr>
          <a:xfrm>
            <a:off x="4828032" y="5382034"/>
            <a:ext cx="1545336" cy="310896"/>
          </a:xfrm>
          <a:prstGeom prst="rect">
            <a:avLst/>
          </a:prstGeom>
          <a:noFill/>
          <a:ln/>
        </p:spPr>
        <p:txBody>
          <a:bodyPr wrap="square" lIns="254" tIns="254" rIns="254" bIns="254" rtlCol="0" anchor="t"/>
          <a:lstStyle/>
          <a:p>
            <a:pPr marL="0" indent="0">
              <a:buNone/>
            </a:pPr>
            <a:r>
              <a:rPr lang="en-US" sz="1240" dirty="0">
                <a:solidFill>
                  <a:srgbClr val="22313F"/>
                </a:solidFill>
                <a:latin typeface="Aptos" pitchFamily="34" charset="0"/>
                <a:ea typeface="Aptos" pitchFamily="34" charset="-122"/>
                <a:cs typeface="Aptos" pitchFamily="34" charset="-120"/>
              </a:rPr>
              <a:t>Add a reliability-aware gate so text changes the forecast only when it is useful.</a:t>
            </a:r>
            <a:endParaRPr lang="en-US" sz="1240" dirty="0"/>
          </a:p>
        </p:txBody>
      </p:sp>
      <p:sp>
        <p:nvSpPr>
          <p:cNvPr id="21" name="Shape 19"/>
          <p:cNvSpPr/>
          <p:nvPr/>
        </p:nvSpPr>
        <p:spPr>
          <a:xfrm>
            <a:off x="566928" y="3367837"/>
            <a:ext cx="5989320" cy="658368"/>
          </a:xfrm>
          <a:prstGeom prst="roundRect">
            <a:avLst>
              <a:gd name="adj" fmla="val 11111"/>
            </a:avLst>
          </a:prstGeom>
          <a:solidFill>
            <a:srgbClr val="11263F"/>
          </a:solidFill>
          <a:ln w="12700">
            <a:solidFill>
              <a:srgbClr val="11263F"/>
            </a:solidFill>
            <a:prstDash val="solid"/>
          </a:ln>
        </p:spPr>
        <p:txBody>
          <a:bodyPr/>
          <a:lstStyle/>
          <a:p>
            <a:endParaRPr lang="en-US"/>
          </a:p>
        </p:txBody>
      </p:sp>
      <p:sp>
        <p:nvSpPr>
          <p:cNvPr id="22" name="Text 20"/>
          <p:cNvSpPr/>
          <p:nvPr/>
        </p:nvSpPr>
        <p:spPr>
          <a:xfrm>
            <a:off x="749808" y="3532429"/>
            <a:ext cx="5577840" cy="310896"/>
          </a:xfrm>
          <a:prstGeom prst="rect">
            <a:avLst/>
          </a:prstGeom>
          <a:noFill/>
          <a:ln/>
        </p:spPr>
        <p:txBody>
          <a:bodyPr wrap="square" lIns="0" tIns="0" rIns="0" bIns="0" rtlCol="0" anchor="ctr"/>
          <a:lstStyle/>
          <a:p>
            <a:pPr marL="0" indent="0">
              <a:buNone/>
            </a:pPr>
            <a:r>
              <a:rPr lang="en-US" sz="1400" b="1" dirty="0">
                <a:solidFill>
                  <a:srgbClr val="FFFFFF"/>
                </a:solidFill>
                <a:latin typeface="Aptos" pitchFamily="34" charset="0"/>
              </a:rPr>
              <a:t>Original Paper Goal: Build deep learning architectures that can handle complex temporal dynamics and multimodal interactions</a:t>
            </a:r>
            <a:endParaRPr lang="en-US" sz="1400" dirty="0"/>
          </a:p>
        </p:txBody>
      </p:sp>
      <p:sp>
        <p:nvSpPr>
          <p:cNvPr id="23" name="Shape 21"/>
          <p:cNvSpPr/>
          <p:nvPr/>
        </p:nvSpPr>
        <p:spPr>
          <a:xfrm>
            <a:off x="6995160" y="749808"/>
            <a:ext cx="4645152" cy="5358384"/>
          </a:xfrm>
          <a:prstGeom prst="roundRect">
            <a:avLst>
              <a:gd name="adj" fmla="val 1575"/>
            </a:avLst>
          </a:prstGeom>
          <a:solidFill>
            <a:srgbClr val="FFFFFF"/>
          </a:solidFill>
          <a:ln w="12700">
            <a:solidFill>
              <a:srgbClr val="E4DED5"/>
            </a:solidFill>
            <a:prstDash val="solid"/>
          </a:ln>
          <a:effectLst>
            <a:outerShdw blurRad="15240" dist="12700" dir="2700000" algn="bl" rotWithShape="0">
              <a:srgbClr val="000000">
                <a:alpha val="12000"/>
              </a:srgbClr>
            </a:outerShdw>
          </a:effectLst>
        </p:spPr>
        <p:txBody>
          <a:bodyPr/>
          <a:lstStyle/>
          <a:p>
            <a:endParaRPr lang="en-US"/>
          </a:p>
        </p:txBody>
      </p:sp>
      <p:pic>
        <p:nvPicPr>
          <p:cNvPr id="26" name="Image 0" descr="/mnt/data/page3_tax2.png"/>
          <p:cNvPicPr>
            <a:picLocks noChangeAspect="1"/>
          </p:cNvPicPr>
          <p:nvPr/>
        </p:nvPicPr>
        <p:blipFill>
          <a:blip r:embed="rId3"/>
          <a:srcRect l="14683"/>
          <a:stretch>
            <a:fillRect/>
          </a:stretch>
        </p:blipFill>
        <p:spPr>
          <a:xfrm>
            <a:off x="7368033" y="946581"/>
            <a:ext cx="3741928" cy="3957998"/>
          </a:xfrm>
          <a:prstGeom prst="rect">
            <a:avLst/>
          </a:prstGeom>
        </p:spPr>
      </p:pic>
      <p:sp>
        <p:nvSpPr>
          <p:cNvPr id="25" name="Text 23"/>
          <p:cNvSpPr/>
          <p:nvPr/>
        </p:nvSpPr>
        <p:spPr>
          <a:xfrm>
            <a:off x="7296912" y="1424788"/>
            <a:ext cx="4069080" cy="384048"/>
          </a:xfrm>
          <a:prstGeom prst="rect">
            <a:avLst/>
          </a:prstGeom>
          <a:noFill/>
          <a:ln/>
        </p:spPr>
        <p:txBody>
          <a:bodyPr wrap="square" lIns="0" tIns="0" rIns="0" bIns="0" rtlCol="0" anchor="ctr"/>
          <a:lstStyle/>
          <a:p>
            <a:pPr marL="0" indent="0">
              <a:buNone/>
            </a:pPr>
            <a:r>
              <a:rPr lang="en-US" sz="1360" dirty="0">
                <a:solidFill>
                  <a:srgbClr val="6B7785"/>
                </a:solidFill>
                <a:latin typeface="Aptos" pitchFamily="34" charset="0"/>
                <a:ea typeface="Aptos" pitchFamily="34" charset="-122"/>
                <a:cs typeface="Aptos" pitchFamily="34" charset="-120"/>
              </a:rPr>
              <a:t>Introduces TIME-IMM, a dataset designed to reflect realistic multimodal multivariate time series data, and IMM-TSF, a benchmark library for forecasting </a:t>
            </a:r>
            <a:endParaRPr lang="en-US" sz="1360" dirty="0"/>
          </a:p>
        </p:txBody>
      </p:sp>
      <p:sp>
        <p:nvSpPr>
          <p:cNvPr id="27" name="Text 24"/>
          <p:cNvSpPr/>
          <p:nvPr/>
        </p:nvSpPr>
        <p:spPr>
          <a:xfrm>
            <a:off x="7296912" y="4961310"/>
            <a:ext cx="4041648" cy="475488"/>
          </a:xfrm>
          <a:prstGeom prst="rect">
            <a:avLst/>
          </a:prstGeom>
          <a:noFill/>
          <a:ln/>
        </p:spPr>
        <p:txBody>
          <a:bodyPr wrap="square" lIns="0" tIns="0" rIns="0" bIns="0" rtlCol="0" anchor="ctr"/>
          <a:lstStyle/>
          <a:p>
            <a:pPr marL="0" indent="0">
              <a:buNone/>
            </a:pPr>
            <a:r>
              <a:rPr lang="en-US" sz="1360" i="1" dirty="0">
                <a:solidFill>
                  <a:srgbClr val="22313F"/>
                </a:solidFill>
                <a:latin typeface="Aptos" pitchFamily="34" charset="0"/>
                <a:ea typeface="Aptos" pitchFamily="34" charset="-122"/>
                <a:cs typeface="Aptos" pitchFamily="34" charset="-120"/>
              </a:rPr>
              <a:t>TIME-IMM taxonomy: 9 datasets across trigger-based, constraint-based, and artifact-based irregularity.</a:t>
            </a:r>
            <a:endParaRPr lang="en-US" sz="1360" dirty="0"/>
          </a:p>
        </p:txBody>
      </p:sp>
      <p:sp>
        <p:nvSpPr>
          <p:cNvPr id="28" name="Shape 25"/>
          <p:cNvSpPr/>
          <p:nvPr/>
        </p:nvSpPr>
        <p:spPr>
          <a:xfrm>
            <a:off x="7269480" y="5596128"/>
            <a:ext cx="3977640" cy="384048"/>
          </a:xfrm>
          <a:prstGeom prst="roundRect">
            <a:avLst>
              <a:gd name="adj" fmla="val 14286"/>
            </a:avLst>
          </a:prstGeom>
          <a:solidFill>
            <a:srgbClr val="EAF1F8"/>
          </a:solidFill>
          <a:ln w="12700">
            <a:solidFill>
              <a:srgbClr val="5D89B3"/>
            </a:solidFill>
            <a:prstDash val="solid"/>
          </a:ln>
        </p:spPr>
        <p:txBody>
          <a:bodyPr/>
          <a:lstStyle/>
          <a:p>
            <a:endParaRPr lang="en-US"/>
          </a:p>
        </p:txBody>
      </p:sp>
      <p:sp>
        <p:nvSpPr>
          <p:cNvPr id="29" name="Text 26"/>
          <p:cNvSpPr/>
          <p:nvPr/>
        </p:nvSpPr>
        <p:spPr>
          <a:xfrm>
            <a:off x="7387349" y="5646420"/>
            <a:ext cx="4361688" cy="283464"/>
          </a:xfrm>
          <a:prstGeom prst="rect">
            <a:avLst/>
          </a:prstGeom>
          <a:noFill/>
          <a:ln/>
        </p:spPr>
        <p:txBody>
          <a:bodyPr wrap="square" lIns="0" tIns="0" rIns="0" bIns="0" rtlCol="0" anchor="ctr"/>
          <a:lstStyle/>
          <a:p>
            <a:pPr marL="0" indent="0">
              <a:buNone/>
            </a:pPr>
            <a:r>
              <a:rPr lang="en-US" sz="1100" b="1" dirty="0">
                <a:solidFill>
                  <a:srgbClr val="11263F"/>
                </a:solidFill>
                <a:latin typeface="Aptos" pitchFamily="34" charset="0"/>
                <a:ea typeface="Aptos" pitchFamily="34" charset="-122"/>
                <a:cs typeface="Aptos" pitchFamily="34" charset="-120"/>
              </a:rPr>
              <a:t>Code: github.com/blacksnail789521/Time-IMM + IMM-TSF</a:t>
            </a:r>
            <a:endParaRPr lang="en-US" sz="1100" dirty="0"/>
          </a:p>
        </p:txBody>
      </p:sp>
      <p:sp>
        <p:nvSpPr>
          <p:cNvPr id="24" name="Text 22"/>
          <p:cNvSpPr/>
          <p:nvPr/>
        </p:nvSpPr>
        <p:spPr>
          <a:xfrm>
            <a:off x="7269480" y="934364"/>
            <a:ext cx="3200400" cy="457200"/>
          </a:xfrm>
          <a:prstGeom prst="rect">
            <a:avLst/>
          </a:prstGeom>
          <a:noFill/>
          <a:ln/>
        </p:spPr>
        <p:txBody>
          <a:bodyPr wrap="square" lIns="0" tIns="0" rIns="0" bIns="0" rtlCol="0" anchor="ctr"/>
          <a:lstStyle/>
          <a:p>
            <a:pPr marL="0" indent="0">
              <a:buNone/>
            </a:pPr>
            <a:r>
              <a:rPr lang="en-US" sz="1850" b="1" dirty="0">
                <a:solidFill>
                  <a:srgbClr val="11263F"/>
                </a:solidFill>
                <a:latin typeface="Aptos" pitchFamily="34" charset="0"/>
                <a:ea typeface="Aptos" pitchFamily="34" charset="-122"/>
                <a:cs typeface="Aptos" pitchFamily="34" charset="-120"/>
              </a:rPr>
              <a:t>Motivating</a:t>
            </a:r>
            <a:r>
              <a:rPr lang="en-US" sz="1850" dirty="0"/>
              <a:t> </a:t>
            </a:r>
            <a:r>
              <a:rPr lang="en-US" sz="1850" b="1" dirty="0">
                <a:solidFill>
                  <a:srgbClr val="11263F"/>
                </a:solidFill>
                <a:latin typeface="Aptos" pitchFamily="34" charset="0"/>
                <a:ea typeface="Aptos" pitchFamily="34" charset="-122"/>
                <a:cs typeface="Aptos" pitchFamily="34" charset="-120"/>
              </a:rPr>
              <a:t>paper:</a:t>
            </a:r>
            <a:endParaRPr lang="en-US" sz="1850" dirty="0"/>
          </a:p>
        </p:txBody>
      </p:sp>
      <p:cxnSp>
        <p:nvCxnSpPr>
          <p:cNvPr id="31" name="Straight Arrow Connector 30">
            <a:extLst>
              <a:ext uri="{FF2B5EF4-FFF2-40B4-BE49-F238E27FC236}">
                <a16:creationId xmlns:a16="http://schemas.microsoft.com/office/drawing/2014/main" id="{FA6500BD-7203-6D08-D373-1D9B50F38581}"/>
              </a:ext>
            </a:extLst>
          </p:cNvPr>
          <p:cNvCxnSpPr>
            <a:stCxn id="7" idx="3"/>
            <a:endCxn id="12" idx="1"/>
          </p:cNvCxnSpPr>
          <p:nvPr/>
        </p:nvCxnSpPr>
        <p:spPr>
          <a:xfrm>
            <a:off x="1536192" y="4912140"/>
            <a:ext cx="1271016" cy="3883"/>
          </a:xfrm>
          <a:prstGeom prst="straightConnector1">
            <a:avLst/>
          </a:prstGeom>
          <a:ln w="57150">
            <a:tailEnd type="triangle"/>
          </a:ln>
        </p:spPr>
        <p:style>
          <a:lnRef idx="1">
            <a:schemeClr val="accent6"/>
          </a:lnRef>
          <a:fillRef idx="0">
            <a:schemeClr val="accent6"/>
          </a:fillRef>
          <a:effectRef idx="0">
            <a:schemeClr val="accent6"/>
          </a:effectRef>
          <a:fontRef idx="minor">
            <a:schemeClr val="tx1"/>
          </a:fontRef>
        </p:style>
      </p:cxnSp>
      <p:cxnSp>
        <p:nvCxnSpPr>
          <p:cNvPr id="32" name="Straight Arrow Connector 31">
            <a:extLst>
              <a:ext uri="{FF2B5EF4-FFF2-40B4-BE49-F238E27FC236}">
                <a16:creationId xmlns:a16="http://schemas.microsoft.com/office/drawing/2014/main" id="{388A391E-029F-FE72-6DC0-5F791308312C}"/>
              </a:ext>
            </a:extLst>
          </p:cNvPr>
          <p:cNvCxnSpPr/>
          <p:nvPr/>
        </p:nvCxnSpPr>
        <p:spPr>
          <a:xfrm>
            <a:off x="3575304" y="4916617"/>
            <a:ext cx="1271016" cy="3883"/>
          </a:xfrm>
          <a:prstGeom prst="straightConnector1">
            <a:avLst/>
          </a:prstGeom>
          <a:ln w="57150">
            <a:solidFill>
              <a:srgbClr val="70AD47"/>
            </a:solidFill>
            <a:tailEnd type="triangle"/>
          </a:ln>
        </p:spPr>
        <p:style>
          <a:lnRef idx="1">
            <a:schemeClr val="accent1"/>
          </a:lnRef>
          <a:fillRef idx="0">
            <a:schemeClr val="accent1"/>
          </a:fillRef>
          <a:effectRef idx="0">
            <a:schemeClr val="accent1"/>
          </a:effectRef>
          <a:fontRef idx="minor">
            <a:schemeClr val="tx1"/>
          </a:fontRef>
        </p:style>
      </p:cxnSp>
      <p:sp>
        <p:nvSpPr>
          <p:cNvPr id="33" name="Rectangle: Rounded Corners 32">
            <a:extLst>
              <a:ext uri="{FF2B5EF4-FFF2-40B4-BE49-F238E27FC236}">
                <a16:creationId xmlns:a16="http://schemas.microsoft.com/office/drawing/2014/main" id="{63C8DC85-97A1-2DAF-7433-F66CC6BBE930}"/>
              </a:ext>
            </a:extLst>
          </p:cNvPr>
          <p:cNvSpPr/>
          <p:nvPr/>
        </p:nvSpPr>
        <p:spPr>
          <a:xfrm>
            <a:off x="1899312" y="4211912"/>
            <a:ext cx="2878428" cy="425333"/>
          </a:xfrm>
          <a:prstGeom prst="roundRect">
            <a:avLst/>
          </a:prstGeom>
          <a:solidFill>
            <a:schemeClr val="accent6">
              <a:lumMod val="40000"/>
              <a:lumOff val="60000"/>
            </a:schemeClr>
          </a:solidFill>
          <a:ln>
            <a:solidFill>
              <a:srgbClr val="70AD4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911BF277-91AF-C25A-CA53-D6CFABFF3635}"/>
              </a:ext>
            </a:extLst>
          </p:cNvPr>
          <p:cNvSpPr txBox="1"/>
          <p:nvPr/>
        </p:nvSpPr>
        <p:spPr>
          <a:xfrm>
            <a:off x="2427732" y="4251065"/>
            <a:ext cx="2258632" cy="369332"/>
          </a:xfrm>
          <a:prstGeom prst="rect">
            <a:avLst/>
          </a:prstGeom>
          <a:noFill/>
        </p:spPr>
        <p:txBody>
          <a:bodyPr wrap="square" rtlCol="0">
            <a:spAutoFit/>
          </a:bodyPr>
          <a:lstStyle/>
          <a:p>
            <a:r>
              <a:rPr lang="en-US" b="1" dirty="0">
                <a:solidFill>
                  <a:schemeClr val="tx2">
                    <a:lumMod val="75000"/>
                  </a:schemeClr>
                </a:solidFill>
              </a:rPr>
              <a:t>Our Project Goal: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566928"/>
            <a:ext cx="6766560" cy="438912"/>
          </a:xfrm>
          <a:prstGeom prst="rect">
            <a:avLst/>
          </a:prstGeom>
          <a:noFill/>
          <a:ln/>
        </p:spPr>
        <p:txBody>
          <a:bodyPr wrap="square" lIns="0" tIns="0" rIns="0" bIns="0" rtlCol="0" anchor="ctr"/>
          <a:lstStyle/>
          <a:p>
            <a:pPr marL="0" indent="0">
              <a:buNone/>
            </a:pPr>
            <a:r>
              <a:rPr lang="en-US" sz="2800" b="1" dirty="0">
                <a:solidFill>
                  <a:srgbClr val="11263F"/>
                </a:solidFill>
                <a:latin typeface="Aptos Display" pitchFamily="34" charset="0"/>
                <a:ea typeface="Aptos Display" pitchFamily="34" charset="-122"/>
                <a:cs typeface="Aptos Display" pitchFamily="34" charset="-120"/>
              </a:rPr>
              <a:t>Data, methods, and execution plan</a:t>
            </a:r>
            <a:endParaRPr lang="en-US" sz="2800" dirty="0"/>
          </a:p>
        </p:txBody>
      </p:sp>
      <p:sp>
        <p:nvSpPr>
          <p:cNvPr id="3" name="Text 1"/>
          <p:cNvSpPr/>
          <p:nvPr/>
        </p:nvSpPr>
        <p:spPr>
          <a:xfrm>
            <a:off x="530351" y="1088518"/>
            <a:ext cx="11305333" cy="318204"/>
          </a:xfrm>
          <a:prstGeom prst="rect">
            <a:avLst/>
          </a:prstGeom>
          <a:noFill/>
          <a:ln/>
        </p:spPr>
        <p:txBody>
          <a:bodyPr wrap="square" lIns="0" tIns="0" rIns="0" bIns="0" rtlCol="0" anchor="ctr"/>
          <a:lstStyle/>
          <a:p>
            <a:pPr marL="0" indent="0">
              <a:buNone/>
            </a:pPr>
            <a:r>
              <a:rPr lang="en-US" sz="1750" dirty="0">
                <a:solidFill>
                  <a:srgbClr val="6B7785"/>
                </a:solidFill>
                <a:latin typeface="Aptos" pitchFamily="34" charset="0"/>
                <a:ea typeface="Aptos" pitchFamily="34" charset="-122"/>
                <a:cs typeface="Aptos" pitchFamily="34" charset="-120"/>
              </a:rPr>
              <a:t>Replicate the paper first, then address a realistic healthcare research question through one architectural innovation.</a:t>
            </a:r>
            <a:endParaRPr lang="en-US" sz="1750" dirty="0"/>
          </a:p>
        </p:txBody>
      </p:sp>
      <p:sp>
        <p:nvSpPr>
          <p:cNvPr id="4" name="Shape 2"/>
          <p:cNvSpPr/>
          <p:nvPr/>
        </p:nvSpPr>
        <p:spPr>
          <a:xfrm>
            <a:off x="548640" y="1600200"/>
            <a:ext cx="4343400" cy="4069080"/>
          </a:xfrm>
          <a:prstGeom prst="roundRect">
            <a:avLst>
              <a:gd name="adj" fmla="val 1798"/>
            </a:avLst>
          </a:prstGeom>
          <a:solidFill>
            <a:srgbClr val="FFFFFF"/>
          </a:solidFill>
          <a:ln w="12700">
            <a:solidFill>
              <a:srgbClr val="E4DED5"/>
            </a:solidFill>
            <a:prstDash val="solid"/>
          </a:ln>
          <a:effectLst>
            <a:outerShdw blurRad="15240" dist="12700" dir="2700000" algn="bl" rotWithShape="0">
              <a:srgbClr val="000000">
                <a:alpha val="12000"/>
              </a:srgbClr>
            </a:outerShdw>
          </a:effectLst>
        </p:spPr>
        <p:txBody>
          <a:bodyPr/>
          <a:lstStyle/>
          <a:p>
            <a:endParaRPr lang="en-US"/>
          </a:p>
        </p:txBody>
      </p:sp>
      <p:sp>
        <p:nvSpPr>
          <p:cNvPr id="5" name="Text 3"/>
          <p:cNvSpPr/>
          <p:nvPr/>
        </p:nvSpPr>
        <p:spPr>
          <a:xfrm>
            <a:off x="678787" y="1752069"/>
            <a:ext cx="3611880" cy="237744"/>
          </a:xfrm>
          <a:prstGeom prst="rect">
            <a:avLst/>
          </a:prstGeom>
          <a:noFill/>
          <a:ln/>
        </p:spPr>
        <p:txBody>
          <a:bodyPr wrap="square" lIns="0" tIns="0" rIns="0" bIns="0" rtlCol="0" anchor="ctr"/>
          <a:lstStyle/>
          <a:p>
            <a:pPr marL="0" indent="0">
              <a:buNone/>
            </a:pPr>
            <a:r>
              <a:rPr lang="en-US" sz="1580" b="1" dirty="0">
                <a:solidFill>
                  <a:srgbClr val="11263F"/>
                </a:solidFill>
                <a:latin typeface="Aptos" pitchFamily="34" charset="0"/>
                <a:ea typeface="Aptos" pitchFamily="34" charset="-122"/>
                <a:cs typeface="Aptos" pitchFamily="34" charset="-120"/>
              </a:rPr>
              <a:t>Replication + healthcare use case</a:t>
            </a:r>
            <a:endParaRPr lang="en-US" sz="1580" dirty="0"/>
          </a:p>
        </p:txBody>
      </p:sp>
      <p:sp>
        <p:nvSpPr>
          <p:cNvPr id="6" name="Text 4"/>
          <p:cNvSpPr/>
          <p:nvPr/>
        </p:nvSpPr>
        <p:spPr>
          <a:xfrm>
            <a:off x="790272" y="2064568"/>
            <a:ext cx="3593592" cy="127798"/>
          </a:xfrm>
          <a:prstGeom prst="rect">
            <a:avLst/>
          </a:prstGeom>
          <a:noFill/>
          <a:ln/>
        </p:spPr>
        <p:txBody>
          <a:bodyPr wrap="square" lIns="0" tIns="0" rIns="0" bIns="0" rtlCol="0" anchor="ctr"/>
          <a:lstStyle/>
          <a:p>
            <a:pPr marL="0" indent="0">
              <a:buNone/>
            </a:pPr>
            <a:r>
              <a:rPr lang="en-US" sz="1360" b="1" dirty="0">
                <a:solidFill>
                  <a:srgbClr val="6B7785"/>
                </a:solidFill>
                <a:latin typeface="Aptos" pitchFamily="34" charset="0"/>
                <a:ea typeface="Aptos" pitchFamily="34" charset="-122"/>
                <a:cs typeface="Aptos" pitchFamily="34" charset="-120"/>
              </a:rPr>
              <a:t>Reproduce and Expand Time-IMM + IMM-TSF</a:t>
            </a:r>
            <a:endParaRPr lang="en-US" sz="1360" dirty="0"/>
          </a:p>
        </p:txBody>
      </p:sp>
      <p:sp>
        <p:nvSpPr>
          <p:cNvPr id="9" name="Shape 7"/>
          <p:cNvSpPr/>
          <p:nvPr/>
        </p:nvSpPr>
        <p:spPr>
          <a:xfrm>
            <a:off x="638541" y="2351944"/>
            <a:ext cx="1078992" cy="292608"/>
          </a:xfrm>
          <a:prstGeom prst="roundRect">
            <a:avLst>
              <a:gd name="adj" fmla="val 18750"/>
            </a:avLst>
          </a:prstGeom>
          <a:solidFill>
            <a:srgbClr val="F7F0E2"/>
          </a:solidFill>
          <a:ln w="12700">
            <a:solidFill>
              <a:srgbClr val="C39A57"/>
            </a:solidFill>
            <a:prstDash val="solid"/>
          </a:ln>
        </p:spPr>
        <p:txBody>
          <a:bodyPr/>
          <a:lstStyle/>
          <a:p>
            <a:endParaRPr lang="en-US"/>
          </a:p>
        </p:txBody>
      </p:sp>
      <p:sp>
        <p:nvSpPr>
          <p:cNvPr id="10" name="Text 8"/>
          <p:cNvSpPr/>
          <p:nvPr/>
        </p:nvSpPr>
        <p:spPr>
          <a:xfrm>
            <a:off x="670545" y="2440386"/>
            <a:ext cx="1014984" cy="109728"/>
          </a:xfrm>
          <a:prstGeom prst="rect">
            <a:avLst/>
          </a:prstGeom>
          <a:noFill/>
          <a:ln/>
        </p:spPr>
        <p:txBody>
          <a:bodyPr wrap="square" lIns="0" tIns="0" rIns="0" bIns="0" rtlCol="0" anchor="ctr"/>
          <a:lstStyle/>
          <a:p>
            <a:pPr marL="0" indent="0" algn="ctr">
              <a:buNone/>
            </a:pPr>
            <a:r>
              <a:rPr lang="en-US" sz="1170" b="1" dirty="0">
                <a:solidFill>
                  <a:srgbClr val="11263F"/>
                </a:solidFill>
                <a:latin typeface="Aptos" pitchFamily="34" charset="0"/>
                <a:ea typeface="Aptos" pitchFamily="34" charset="-122"/>
                <a:cs typeface="Aptos" pitchFamily="34" charset="-120"/>
              </a:rPr>
              <a:t>ClusterTrace</a:t>
            </a:r>
            <a:endParaRPr lang="en-US" sz="1170" dirty="0"/>
          </a:p>
        </p:txBody>
      </p:sp>
      <p:sp>
        <p:nvSpPr>
          <p:cNvPr id="11" name="Shape 9"/>
          <p:cNvSpPr/>
          <p:nvPr/>
        </p:nvSpPr>
        <p:spPr>
          <a:xfrm>
            <a:off x="1128568" y="2686786"/>
            <a:ext cx="868680" cy="292608"/>
          </a:xfrm>
          <a:prstGeom prst="roundRect">
            <a:avLst>
              <a:gd name="adj" fmla="val 18750"/>
            </a:avLst>
          </a:prstGeom>
          <a:solidFill>
            <a:srgbClr val="EAF1F8"/>
          </a:solidFill>
          <a:ln w="12700">
            <a:solidFill>
              <a:srgbClr val="5D89B3"/>
            </a:solidFill>
            <a:prstDash val="solid"/>
          </a:ln>
        </p:spPr>
        <p:txBody>
          <a:bodyPr/>
          <a:lstStyle/>
          <a:p>
            <a:endParaRPr lang="en-US"/>
          </a:p>
        </p:txBody>
      </p:sp>
      <p:sp>
        <p:nvSpPr>
          <p:cNvPr id="12" name="Text 10"/>
          <p:cNvSpPr/>
          <p:nvPr/>
        </p:nvSpPr>
        <p:spPr>
          <a:xfrm>
            <a:off x="923375" y="2774022"/>
            <a:ext cx="1289304" cy="109728"/>
          </a:xfrm>
          <a:prstGeom prst="rect">
            <a:avLst/>
          </a:prstGeom>
          <a:noFill/>
          <a:ln/>
        </p:spPr>
        <p:txBody>
          <a:bodyPr wrap="square" lIns="0" tIns="0" rIns="0" bIns="0" rtlCol="0" anchor="ctr"/>
          <a:lstStyle/>
          <a:p>
            <a:pPr marL="0" indent="0" algn="ctr">
              <a:buNone/>
            </a:pPr>
            <a:r>
              <a:rPr lang="en-US" sz="1170" b="1" dirty="0">
                <a:solidFill>
                  <a:srgbClr val="11263F"/>
                </a:solidFill>
                <a:latin typeface="Aptos" pitchFamily="34" charset="0"/>
                <a:ea typeface="Aptos" pitchFamily="34" charset="-122"/>
                <a:cs typeface="Aptos" pitchFamily="34" charset="-120"/>
              </a:rPr>
              <a:t>FNSPID</a:t>
            </a:r>
            <a:endParaRPr lang="en-US" sz="1170" dirty="0"/>
          </a:p>
        </p:txBody>
      </p:sp>
      <p:sp>
        <p:nvSpPr>
          <p:cNvPr id="13" name="Text 11"/>
          <p:cNvSpPr/>
          <p:nvPr/>
        </p:nvSpPr>
        <p:spPr>
          <a:xfrm>
            <a:off x="846400" y="3297855"/>
            <a:ext cx="3799902" cy="1060704"/>
          </a:xfrm>
          <a:prstGeom prst="rect">
            <a:avLst/>
          </a:prstGeom>
          <a:noFill/>
          <a:ln/>
        </p:spPr>
        <p:txBody>
          <a:bodyPr wrap="square" lIns="254" tIns="254" rIns="254" bIns="254" rtlCol="0" anchor="ctr"/>
          <a:lstStyle/>
          <a:p>
            <a:pPr marL="0" indent="0">
              <a:buNone/>
            </a:pPr>
            <a:r>
              <a:rPr lang="en-US" sz="1480" b="1" dirty="0">
                <a:solidFill>
                  <a:srgbClr val="C39A57"/>
                </a:solidFill>
                <a:latin typeface="Aptos" pitchFamily="34" charset="0"/>
                <a:ea typeface="Aptos" pitchFamily="34" charset="-122"/>
                <a:cs typeface="Aptos" pitchFamily="34" charset="-120"/>
              </a:rPr>
              <a:t>• </a:t>
            </a:r>
            <a:r>
              <a:rPr lang="en-US" sz="1480" dirty="0">
                <a:solidFill>
                  <a:srgbClr val="22313F"/>
                </a:solidFill>
                <a:latin typeface="Aptos" pitchFamily="34" charset="0"/>
                <a:ea typeface="Aptos" pitchFamily="34" charset="-122"/>
                <a:cs typeface="Aptos" pitchFamily="34" charset="-120"/>
              </a:rPr>
              <a:t>Reproduce benchmark results with a subset </a:t>
            </a:r>
          </a:p>
          <a:p>
            <a:pPr marL="0" indent="0">
              <a:buNone/>
            </a:pPr>
            <a:r>
              <a:rPr lang="en-US" sz="1480" dirty="0">
                <a:solidFill>
                  <a:srgbClr val="22313F"/>
                </a:solidFill>
                <a:latin typeface="Aptos" pitchFamily="34" charset="0"/>
                <a:ea typeface="Aptos" pitchFamily="34" charset="-122"/>
                <a:cs typeface="Aptos" pitchFamily="34" charset="-120"/>
              </a:rPr>
              <a:t>   of datasets from the original 9, using the </a:t>
            </a:r>
          </a:p>
          <a:p>
            <a:pPr marL="0" indent="0">
              <a:buNone/>
            </a:pPr>
            <a:r>
              <a:rPr lang="en-US" sz="1480" dirty="0">
                <a:solidFill>
                  <a:srgbClr val="22313F"/>
                </a:solidFill>
                <a:latin typeface="Aptos" pitchFamily="34" charset="0"/>
                <a:ea typeface="Aptos" pitchFamily="34" charset="-122"/>
                <a:cs typeface="Aptos" pitchFamily="34" charset="-120"/>
              </a:rPr>
              <a:t>   paper’s chronological 60/20/20 split, sliding </a:t>
            </a:r>
          </a:p>
          <a:p>
            <a:pPr marL="0" indent="0">
              <a:buNone/>
            </a:pPr>
            <a:r>
              <a:rPr lang="en-US" sz="1480" dirty="0">
                <a:solidFill>
                  <a:srgbClr val="22313F"/>
                </a:solidFill>
                <a:latin typeface="Aptos" pitchFamily="34" charset="0"/>
                <a:ea typeface="Aptos" pitchFamily="34" charset="-122"/>
                <a:cs typeface="Aptos" pitchFamily="34" charset="-120"/>
              </a:rPr>
              <a:t>   windows, and MSE.</a:t>
            </a:r>
            <a:endParaRPr lang="en-US" sz="1480" dirty="0"/>
          </a:p>
          <a:p>
            <a:pPr marL="0" indent="0">
              <a:buNone/>
            </a:pPr>
            <a:r>
              <a:rPr lang="en-US" sz="1480" b="1" dirty="0">
                <a:solidFill>
                  <a:srgbClr val="C39A57"/>
                </a:solidFill>
                <a:latin typeface="Aptos" pitchFamily="34" charset="0"/>
                <a:ea typeface="Aptos" pitchFamily="34" charset="-122"/>
                <a:cs typeface="Aptos" pitchFamily="34" charset="-120"/>
              </a:rPr>
              <a:t>• </a:t>
            </a:r>
            <a:r>
              <a:rPr lang="en-US" sz="1480" dirty="0">
                <a:solidFill>
                  <a:srgbClr val="22313F"/>
                </a:solidFill>
                <a:latin typeface="Aptos" pitchFamily="34" charset="0"/>
                <a:ea typeface="Aptos" pitchFamily="34" charset="-122"/>
                <a:cs typeface="Aptos" pitchFamily="34" charset="-120"/>
              </a:rPr>
              <a:t>Healthcare application: test when clinical </a:t>
            </a:r>
          </a:p>
          <a:p>
            <a:pPr marL="0" indent="0">
              <a:buNone/>
            </a:pPr>
            <a:r>
              <a:rPr lang="en-US" sz="1480" dirty="0">
                <a:solidFill>
                  <a:srgbClr val="22313F"/>
                </a:solidFill>
                <a:latin typeface="Aptos" pitchFamily="34" charset="0"/>
                <a:ea typeface="Aptos" pitchFamily="34" charset="-122"/>
                <a:cs typeface="Aptos" pitchFamily="34" charset="-120"/>
              </a:rPr>
              <a:t>   text helps most in MIMIC by note density,</a:t>
            </a:r>
          </a:p>
          <a:p>
            <a:pPr marL="0" indent="0">
              <a:buNone/>
            </a:pPr>
            <a:r>
              <a:rPr lang="en-US" sz="1480" dirty="0">
                <a:solidFill>
                  <a:srgbClr val="22313F"/>
                </a:solidFill>
                <a:latin typeface="Aptos" pitchFamily="34" charset="0"/>
                <a:ea typeface="Aptos" pitchFamily="34" charset="-122"/>
                <a:cs typeface="Aptos" pitchFamily="34" charset="-120"/>
              </a:rPr>
              <a:t>   forecast horizon, and missingness.</a:t>
            </a:r>
            <a:endParaRPr lang="en-US" sz="1480" dirty="0"/>
          </a:p>
        </p:txBody>
      </p:sp>
      <p:sp>
        <p:nvSpPr>
          <p:cNvPr id="14" name="Shape 12"/>
          <p:cNvSpPr/>
          <p:nvPr/>
        </p:nvSpPr>
        <p:spPr>
          <a:xfrm>
            <a:off x="841248" y="4746500"/>
            <a:ext cx="3611880" cy="658368"/>
          </a:xfrm>
          <a:prstGeom prst="roundRect">
            <a:avLst>
              <a:gd name="adj" fmla="val 8333"/>
            </a:avLst>
          </a:prstGeom>
          <a:solidFill>
            <a:srgbClr val="F7E8E6"/>
          </a:solidFill>
          <a:ln w="12700">
            <a:solidFill>
              <a:srgbClr val="D97B73"/>
            </a:solidFill>
            <a:prstDash val="solid"/>
          </a:ln>
        </p:spPr>
        <p:txBody>
          <a:bodyPr/>
          <a:lstStyle/>
          <a:p>
            <a:endParaRPr lang="en-US"/>
          </a:p>
        </p:txBody>
      </p:sp>
      <p:sp>
        <p:nvSpPr>
          <p:cNvPr id="15" name="Text 13"/>
          <p:cNvSpPr/>
          <p:nvPr/>
        </p:nvSpPr>
        <p:spPr>
          <a:xfrm>
            <a:off x="987552" y="4911092"/>
            <a:ext cx="3291840" cy="310896"/>
          </a:xfrm>
          <a:prstGeom prst="rect">
            <a:avLst/>
          </a:prstGeom>
          <a:noFill/>
          <a:ln/>
        </p:spPr>
        <p:txBody>
          <a:bodyPr wrap="square" lIns="0" tIns="0" rIns="0" bIns="0" rtlCol="0" anchor="ctr"/>
          <a:lstStyle/>
          <a:p>
            <a:pPr marL="0" indent="0" algn="ctr">
              <a:buNone/>
            </a:pPr>
            <a:r>
              <a:rPr lang="en-US" sz="1310" b="1" dirty="0">
                <a:solidFill>
                  <a:srgbClr val="11263F"/>
                </a:solidFill>
                <a:latin typeface="Aptos" pitchFamily="34" charset="0"/>
                <a:ea typeface="Aptos" pitchFamily="34" charset="-122"/>
                <a:cs typeface="Aptos" pitchFamily="34" charset="-120"/>
              </a:rPr>
              <a:t>Replicate RecAvg, T2V-XAttn, GR-Add, and XAttn-Add, using TSF backbones including the t-</a:t>
            </a:r>
            <a:r>
              <a:rPr lang="en-US" sz="1310" b="1" dirty="0" err="1">
                <a:solidFill>
                  <a:srgbClr val="11263F"/>
                </a:solidFill>
                <a:latin typeface="Aptos" pitchFamily="34" charset="0"/>
                <a:ea typeface="Aptos" pitchFamily="34" charset="-122"/>
                <a:cs typeface="Aptos" pitchFamily="34" charset="-120"/>
              </a:rPr>
              <a:t>PatchGNN</a:t>
            </a:r>
            <a:r>
              <a:rPr lang="en-US" sz="1310" b="1" dirty="0">
                <a:solidFill>
                  <a:srgbClr val="11263F"/>
                </a:solidFill>
                <a:latin typeface="Aptos" pitchFamily="34" charset="0"/>
                <a:ea typeface="Aptos" pitchFamily="34" charset="-122"/>
                <a:cs typeface="Aptos" pitchFamily="34" charset="-120"/>
              </a:rPr>
              <a:t> as in the original paper.</a:t>
            </a:r>
            <a:endParaRPr lang="en-US" sz="1310" dirty="0"/>
          </a:p>
        </p:txBody>
      </p:sp>
      <p:sp>
        <p:nvSpPr>
          <p:cNvPr id="16" name="Shape 14"/>
          <p:cNvSpPr/>
          <p:nvPr/>
        </p:nvSpPr>
        <p:spPr>
          <a:xfrm>
            <a:off x="5105400" y="1600200"/>
            <a:ext cx="6537960" cy="4069080"/>
          </a:xfrm>
          <a:prstGeom prst="roundRect">
            <a:avLst>
              <a:gd name="adj" fmla="val 1798"/>
            </a:avLst>
          </a:prstGeom>
          <a:solidFill>
            <a:srgbClr val="FFFFFF"/>
          </a:solidFill>
          <a:ln w="12700">
            <a:solidFill>
              <a:srgbClr val="E4DED5"/>
            </a:solidFill>
            <a:prstDash val="solid"/>
          </a:ln>
          <a:effectLst>
            <a:outerShdw blurRad="15240" dist="12700" dir="2700000" algn="bl" rotWithShape="0">
              <a:srgbClr val="000000">
                <a:alpha val="12000"/>
              </a:srgbClr>
            </a:outerShdw>
          </a:effectLst>
        </p:spPr>
        <p:txBody>
          <a:bodyPr/>
          <a:lstStyle/>
          <a:p>
            <a:endParaRPr lang="en-US"/>
          </a:p>
        </p:txBody>
      </p:sp>
      <p:sp>
        <p:nvSpPr>
          <p:cNvPr id="22" name="Shape 19"/>
          <p:cNvSpPr/>
          <p:nvPr/>
        </p:nvSpPr>
        <p:spPr>
          <a:xfrm>
            <a:off x="9674352" y="3183200"/>
            <a:ext cx="1353312" cy="292608"/>
          </a:xfrm>
          <a:prstGeom prst="roundRect">
            <a:avLst>
              <a:gd name="adj" fmla="val 18750"/>
            </a:avLst>
          </a:prstGeom>
          <a:solidFill>
            <a:srgbClr val="F7F0E2"/>
          </a:solidFill>
          <a:ln w="12700">
            <a:solidFill>
              <a:srgbClr val="C39A57"/>
            </a:solidFill>
            <a:prstDash val="solid"/>
          </a:ln>
        </p:spPr>
        <p:txBody>
          <a:bodyPr/>
          <a:lstStyle/>
          <a:p>
            <a:endParaRPr lang="en-US"/>
          </a:p>
        </p:txBody>
      </p:sp>
      <p:sp>
        <p:nvSpPr>
          <p:cNvPr id="23" name="Text 20"/>
          <p:cNvSpPr/>
          <p:nvPr/>
        </p:nvSpPr>
        <p:spPr>
          <a:xfrm>
            <a:off x="9738360" y="3288019"/>
            <a:ext cx="1225296" cy="109728"/>
          </a:xfrm>
          <a:prstGeom prst="rect">
            <a:avLst/>
          </a:prstGeom>
          <a:noFill/>
          <a:ln/>
        </p:spPr>
        <p:txBody>
          <a:bodyPr wrap="square" lIns="0" tIns="0" rIns="0" bIns="0" rtlCol="0" anchor="ctr"/>
          <a:lstStyle/>
          <a:p>
            <a:pPr marL="0" indent="0" algn="ctr">
              <a:buNone/>
            </a:pPr>
            <a:r>
              <a:rPr lang="en-US" sz="1170" b="1" dirty="0">
                <a:solidFill>
                  <a:srgbClr val="11263F"/>
                </a:solidFill>
                <a:latin typeface="Aptos" pitchFamily="34" charset="0"/>
                <a:ea typeface="Aptos" pitchFamily="34" charset="-122"/>
                <a:cs typeface="Aptos" pitchFamily="34" charset="-120"/>
              </a:rPr>
              <a:t>Note density</a:t>
            </a:r>
            <a:endParaRPr lang="en-US" sz="1170" dirty="0"/>
          </a:p>
        </p:txBody>
      </p:sp>
      <p:sp>
        <p:nvSpPr>
          <p:cNvPr id="26" name="Shape 23"/>
          <p:cNvSpPr/>
          <p:nvPr/>
        </p:nvSpPr>
        <p:spPr>
          <a:xfrm>
            <a:off x="9857232" y="3567248"/>
            <a:ext cx="1234440" cy="292608"/>
          </a:xfrm>
          <a:prstGeom prst="roundRect">
            <a:avLst>
              <a:gd name="adj" fmla="val 18750"/>
            </a:avLst>
          </a:prstGeom>
          <a:solidFill>
            <a:srgbClr val="F7E8E6"/>
          </a:solidFill>
          <a:ln w="12700">
            <a:solidFill>
              <a:srgbClr val="D97B73"/>
            </a:solidFill>
            <a:prstDash val="solid"/>
          </a:ln>
        </p:spPr>
        <p:txBody>
          <a:bodyPr/>
          <a:lstStyle/>
          <a:p>
            <a:endParaRPr lang="en-US"/>
          </a:p>
        </p:txBody>
      </p:sp>
      <p:sp>
        <p:nvSpPr>
          <p:cNvPr id="27" name="Text 24"/>
          <p:cNvSpPr/>
          <p:nvPr/>
        </p:nvSpPr>
        <p:spPr>
          <a:xfrm>
            <a:off x="9829800" y="3629110"/>
            <a:ext cx="1280160" cy="160463"/>
          </a:xfrm>
          <a:prstGeom prst="rect">
            <a:avLst/>
          </a:prstGeom>
          <a:noFill/>
          <a:ln/>
        </p:spPr>
        <p:txBody>
          <a:bodyPr wrap="square" lIns="0" tIns="0" rIns="0" bIns="0" rtlCol="0" anchor="ctr"/>
          <a:lstStyle/>
          <a:p>
            <a:pPr marL="0" indent="0" algn="ctr">
              <a:buNone/>
            </a:pPr>
            <a:r>
              <a:rPr lang="en-US" sz="1170" b="1" dirty="0">
                <a:solidFill>
                  <a:srgbClr val="11263F"/>
                </a:solidFill>
                <a:latin typeface="Aptos" pitchFamily="34" charset="0"/>
                <a:ea typeface="Aptos" pitchFamily="34" charset="-122"/>
                <a:cs typeface="Aptos" pitchFamily="34" charset="-120"/>
              </a:rPr>
              <a:t>TS-text alignment</a:t>
            </a:r>
            <a:endParaRPr lang="en-US" sz="1170" dirty="0"/>
          </a:p>
        </p:txBody>
      </p:sp>
      <p:sp>
        <p:nvSpPr>
          <p:cNvPr id="28" name="Text 25"/>
          <p:cNvSpPr/>
          <p:nvPr/>
        </p:nvSpPr>
        <p:spPr>
          <a:xfrm>
            <a:off x="5440680" y="4315968"/>
            <a:ext cx="5623560" cy="914400"/>
          </a:xfrm>
          <a:prstGeom prst="rect">
            <a:avLst/>
          </a:prstGeom>
          <a:noFill/>
          <a:ln/>
        </p:spPr>
        <p:txBody>
          <a:bodyPr wrap="square" lIns="254" tIns="254" rIns="254" bIns="254" rtlCol="0" anchor="ctr"/>
          <a:lstStyle/>
          <a:p>
            <a:pPr marL="0" indent="0">
              <a:buNone/>
            </a:pPr>
            <a:r>
              <a:rPr lang="en-US" sz="1460" b="1" dirty="0">
                <a:solidFill>
                  <a:srgbClr val="D97B73"/>
                </a:solidFill>
                <a:latin typeface="Aptos" pitchFamily="34" charset="0"/>
                <a:ea typeface="Aptos" pitchFamily="34" charset="-122"/>
                <a:cs typeface="Aptos" pitchFamily="34" charset="-120"/>
              </a:rPr>
              <a:t>• </a:t>
            </a:r>
            <a:r>
              <a:rPr lang="en-US" sz="1460" dirty="0">
                <a:solidFill>
                  <a:srgbClr val="22313F"/>
                </a:solidFill>
                <a:latin typeface="Aptos" pitchFamily="34" charset="0"/>
                <a:ea typeface="Aptos" pitchFamily="34" charset="-122"/>
                <a:cs typeface="Aptos" pitchFamily="34" charset="-120"/>
              </a:rPr>
              <a:t>Goal: improve over GR-Add and XAttn-Add by using text selectively.</a:t>
            </a:r>
            <a:endParaRPr lang="en-US" sz="1460" dirty="0"/>
          </a:p>
          <a:p>
            <a:pPr marL="0" indent="0">
              <a:buNone/>
            </a:pPr>
            <a:r>
              <a:rPr lang="en-US" sz="1460" b="1" dirty="0">
                <a:solidFill>
                  <a:srgbClr val="D97B73"/>
                </a:solidFill>
                <a:latin typeface="Aptos" pitchFamily="34" charset="0"/>
                <a:ea typeface="Aptos" pitchFamily="34" charset="-122"/>
                <a:cs typeface="Aptos" pitchFamily="34" charset="-120"/>
              </a:rPr>
              <a:t>• </a:t>
            </a:r>
            <a:r>
              <a:rPr lang="en-US" sz="1460" dirty="0">
                <a:solidFill>
                  <a:srgbClr val="22313F"/>
                </a:solidFill>
                <a:latin typeface="Aptos" pitchFamily="34" charset="0"/>
                <a:ea typeface="Aptos" pitchFamily="34" charset="-122"/>
                <a:cs typeface="Aptos" pitchFamily="34" charset="-120"/>
              </a:rPr>
              <a:t>Evaluation: MSE, MAE, reproduced-vs-reported trends, and full  </a:t>
            </a:r>
          </a:p>
          <a:p>
            <a:pPr marL="0" indent="0">
              <a:buNone/>
            </a:pPr>
            <a:r>
              <a:rPr lang="en-US" sz="1460" dirty="0">
                <a:solidFill>
                  <a:srgbClr val="22313F"/>
                </a:solidFill>
                <a:latin typeface="Aptos" pitchFamily="34" charset="0"/>
                <a:ea typeface="Aptos" pitchFamily="34" charset="-122"/>
                <a:cs typeface="Aptos" pitchFamily="34" charset="-120"/>
              </a:rPr>
              <a:t>    ablation study.</a:t>
            </a:r>
            <a:endParaRPr lang="en-US" sz="1460" dirty="0"/>
          </a:p>
          <a:p>
            <a:pPr marL="0" indent="0">
              <a:buNone/>
            </a:pPr>
            <a:r>
              <a:rPr lang="en-US" sz="1460" b="1" dirty="0">
                <a:solidFill>
                  <a:srgbClr val="D97B73"/>
                </a:solidFill>
                <a:latin typeface="Aptos" pitchFamily="34" charset="0"/>
                <a:ea typeface="Aptos" pitchFamily="34" charset="-122"/>
                <a:cs typeface="Aptos" pitchFamily="34" charset="-120"/>
              </a:rPr>
              <a:t>• </a:t>
            </a:r>
            <a:r>
              <a:rPr lang="en-US" sz="1460" dirty="0">
                <a:solidFill>
                  <a:srgbClr val="22313F"/>
                </a:solidFill>
                <a:latin typeface="Aptos" pitchFamily="34" charset="0"/>
                <a:ea typeface="Aptos" pitchFamily="34" charset="-122"/>
                <a:cs typeface="Aptos" pitchFamily="34" charset="-120"/>
              </a:rPr>
              <a:t>Ablation ladder: recency only → +note density → +missingness → full </a:t>
            </a:r>
          </a:p>
          <a:p>
            <a:pPr marL="0" indent="0">
              <a:buNone/>
            </a:pPr>
            <a:r>
              <a:rPr lang="en-US" sz="1460" dirty="0">
                <a:solidFill>
                  <a:srgbClr val="22313F"/>
                </a:solidFill>
                <a:latin typeface="Aptos" pitchFamily="34" charset="0"/>
                <a:ea typeface="Aptos" pitchFamily="34" charset="-122"/>
                <a:cs typeface="Aptos" pitchFamily="34" charset="-120"/>
              </a:rPr>
              <a:t>   reliability gate.</a:t>
            </a:r>
            <a:endParaRPr lang="en-US" sz="1460" dirty="0"/>
          </a:p>
        </p:txBody>
      </p:sp>
      <p:pic>
        <p:nvPicPr>
          <p:cNvPr id="44" name="Picture 43">
            <a:extLst>
              <a:ext uri="{FF2B5EF4-FFF2-40B4-BE49-F238E27FC236}">
                <a16:creationId xmlns:a16="http://schemas.microsoft.com/office/drawing/2014/main" id="{11A63813-F542-59E0-DF3D-7E5AA15D55B1}"/>
              </a:ext>
            </a:extLst>
          </p:cNvPr>
          <p:cNvPicPr>
            <a:picLocks noChangeAspect="1"/>
          </p:cNvPicPr>
          <p:nvPr/>
        </p:nvPicPr>
        <p:blipFill>
          <a:blip r:embed="rId3"/>
          <a:stretch>
            <a:fillRect/>
          </a:stretch>
        </p:blipFill>
        <p:spPr>
          <a:xfrm>
            <a:off x="5130655" y="2062480"/>
            <a:ext cx="3408261" cy="2031414"/>
          </a:xfrm>
          <a:prstGeom prst="rect">
            <a:avLst/>
          </a:prstGeom>
        </p:spPr>
      </p:pic>
      <p:sp>
        <p:nvSpPr>
          <p:cNvPr id="17" name="Text 15"/>
          <p:cNvSpPr/>
          <p:nvPr/>
        </p:nvSpPr>
        <p:spPr>
          <a:xfrm>
            <a:off x="5279057" y="1607890"/>
            <a:ext cx="6202466" cy="458654"/>
          </a:xfrm>
          <a:prstGeom prst="rect">
            <a:avLst/>
          </a:prstGeom>
          <a:noFill/>
          <a:ln/>
        </p:spPr>
        <p:txBody>
          <a:bodyPr wrap="square" lIns="0" tIns="0" rIns="0" bIns="0" rtlCol="0" anchor="ctr"/>
          <a:lstStyle/>
          <a:p>
            <a:pPr marL="0" indent="0">
              <a:buNone/>
            </a:pPr>
            <a:r>
              <a:rPr lang="en-US" sz="1900" b="1" dirty="0">
                <a:solidFill>
                  <a:srgbClr val="11263F"/>
                </a:solidFill>
                <a:latin typeface="Aptos" pitchFamily="34" charset="0"/>
                <a:ea typeface="Aptos" pitchFamily="34" charset="-122"/>
                <a:cs typeface="Aptos" pitchFamily="34" charset="-120"/>
              </a:rPr>
              <a:t>Method extension: Reliability-Aware GR-Add (RA-</a:t>
            </a:r>
            <a:r>
              <a:rPr lang="en-US" sz="1900" b="1" dirty="0" err="1">
                <a:solidFill>
                  <a:srgbClr val="11263F"/>
                </a:solidFill>
                <a:latin typeface="Aptos" pitchFamily="34" charset="0"/>
                <a:ea typeface="Aptos" pitchFamily="34" charset="-122"/>
                <a:cs typeface="Aptos" pitchFamily="34" charset="-120"/>
              </a:rPr>
              <a:t>GRAdd</a:t>
            </a:r>
            <a:r>
              <a:rPr lang="en-US" sz="1900" b="1" dirty="0">
                <a:solidFill>
                  <a:srgbClr val="11263F"/>
                </a:solidFill>
                <a:latin typeface="Aptos" pitchFamily="34" charset="0"/>
                <a:ea typeface="Aptos" pitchFamily="34" charset="-122"/>
                <a:cs typeface="Aptos" pitchFamily="34" charset="-120"/>
              </a:rPr>
              <a:t>)</a:t>
            </a:r>
            <a:endParaRPr lang="en-US" sz="1900" dirty="0"/>
          </a:p>
        </p:txBody>
      </p:sp>
      <p:sp>
        <p:nvSpPr>
          <p:cNvPr id="48" name="Star: 6 Points 47">
            <a:extLst>
              <a:ext uri="{FF2B5EF4-FFF2-40B4-BE49-F238E27FC236}">
                <a16:creationId xmlns:a16="http://schemas.microsoft.com/office/drawing/2014/main" id="{E2266050-D5FE-6BB3-BB60-A580ACBFABDF}"/>
              </a:ext>
            </a:extLst>
          </p:cNvPr>
          <p:cNvSpPr/>
          <p:nvPr/>
        </p:nvSpPr>
        <p:spPr>
          <a:xfrm rot="1011515">
            <a:off x="3762523" y="2283728"/>
            <a:ext cx="934945" cy="693491"/>
          </a:xfrm>
          <a:prstGeom prst="star6">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Shape 5">
            <a:extLst>
              <a:ext uri="{FF2B5EF4-FFF2-40B4-BE49-F238E27FC236}">
                <a16:creationId xmlns:a16="http://schemas.microsoft.com/office/drawing/2014/main" id="{12691C4B-0A69-3603-5869-74061BD6E71C}"/>
              </a:ext>
            </a:extLst>
          </p:cNvPr>
          <p:cNvSpPr/>
          <p:nvPr/>
        </p:nvSpPr>
        <p:spPr>
          <a:xfrm>
            <a:off x="2070020" y="2690165"/>
            <a:ext cx="868680" cy="292608"/>
          </a:xfrm>
          <a:prstGeom prst="roundRect">
            <a:avLst>
              <a:gd name="adj" fmla="val 18750"/>
            </a:avLst>
          </a:prstGeom>
          <a:solidFill>
            <a:schemeClr val="accent2">
              <a:lumMod val="20000"/>
              <a:lumOff val="80000"/>
            </a:schemeClr>
          </a:solidFill>
          <a:ln w="12700">
            <a:solidFill>
              <a:schemeClr val="accent2">
                <a:lumMod val="60000"/>
                <a:lumOff val="40000"/>
              </a:schemeClr>
            </a:solidFill>
            <a:prstDash val="solid"/>
          </a:ln>
        </p:spPr>
        <p:txBody>
          <a:bodyPr/>
          <a:lstStyle/>
          <a:p>
            <a:endParaRPr lang="en-US"/>
          </a:p>
        </p:txBody>
      </p:sp>
      <p:sp>
        <p:nvSpPr>
          <p:cNvPr id="43" name="Text 6">
            <a:extLst>
              <a:ext uri="{FF2B5EF4-FFF2-40B4-BE49-F238E27FC236}">
                <a16:creationId xmlns:a16="http://schemas.microsoft.com/office/drawing/2014/main" id="{974EB6E6-652B-58AC-00D8-7C221930C4C4}"/>
              </a:ext>
            </a:extLst>
          </p:cNvPr>
          <p:cNvSpPr/>
          <p:nvPr/>
        </p:nvSpPr>
        <p:spPr>
          <a:xfrm>
            <a:off x="2124458" y="2781408"/>
            <a:ext cx="740664" cy="109728"/>
          </a:xfrm>
          <a:prstGeom prst="rect">
            <a:avLst/>
          </a:prstGeom>
          <a:noFill/>
          <a:ln/>
        </p:spPr>
        <p:txBody>
          <a:bodyPr wrap="square" lIns="0" tIns="0" rIns="0" bIns="0" rtlCol="0" anchor="ctr"/>
          <a:lstStyle/>
          <a:p>
            <a:pPr marL="0" indent="0" algn="ctr">
              <a:buNone/>
            </a:pPr>
            <a:r>
              <a:rPr lang="en-US" sz="1170" b="1" dirty="0">
                <a:solidFill>
                  <a:srgbClr val="11263F"/>
                </a:solidFill>
                <a:latin typeface="Aptos" pitchFamily="34" charset="0"/>
                <a:ea typeface="Aptos" pitchFamily="34" charset="-122"/>
                <a:cs typeface="Aptos" pitchFamily="34" charset="-120"/>
              </a:rPr>
              <a:t>GEDT</a:t>
            </a:r>
            <a:endParaRPr lang="en-US" sz="1170" dirty="0"/>
          </a:p>
        </p:txBody>
      </p:sp>
      <p:sp>
        <p:nvSpPr>
          <p:cNvPr id="49" name="Star: 6 Points 48">
            <a:extLst>
              <a:ext uri="{FF2B5EF4-FFF2-40B4-BE49-F238E27FC236}">
                <a16:creationId xmlns:a16="http://schemas.microsoft.com/office/drawing/2014/main" id="{FBF48A1B-B4F9-E362-A43C-D4088591B61D}"/>
              </a:ext>
            </a:extLst>
          </p:cNvPr>
          <p:cNvSpPr/>
          <p:nvPr/>
        </p:nvSpPr>
        <p:spPr>
          <a:xfrm rot="20272137">
            <a:off x="3742405" y="2276083"/>
            <a:ext cx="934945" cy="693491"/>
          </a:xfrm>
          <a:prstGeom prst="star6">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hape 5"/>
          <p:cNvSpPr/>
          <p:nvPr/>
        </p:nvSpPr>
        <p:spPr>
          <a:xfrm>
            <a:off x="3777622" y="2487168"/>
            <a:ext cx="868680" cy="292608"/>
          </a:xfrm>
          <a:prstGeom prst="roundRect">
            <a:avLst>
              <a:gd name="adj" fmla="val 18750"/>
            </a:avLst>
          </a:prstGeom>
          <a:solidFill>
            <a:srgbClr val="E8F2F1"/>
          </a:solidFill>
          <a:ln w="12700">
            <a:solidFill>
              <a:srgbClr val="3B7C8F"/>
            </a:solidFill>
            <a:prstDash val="solid"/>
          </a:ln>
        </p:spPr>
        <p:txBody>
          <a:bodyPr/>
          <a:lstStyle/>
          <a:p>
            <a:endParaRPr lang="en-US"/>
          </a:p>
        </p:txBody>
      </p:sp>
      <p:sp>
        <p:nvSpPr>
          <p:cNvPr id="8" name="Text 6"/>
          <p:cNvSpPr/>
          <p:nvPr/>
        </p:nvSpPr>
        <p:spPr>
          <a:xfrm>
            <a:off x="3841630" y="2560320"/>
            <a:ext cx="740664" cy="109728"/>
          </a:xfrm>
          <a:prstGeom prst="rect">
            <a:avLst/>
          </a:prstGeom>
          <a:noFill/>
          <a:ln/>
        </p:spPr>
        <p:txBody>
          <a:bodyPr wrap="square" lIns="0" tIns="0" rIns="0" bIns="0" rtlCol="0" anchor="ctr"/>
          <a:lstStyle/>
          <a:p>
            <a:pPr marL="0" indent="0" algn="ctr">
              <a:buNone/>
            </a:pPr>
            <a:r>
              <a:rPr lang="en-US" sz="1170" b="1" dirty="0">
                <a:solidFill>
                  <a:srgbClr val="11263F"/>
                </a:solidFill>
                <a:latin typeface="Aptos" pitchFamily="34" charset="0"/>
                <a:ea typeface="Aptos" pitchFamily="34" charset="-122"/>
                <a:cs typeface="Aptos" pitchFamily="34" charset="-120"/>
              </a:rPr>
              <a:t>MIMIC</a:t>
            </a:r>
            <a:endParaRPr lang="en-US" sz="1170" dirty="0"/>
          </a:p>
        </p:txBody>
      </p:sp>
      <p:sp>
        <p:nvSpPr>
          <p:cNvPr id="19" name="Text 16"/>
          <p:cNvSpPr/>
          <p:nvPr/>
        </p:nvSpPr>
        <p:spPr>
          <a:xfrm>
            <a:off x="8518521" y="2267712"/>
            <a:ext cx="3002933" cy="694944"/>
          </a:xfrm>
          <a:prstGeom prst="rect">
            <a:avLst/>
          </a:prstGeom>
          <a:noFill/>
          <a:ln/>
        </p:spPr>
        <p:txBody>
          <a:bodyPr wrap="square" lIns="0" tIns="0" rIns="0" bIns="0" rtlCol="0" anchor="ctr"/>
          <a:lstStyle/>
          <a:p>
            <a:pPr marL="0" indent="0">
              <a:buNone/>
            </a:pPr>
            <a:r>
              <a:rPr lang="en-US" sz="1460" dirty="0">
                <a:solidFill>
                  <a:srgbClr val="22313F"/>
                </a:solidFill>
                <a:latin typeface="Aptos" pitchFamily="34" charset="0"/>
                <a:ea typeface="Aptos" pitchFamily="34" charset="-122"/>
                <a:cs typeface="Aptos" pitchFamily="34" charset="-120"/>
              </a:rPr>
              <a:t>Keep the paper’s IMM-TSF pipeline but replace the final fusion step with a smarter gate that decides when text should change the forecast.</a:t>
            </a:r>
            <a:endParaRPr lang="en-US" sz="1460" dirty="0"/>
          </a:p>
        </p:txBody>
      </p:sp>
      <p:sp>
        <p:nvSpPr>
          <p:cNvPr id="20" name="Shape 17"/>
          <p:cNvSpPr/>
          <p:nvPr/>
        </p:nvSpPr>
        <p:spPr>
          <a:xfrm>
            <a:off x="8485632" y="3183200"/>
            <a:ext cx="1097280" cy="292608"/>
          </a:xfrm>
          <a:prstGeom prst="roundRect">
            <a:avLst>
              <a:gd name="adj" fmla="val 18750"/>
            </a:avLst>
          </a:prstGeom>
          <a:solidFill>
            <a:srgbClr val="EAF1F8"/>
          </a:solidFill>
          <a:ln w="12700">
            <a:solidFill>
              <a:srgbClr val="5D89B3"/>
            </a:solidFill>
            <a:prstDash val="solid"/>
          </a:ln>
        </p:spPr>
        <p:txBody>
          <a:bodyPr/>
          <a:lstStyle/>
          <a:p>
            <a:endParaRPr lang="en-US"/>
          </a:p>
        </p:txBody>
      </p:sp>
      <p:sp>
        <p:nvSpPr>
          <p:cNvPr id="21" name="Text 18"/>
          <p:cNvSpPr/>
          <p:nvPr/>
        </p:nvSpPr>
        <p:spPr>
          <a:xfrm>
            <a:off x="8549640" y="3275669"/>
            <a:ext cx="969264" cy="109728"/>
          </a:xfrm>
          <a:prstGeom prst="rect">
            <a:avLst/>
          </a:prstGeom>
          <a:noFill/>
          <a:ln/>
        </p:spPr>
        <p:txBody>
          <a:bodyPr wrap="square" lIns="0" tIns="0" rIns="0" bIns="0" rtlCol="0" anchor="ctr"/>
          <a:lstStyle/>
          <a:p>
            <a:pPr marL="0" indent="0" algn="ctr">
              <a:buNone/>
            </a:pPr>
            <a:r>
              <a:rPr lang="en-US" sz="1170" b="1" dirty="0">
                <a:solidFill>
                  <a:srgbClr val="11263F"/>
                </a:solidFill>
                <a:latin typeface="Aptos" pitchFamily="34" charset="0"/>
                <a:ea typeface="Aptos" pitchFamily="34" charset="-122"/>
                <a:cs typeface="Aptos" pitchFamily="34" charset="-120"/>
              </a:rPr>
              <a:t>Recency</a:t>
            </a:r>
            <a:endParaRPr lang="en-US" sz="1170" dirty="0"/>
          </a:p>
        </p:txBody>
      </p:sp>
      <p:sp>
        <p:nvSpPr>
          <p:cNvPr id="24" name="Shape 21"/>
          <p:cNvSpPr/>
          <p:nvPr/>
        </p:nvSpPr>
        <p:spPr>
          <a:xfrm>
            <a:off x="8485632" y="3567248"/>
            <a:ext cx="1261872" cy="292608"/>
          </a:xfrm>
          <a:prstGeom prst="roundRect">
            <a:avLst>
              <a:gd name="adj" fmla="val 18750"/>
            </a:avLst>
          </a:prstGeom>
          <a:solidFill>
            <a:srgbClr val="E8F2F1"/>
          </a:solidFill>
          <a:ln w="12700">
            <a:solidFill>
              <a:srgbClr val="3B7C8F"/>
            </a:solidFill>
            <a:prstDash val="solid"/>
          </a:ln>
        </p:spPr>
        <p:txBody>
          <a:bodyPr/>
          <a:lstStyle/>
          <a:p>
            <a:endParaRPr lang="en-US"/>
          </a:p>
        </p:txBody>
      </p:sp>
      <p:sp>
        <p:nvSpPr>
          <p:cNvPr id="25" name="Text 22"/>
          <p:cNvSpPr/>
          <p:nvPr/>
        </p:nvSpPr>
        <p:spPr>
          <a:xfrm>
            <a:off x="8549640" y="3653278"/>
            <a:ext cx="1133856" cy="109728"/>
          </a:xfrm>
          <a:prstGeom prst="rect">
            <a:avLst/>
          </a:prstGeom>
          <a:noFill/>
          <a:ln/>
        </p:spPr>
        <p:txBody>
          <a:bodyPr wrap="square" lIns="0" tIns="0" rIns="0" bIns="0" rtlCol="0" anchor="ctr"/>
          <a:lstStyle/>
          <a:p>
            <a:pPr marL="0" indent="0" algn="ctr">
              <a:buNone/>
            </a:pPr>
            <a:r>
              <a:rPr lang="en-US" sz="1170" b="1" dirty="0">
                <a:solidFill>
                  <a:srgbClr val="11263F"/>
                </a:solidFill>
                <a:latin typeface="Aptos" pitchFamily="34" charset="0"/>
                <a:ea typeface="Aptos" pitchFamily="34" charset="-122"/>
                <a:cs typeface="Aptos" pitchFamily="34" charset="-120"/>
              </a:rPr>
              <a:t>Missingness</a:t>
            </a:r>
            <a:endParaRPr lang="en-US" sz="1170" dirty="0"/>
          </a:p>
        </p:txBody>
      </p:sp>
      <p:sp>
        <p:nvSpPr>
          <p:cNvPr id="50" name="Shape 5">
            <a:extLst>
              <a:ext uri="{FF2B5EF4-FFF2-40B4-BE49-F238E27FC236}">
                <a16:creationId xmlns:a16="http://schemas.microsoft.com/office/drawing/2014/main" id="{A16B8715-4CF3-E7C5-30CB-523DDB90BA5A}"/>
              </a:ext>
            </a:extLst>
          </p:cNvPr>
          <p:cNvSpPr/>
          <p:nvPr/>
        </p:nvSpPr>
        <p:spPr>
          <a:xfrm>
            <a:off x="1796473" y="2366102"/>
            <a:ext cx="868680" cy="292608"/>
          </a:xfrm>
          <a:prstGeom prst="roundRect">
            <a:avLst>
              <a:gd name="adj" fmla="val 18750"/>
            </a:avLst>
          </a:prstGeom>
          <a:solidFill>
            <a:srgbClr val="DED5E5"/>
          </a:solidFill>
          <a:ln w="12700">
            <a:solidFill>
              <a:srgbClr val="7030A0"/>
            </a:solidFill>
            <a:prstDash val="solid"/>
          </a:ln>
        </p:spPr>
        <p:txBody>
          <a:bodyPr/>
          <a:lstStyle/>
          <a:p>
            <a:endParaRPr lang="en-US"/>
          </a:p>
        </p:txBody>
      </p:sp>
      <p:sp>
        <p:nvSpPr>
          <p:cNvPr id="51" name="Text 6">
            <a:extLst>
              <a:ext uri="{FF2B5EF4-FFF2-40B4-BE49-F238E27FC236}">
                <a16:creationId xmlns:a16="http://schemas.microsoft.com/office/drawing/2014/main" id="{8D9D0614-FD3C-BB8B-C18F-27A81E5D7AF6}"/>
              </a:ext>
            </a:extLst>
          </p:cNvPr>
          <p:cNvSpPr/>
          <p:nvPr/>
        </p:nvSpPr>
        <p:spPr>
          <a:xfrm>
            <a:off x="1850911" y="2457345"/>
            <a:ext cx="740664" cy="109728"/>
          </a:xfrm>
          <a:prstGeom prst="rect">
            <a:avLst/>
          </a:prstGeom>
          <a:noFill/>
          <a:ln/>
        </p:spPr>
        <p:txBody>
          <a:bodyPr wrap="square" lIns="0" tIns="0" rIns="0" bIns="0" rtlCol="0" anchor="ctr"/>
          <a:lstStyle/>
          <a:p>
            <a:pPr marL="0" indent="0" algn="ctr">
              <a:buNone/>
            </a:pPr>
            <a:r>
              <a:rPr lang="en-US" sz="1170" b="1" dirty="0">
                <a:solidFill>
                  <a:srgbClr val="11263F"/>
                </a:solidFill>
                <a:latin typeface="Aptos" pitchFamily="34" charset="0"/>
                <a:ea typeface="Aptos" pitchFamily="34" charset="-122"/>
                <a:cs typeface="Aptos" pitchFamily="34" charset="-120"/>
              </a:rPr>
              <a:t>CESNET</a:t>
            </a:r>
            <a:endParaRPr lang="en-US" sz="1170" dirty="0"/>
          </a:p>
        </p:txBody>
      </p:sp>
      <p:cxnSp>
        <p:nvCxnSpPr>
          <p:cNvPr id="53" name="Straight Arrow Connector 52">
            <a:extLst>
              <a:ext uri="{FF2B5EF4-FFF2-40B4-BE49-F238E27FC236}">
                <a16:creationId xmlns:a16="http://schemas.microsoft.com/office/drawing/2014/main" id="{779806EE-DB61-4278-11AC-4D104D543FFC}"/>
              </a:ext>
            </a:extLst>
          </p:cNvPr>
          <p:cNvCxnSpPr/>
          <p:nvPr/>
        </p:nvCxnSpPr>
        <p:spPr>
          <a:xfrm>
            <a:off x="2865122" y="2560320"/>
            <a:ext cx="713589" cy="842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41E2A4CB-DD82-C8D0-B687-2AC436B8031E}"/>
              </a:ext>
            </a:extLst>
          </p:cNvPr>
          <p:cNvCxnSpPr/>
          <p:nvPr/>
        </p:nvCxnSpPr>
        <p:spPr>
          <a:xfrm flipV="1">
            <a:off x="3065172" y="2774022"/>
            <a:ext cx="463639" cy="528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66FDB958-34C1-2F6F-5ECB-BEB37A2B676A}"/>
              </a:ext>
            </a:extLst>
          </p:cNvPr>
          <p:cNvCxnSpPr/>
          <p:nvPr/>
        </p:nvCxnSpPr>
        <p:spPr>
          <a:xfrm>
            <a:off x="2727005" y="2642312"/>
            <a:ext cx="713589" cy="842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E845E82B-F8CD-3C21-E35E-BEC65E0FF38F}"/>
              </a:ext>
            </a:extLst>
          </p:cNvPr>
          <p:cNvCxnSpPr/>
          <p:nvPr/>
        </p:nvCxnSpPr>
        <p:spPr>
          <a:xfrm flipV="1">
            <a:off x="2968677" y="2867997"/>
            <a:ext cx="463639" cy="528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1033536A-6374-62EC-AF40-D8B3D642E7BB}"/>
              </a:ext>
            </a:extLst>
          </p:cNvPr>
          <p:cNvSpPr txBox="1"/>
          <p:nvPr/>
        </p:nvSpPr>
        <p:spPr>
          <a:xfrm>
            <a:off x="841248" y="5810733"/>
            <a:ext cx="10570909" cy="923330"/>
          </a:xfrm>
          <a:prstGeom prst="rect">
            <a:avLst/>
          </a:prstGeom>
          <a:solidFill>
            <a:schemeClr val="accent6">
              <a:lumMod val="20000"/>
              <a:lumOff val="80000"/>
            </a:schemeClr>
          </a:solidFill>
          <a:ln>
            <a:solidFill>
              <a:srgbClr val="00B050"/>
            </a:solidFill>
          </a:ln>
        </p:spPr>
        <p:txBody>
          <a:bodyPr wrap="square" rtlCol="0">
            <a:spAutoFit/>
          </a:bodyPr>
          <a:lstStyle/>
          <a:p>
            <a:pPr algn="ctr"/>
            <a:r>
              <a:rPr lang="en-US" b="1" dirty="0"/>
              <a:t>GR-Add already learns how to blend text into the forecast, but it does so implicitly from hidden features. Our extension would make that gating decision more explicit by providing the gate with reliability signals that reflect whether the note stream is likely to be useful at that forecast time.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4F8CEFB0-83D8-4CD4-57A1-779397480BBD}"/>
              </a:ext>
            </a:extLst>
          </p:cNvPr>
          <p:cNvGraphicFramePr>
            <a:graphicFrameLocks noGrp="1"/>
          </p:cNvGraphicFramePr>
          <p:nvPr>
            <p:extLst>
              <p:ext uri="{D42A27DB-BD31-4B8C-83A1-F6EECF244321}">
                <p14:modId xmlns:p14="http://schemas.microsoft.com/office/powerpoint/2010/main" val="1378930523"/>
              </p:ext>
            </p:extLst>
          </p:nvPr>
        </p:nvGraphicFramePr>
        <p:xfrm>
          <a:off x="2276745" y="1333658"/>
          <a:ext cx="7368053" cy="2442263"/>
        </p:xfrm>
        <a:graphic>
          <a:graphicData uri="http://schemas.openxmlformats.org/drawingml/2006/table">
            <a:tbl>
              <a:tblPr/>
              <a:tblGrid>
                <a:gridCol w="1300515">
                  <a:extLst>
                    <a:ext uri="{9D8B030D-6E8A-4147-A177-3AD203B41FA5}">
                      <a16:colId xmlns:a16="http://schemas.microsoft.com/office/drawing/2014/main" val="347509223"/>
                    </a:ext>
                  </a:extLst>
                </a:gridCol>
                <a:gridCol w="2305478">
                  <a:extLst>
                    <a:ext uri="{9D8B030D-6E8A-4147-A177-3AD203B41FA5}">
                      <a16:colId xmlns:a16="http://schemas.microsoft.com/office/drawing/2014/main" val="3980417026"/>
                    </a:ext>
                  </a:extLst>
                </a:gridCol>
                <a:gridCol w="940515">
                  <a:extLst>
                    <a:ext uri="{9D8B030D-6E8A-4147-A177-3AD203B41FA5}">
                      <a16:colId xmlns:a16="http://schemas.microsoft.com/office/drawing/2014/main" val="3985619348"/>
                    </a:ext>
                  </a:extLst>
                </a:gridCol>
                <a:gridCol w="940515">
                  <a:extLst>
                    <a:ext uri="{9D8B030D-6E8A-4147-A177-3AD203B41FA5}">
                      <a16:colId xmlns:a16="http://schemas.microsoft.com/office/drawing/2014/main" val="1945792390"/>
                    </a:ext>
                  </a:extLst>
                </a:gridCol>
                <a:gridCol w="940515">
                  <a:extLst>
                    <a:ext uri="{9D8B030D-6E8A-4147-A177-3AD203B41FA5}">
                      <a16:colId xmlns:a16="http://schemas.microsoft.com/office/drawing/2014/main" val="403839876"/>
                    </a:ext>
                  </a:extLst>
                </a:gridCol>
                <a:gridCol w="940515">
                  <a:extLst>
                    <a:ext uri="{9D8B030D-6E8A-4147-A177-3AD203B41FA5}">
                      <a16:colId xmlns:a16="http://schemas.microsoft.com/office/drawing/2014/main" val="2738948510"/>
                    </a:ext>
                  </a:extLst>
                </a:gridCol>
              </a:tblGrid>
              <a:tr h="569714">
                <a:tc gridSpan="2">
                  <a:txBody>
                    <a:bodyPr/>
                    <a:lstStyle/>
                    <a:p>
                      <a:pPr algn="ctr" fontAlgn="t">
                        <a:buNone/>
                      </a:pPr>
                      <a:r>
                        <a:rPr lang="en-US" sz="2000" b="1" i="0" u="none" strike="noStrike" dirty="0">
                          <a:solidFill>
                            <a:srgbClr val="000000"/>
                          </a:solidFill>
                          <a:effectLst/>
                          <a:latin typeface="Aptos Narrow" panose="020B0004020202020204" pitchFamily="34" charset="0"/>
                        </a:rPr>
                        <a:t>Current Results (04/02/2026)</a:t>
                      </a:r>
                    </a:p>
                  </a:txBody>
                  <a:tcPr marL="6350" marR="6350" marT="63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hMerge="1">
                  <a:txBody>
                    <a:bodyPr/>
                    <a:lstStyle/>
                    <a:p>
                      <a:endParaRPr lang="en-US"/>
                    </a:p>
                  </a:txBody>
                  <a:tcPr/>
                </a:tc>
                <a:tc gridSpan="2">
                  <a:txBody>
                    <a:bodyPr/>
                    <a:lstStyle/>
                    <a:p>
                      <a:pPr algn="ctr" fontAlgn="b">
                        <a:buNone/>
                      </a:pPr>
                      <a:r>
                        <a:rPr lang="en-US" sz="1800" b="1" i="0" u="none" strike="noStrike" dirty="0">
                          <a:solidFill>
                            <a:srgbClr val="000000"/>
                          </a:solidFill>
                          <a:effectLst/>
                          <a:latin typeface="Aptos Narrow" panose="020B0004020202020204" pitchFamily="34" charset="0"/>
                        </a:rPr>
                        <a:t>Multimodal MSE </a:t>
                      </a:r>
                    </a:p>
                  </a:txBody>
                  <a:tcPr marL="6350" marR="6350" marT="635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hMerge="1">
                  <a:txBody>
                    <a:bodyPr/>
                    <a:lstStyle/>
                    <a:p>
                      <a:endParaRPr lang="en-US"/>
                    </a:p>
                  </a:txBody>
                  <a:tcPr/>
                </a:tc>
                <a:tc gridSpan="2">
                  <a:txBody>
                    <a:bodyPr/>
                    <a:lstStyle/>
                    <a:p>
                      <a:pPr algn="ctr" fontAlgn="b">
                        <a:buNone/>
                      </a:pPr>
                      <a:r>
                        <a:rPr lang="en-US" sz="1800" b="1" i="0" u="none" strike="noStrike" dirty="0">
                          <a:solidFill>
                            <a:srgbClr val="000000"/>
                          </a:solidFill>
                          <a:effectLst/>
                          <a:latin typeface="Aptos Narrow" panose="020B0004020202020204" pitchFamily="34" charset="0"/>
                        </a:rPr>
                        <a:t>Unimodal MSE </a:t>
                      </a:r>
                    </a:p>
                  </a:txBody>
                  <a:tcPr marL="6350" marR="6350" marT="635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hMerge="1">
                  <a:txBody>
                    <a:bodyPr/>
                    <a:lstStyle/>
                    <a:p>
                      <a:endParaRPr lang="en-US"/>
                    </a:p>
                  </a:txBody>
                  <a:tcPr/>
                </a:tc>
                <a:extLst>
                  <a:ext uri="{0D108BD9-81ED-4DB2-BD59-A6C34878D82A}">
                    <a16:rowId xmlns:a16="http://schemas.microsoft.com/office/drawing/2014/main" val="3614756834"/>
                  </a:ext>
                </a:extLst>
              </a:tr>
              <a:tr h="323149">
                <a:tc>
                  <a:txBody>
                    <a:bodyPr/>
                    <a:lstStyle/>
                    <a:p>
                      <a:pPr algn="ctr" fontAlgn="b">
                        <a:buNone/>
                      </a:pPr>
                      <a:r>
                        <a:rPr lang="en-US" sz="1400" b="1" i="0" u="none" strike="noStrike" dirty="0">
                          <a:solidFill>
                            <a:srgbClr val="000000"/>
                          </a:solidFill>
                          <a:effectLst/>
                          <a:latin typeface="Aptos Narrow" panose="020B0004020202020204" pitchFamily="34" charset="0"/>
                        </a:rPr>
                        <a:t>Dataset</a:t>
                      </a:r>
                    </a:p>
                  </a:txBody>
                  <a:tcPr marL="6350" marR="6350" marT="635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1" i="0" u="none" strike="noStrike" dirty="0">
                          <a:solidFill>
                            <a:srgbClr val="000000"/>
                          </a:solidFill>
                          <a:effectLst/>
                          <a:latin typeface="Aptos Narrow" panose="020B0004020202020204" pitchFamily="34" charset="0"/>
                        </a:rPr>
                        <a:t>Irregularity Type</a:t>
                      </a:r>
                    </a:p>
                  </a:txBody>
                  <a:tcPr marL="6350" marR="6350" marT="635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0" i="0" u="none" strike="noStrike" dirty="0">
                          <a:solidFill>
                            <a:srgbClr val="000000"/>
                          </a:solidFill>
                          <a:effectLst/>
                          <a:latin typeface="Aptos Narrow" panose="020B0004020202020204" pitchFamily="34" charset="0"/>
                        </a:rPr>
                        <a:t>Paper</a:t>
                      </a:r>
                    </a:p>
                  </a:txBody>
                  <a:tcPr marL="6350" marR="6350" marT="635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0" i="0" u="none" strike="noStrike" dirty="0">
                          <a:solidFill>
                            <a:srgbClr val="000000"/>
                          </a:solidFill>
                          <a:effectLst/>
                          <a:latin typeface="Aptos Narrow" panose="020B0004020202020204" pitchFamily="34" charset="0"/>
                        </a:rPr>
                        <a:t>Ours</a:t>
                      </a:r>
                    </a:p>
                  </a:txBody>
                  <a:tcPr marL="6350" marR="6350" marT="635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0" i="0" u="none" strike="noStrike">
                          <a:solidFill>
                            <a:srgbClr val="000000"/>
                          </a:solidFill>
                          <a:effectLst/>
                          <a:latin typeface="Aptos Narrow" panose="020B0004020202020204" pitchFamily="34" charset="0"/>
                        </a:rPr>
                        <a:t>Paper</a:t>
                      </a:r>
                    </a:p>
                  </a:txBody>
                  <a:tcPr marL="6350" marR="6350" marT="635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0" i="0" u="none" strike="noStrike" dirty="0">
                          <a:solidFill>
                            <a:srgbClr val="000000"/>
                          </a:solidFill>
                          <a:effectLst/>
                          <a:latin typeface="Aptos Narrow" panose="020B0004020202020204" pitchFamily="34" charset="0"/>
                        </a:rPr>
                        <a:t>Ours</a:t>
                      </a:r>
                    </a:p>
                  </a:txBody>
                  <a:tcPr marL="6350" marR="6350" marT="635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69092460"/>
                  </a:ext>
                </a:extLst>
              </a:tr>
              <a:tr h="323149">
                <a:tc>
                  <a:txBody>
                    <a:bodyPr/>
                    <a:lstStyle/>
                    <a:p>
                      <a:pPr algn="ctr" fontAlgn="b">
                        <a:buNone/>
                      </a:pPr>
                      <a:r>
                        <a:rPr lang="en-US" sz="1400" b="0" i="0" u="none" strike="noStrike">
                          <a:solidFill>
                            <a:srgbClr val="000000"/>
                          </a:solidFill>
                          <a:effectLst/>
                          <a:latin typeface="Aptos Narrow" panose="020B0004020202020204" pitchFamily="34" charset="0"/>
                        </a:rPr>
                        <a:t>GDELT</a:t>
                      </a:r>
                    </a:p>
                  </a:txBody>
                  <a:tcPr marL="6350" marR="6350" marT="635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0" i="0" u="none" strike="noStrike" dirty="0">
                          <a:solidFill>
                            <a:srgbClr val="000000"/>
                          </a:solidFill>
                          <a:effectLst/>
                          <a:latin typeface="Aptos Narrow" panose="020B0004020202020204" pitchFamily="34" charset="0"/>
                        </a:rPr>
                        <a:t>Trigger-Based</a:t>
                      </a:r>
                    </a:p>
                    <a:p>
                      <a:pPr algn="ctr" fontAlgn="b">
                        <a:buNone/>
                      </a:pPr>
                      <a:r>
                        <a:rPr lang="en-US" sz="1100" b="0" i="0" u="none" strike="noStrike" dirty="0">
                          <a:solidFill>
                            <a:srgbClr val="000000"/>
                          </a:solidFill>
                          <a:effectLst/>
                          <a:latin typeface="Aptos Narrow" panose="020B0004020202020204" pitchFamily="34" charset="0"/>
                        </a:rPr>
                        <a:t> (</a:t>
                      </a:r>
                      <a:r>
                        <a:rPr lang="en-US" sz="1100" dirty="0"/>
                        <a:t>Event-Based Logging</a:t>
                      </a:r>
                      <a:r>
                        <a:rPr lang="en-US" sz="1100" b="0" i="0" u="none" strike="noStrike" dirty="0">
                          <a:solidFill>
                            <a:srgbClr val="000000"/>
                          </a:solidFill>
                          <a:effectLst/>
                          <a:latin typeface="Aptos Narrow" panose="020B0004020202020204" pitchFamily="34" charset="0"/>
                        </a:rPr>
                        <a:t>)</a:t>
                      </a:r>
                    </a:p>
                  </a:txBody>
                  <a:tcPr marL="6350" marR="6350" marT="635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0" i="0" u="none" strike="noStrike" dirty="0">
                          <a:solidFill>
                            <a:srgbClr val="000000"/>
                          </a:solidFill>
                          <a:effectLst/>
                          <a:latin typeface="Aptos Narrow" panose="020B0004020202020204" pitchFamily="34" charset="0"/>
                        </a:rPr>
                        <a:t>1.03</a:t>
                      </a:r>
                    </a:p>
                  </a:txBody>
                  <a:tcPr marL="6350" marR="6350" marT="635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0" i="0" u="none" strike="noStrike" dirty="0">
                          <a:solidFill>
                            <a:srgbClr val="000000"/>
                          </a:solidFill>
                          <a:effectLst/>
                          <a:latin typeface="Aptos Narrow" panose="020B0004020202020204" pitchFamily="34" charset="0"/>
                        </a:rPr>
                        <a:t>1.02</a:t>
                      </a:r>
                    </a:p>
                  </a:txBody>
                  <a:tcPr marL="6350" marR="6350" marT="635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0" i="0" u="none" strike="noStrike" dirty="0">
                          <a:solidFill>
                            <a:srgbClr val="000000"/>
                          </a:solidFill>
                          <a:effectLst/>
                          <a:latin typeface="Aptos Narrow" panose="020B0004020202020204" pitchFamily="34" charset="0"/>
                        </a:rPr>
                        <a:t>1.03</a:t>
                      </a:r>
                    </a:p>
                  </a:txBody>
                  <a:tcPr marL="6350" marR="6350" marT="635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0" i="0" u="none" strike="noStrike" dirty="0">
                          <a:solidFill>
                            <a:srgbClr val="000000"/>
                          </a:solidFill>
                          <a:effectLst/>
                          <a:latin typeface="Aptos Narrow" panose="020B0004020202020204" pitchFamily="34" charset="0"/>
                        </a:rPr>
                        <a:t>1.04</a:t>
                      </a:r>
                    </a:p>
                  </a:txBody>
                  <a:tcPr marL="6350" marR="6350" marT="635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142921678"/>
                  </a:ext>
                </a:extLst>
              </a:tr>
              <a:tr h="323149">
                <a:tc>
                  <a:txBody>
                    <a:bodyPr/>
                    <a:lstStyle/>
                    <a:p>
                      <a:pPr algn="ctr" fontAlgn="b">
                        <a:buNone/>
                      </a:pPr>
                      <a:r>
                        <a:rPr lang="en-US" sz="1400" b="0" i="0" u="none" strike="noStrike">
                          <a:solidFill>
                            <a:srgbClr val="000000"/>
                          </a:solidFill>
                          <a:effectLst/>
                          <a:latin typeface="Aptos Narrow" panose="020B0004020202020204" pitchFamily="34" charset="0"/>
                        </a:rPr>
                        <a:t>FNSPID</a:t>
                      </a:r>
                    </a:p>
                  </a:txBody>
                  <a:tcPr marL="6350" marR="6350" marT="635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0" i="0" u="none" strike="noStrike" dirty="0">
                          <a:solidFill>
                            <a:srgbClr val="000000"/>
                          </a:solidFill>
                          <a:effectLst/>
                          <a:latin typeface="Aptos Narrow" panose="020B0004020202020204" pitchFamily="34" charset="0"/>
                        </a:rPr>
                        <a:t>Artifact-Based </a:t>
                      </a:r>
                    </a:p>
                    <a:p>
                      <a:pPr algn="ctr" fontAlgn="b">
                        <a:buNone/>
                      </a:pPr>
                      <a:r>
                        <a:rPr lang="en-US" sz="1100" b="0" i="0" u="none" strike="noStrike" dirty="0">
                          <a:solidFill>
                            <a:srgbClr val="000000"/>
                          </a:solidFill>
                          <a:effectLst/>
                          <a:latin typeface="Aptos Narrow" panose="020B0004020202020204" pitchFamily="34" charset="0"/>
                        </a:rPr>
                        <a:t>(</a:t>
                      </a:r>
                      <a:r>
                        <a:rPr lang="en-US" sz="1100" dirty="0"/>
                        <a:t>Operational Window Sampling</a:t>
                      </a:r>
                      <a:r>
                        <a:rPr lang="en-US" sz="1100" b="0" i="0" u="none" strike="noStrike" dirty="0">
                          <a:solidFill>
                            <a:srgbClr val="000000"/>
                          </a:solidFill>
                          <a:effectLst/>
                          <a:latin typeface="Aptos Narrow" panose="020B0004020202020204" pitchFamily="34" charset="0"/>
                        </a:rPr>
                        <a:t> )</a:t>
                      </a:r>
                    </a:p>
                  </a:txBody>
                  <a:tcPr marL="6350" marR="6350" marT="635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0" i="0" u="none" strike="noStrike" dirty="0">
                          <a:solidFill>
                            <a:srgbClr val="000000"/>
                          </a:solidFill>
                          <a:effectLst/>
                          <a:latin typeface="Aptos Narrow" panose="020B0004020202020204" pitchFamily="34" charset="0"/>
                        </a:rPr>
                        <a:t>0.12</a:t>
                      </a:r>
                    </a:p>
                  </a:txBody>
                  <a:tcPr marL="6350" marR="6350" marT="635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0" i="0" u="none" strike="noStrike" dirty="0">
                          <a:solidFill>
                            <a:srgbClr val="000000"/>
                          </a:solidFill>
                          <a:effectLst/>
                          <a:latin typeface="Aptos Narrow" panose="020B0004020202020204" pitchFamily="34" charset="0"/>
                        </a:rPr>
                        <a:t>0.16</a:t>
                      </a:r>
                    </a:p>
                  </a:txBody>
                  <a:tcPr marL="6350" marR="6350" marT="635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0" i="0" u="none" strike="noStrike" dirty="0">
                          <a:solidFill>
                            <a:srgbClr val="000000"/>
                          </a:solidFill>
                          <a:effectLst/>
                          <a:latin typeface="Aptos Narrow" panose="020B0004020202020204" pitchFamily="34" charset="0"/>
                        </a:rPr>
                        <a:t>0.12</a:t>
                      </a:r>
                    </a:p>
                  </a:txBody>
                  <a:tcPr marL="6350" marR="6350" marT="635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0" i="0" u="none" strike="noStrike" dirty="0">
                          <a:solidFill>
                            <a:srgbClr val="000000"/>
                          </a:solidFill>
                          <a:effectLst/>
                          <a:latin typeface="Aptos Narrow" panose="020B0004020202020204" pitchFamily="34" charset="0"/>
                        </a:rPr>
                        <a:t>0.16</a:t>
                      </a:r>
                    </a:p>
                  </a:txBody>
                  <a:tcPr marL="6350" marR="6350" marT="635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1083399887"/>
                  </a:ext>
                </a:extLst>
              </a:tr>
              <a:tr h="323149">
                <a:tc>
                  <a:txBody>
                    <a:bodyPr/>
                    <a:lstStyle/>
                    <a:p>
                      <a:pPr algn="ctr" fontAlgn="b">
                        <a:buNone/>
                      </a:pPr>
                      <a:r>
                        <a:rPr lang="en-US" sz="1400" b="0" i="0" u="none" strike="noStrike" dirty="0">
                          <a:solidFill>
                            <a:srgbClr val="000000"/>
                          </a:solidFill>
                          <a:effectLst/>
                          <a:latin typeface="Aptos Narrow" panose="020B0004020202020204" pitchFamily="34" charset="0"/>
                        </a:rPr>
                        <a:t>CLUSTERTRACE</a:t>
                      </a:r>
                    </a:p>
                  </a:txBody>
                  <a:tcPr marL="6350" marR="6350" marT="635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0" i="0" u="none" strike="noStrike" dirty="0">
                          <a:solidFill>
                            <a:srgbClr val="000000"/>
                          </a:solidFill>
                          <a:effectLst/>
                          <a:latin typeface="Aptos Narrow" panose="020B0004020202020204" pitchFamily="34" charset="0"/>
                        </a:rPr>
                        <a:t>Artifact-Based </a:t>
                      </a:r>
                    </a:p>
                    <a:p>
                      <a:pPr algn="ctr" fontAlgn="b">
                        <a:buNone/>
                      </a:pPr>
                      <a:r>
                        <a:rPr lang="en-US" sz="1100" b="0" i="0" u="none" strike="noStrike" dirty="0">
                          <a:solidFill>
                            <a:srgbClr val="000000"/>
                          </a:solidFill>
                          <a:effectLst/>
                          <a:latin typeface="Aptos Narrow" panose="020B0004020202020204" pitchFamily="34" charset="0"/>
                        </a:rPr>
                        <a:t>(</a:t>
                      </a:r>
                      <a:r>
                        <a:rPr lang="en-US" sz="1100" dirty="0"/>
                        <a:t>Resource-Aware Collection</a:t>
                      </a:r>
                      <a:r>
                        <a:rPr lang="en-US" sz="1100" b="0" i="0" u="none" strike="noStrike" dirty="0">
                          <a:solidFill>
                            <a:srgbClr val="000000"/>
                          </a:solidFill>
                          <a:effectLst/>
                          <a:latin typeface="Aptos Narrow" panose="020B0004020202020204" pitchFamily="34" charset="0"/>
                        </a:rPr>
                        <a:t>)</a:t>
                      </a:r>
                    </a:p>
                  </a:txBody>
                  <a:tcPr marL="6350" marR="6350" marT="635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0" i="0" u="none" strike="noStrike" dirty="0">
                          <a:solidFill>
                            <a:srgbClr val="000000"/>
                          </a:solidFill>
                          <a:effectLst/>
                          <a:latin typeface="Aptos Narrow" panose="020B0004020202020204" pitchFamily="34" charset="0"/>
                        </a:rPr>
                        <a:t>0.61</a:t>
                      </a:r>
                    </a:p>
                  </a:txBody>
                  <a:tcPr marL="6350" marR="6350" marT="635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0" i="0" u="none" strike="noStrike" dirty="0">
                          <a:solidFill>
                            <a:srgbClr val="000000"/>
                          </a:solidFill>
                          <a:effectLst/>
                          <a:latin typeface="Aptos Narrow" panose="020B0004020202020204" pitchFamily="34" charset="0"/>
                        </a:rPr>
                        <a:t>0.85</a:t>
                      </a:r>
                    </a:p>
                  </a:txBody>
                  <a:tcPr marL="6350" marR="6350" marT="635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0" i="0" u="none" strike="noStrike" dirty="0">
                          <a:solidFill>
                            <a:srgbClr val="000000"/>
                          </a:solidFill>
                          <a:effectLst/>
                          <a:latin typeface="Aptos Narrow" panose="020B0004020202020204" pitchFamily="34" charset="0"/>
                        </a:rPr>
                        <a:t>0.98</a:t>
                      </a:r>
                    </a:p>
                  </a:txBody>
                  <a:tcPr marL="6350" marR="6350" marT="635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0" i="0" u="none" strike="noStrike" dirty="0">
                          <a:solidFill>
                            <a:srgbClr val="000000"/>
                          </a:solidFill>
                          <a:effectLst/>
                          <a:latin typeface="Aptos Narrow" panose="020B0004020202020204" pitchFamily="34" charset="0"/>
                        </a:rPr>
                        <a:t>0.87</a:t>
                      </a:r>
                    </a:p>
                  </a:txBody>
                  <a:tcPr marL="6350" marR="6350" marT="635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3821850367"/>
                  </a:ext>
                </a:extLst>
              </a:tr>
              <a:tr h="323149">
                <a:tc>
                  <a:txBody>
                    <a:bodyPr/>
                    <a:lstStyle/>
                    <a:p>
                      <a:pPr algn="ctr" fontAlgn="b">
                        <a:buNone/>
                      </a:pPr>
                      <a:r>
                        <a:rPr lang="en-US" sz="1400" b="0" i="0" u="none" strike="noStrike" dirty="0">
                          <a:solidFill>
                            <a:srgbClr val="000000"/>
                          </a:solidFill>
                          <a:effectLst/>
                          <a:latin typeface="Aptos Narrow" panose="020B0004020202020204" pitchFamily="34" charset="0"/>
                        </a:rPr>
                        <a:t>CESNET</a:t>
                      </a:r>
                    </a:p>
                  </a:txBody>
                  <a:tcPr marL="6350" marR="6350" marT="635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100" b="0" i="0" u="none" strike="noStrike" dirty="0">
                          <a:solidFill>
                            <a:srgbClr val="000000"/>
                          </a:solidFill>
                          <a:effectLst/>
                          <a:latin typeface="Aptos Narrow" panose="020B0004020202020204" pitchFamily="34" charset="0"/>
                        </a:rPr>
                        <a:t>Constraint-Based </a:t>
                      </a:r>
                    </a:p>
                    <a:p>
                      <a:pPr marL="0" marR="0" lvl="0" indent="0" algn="ctr" defTabSz="914400" rtl="0" eaLnBrk="1" fontAlgn="b" latinLnBrk="0" hangingPunct="1">
                        <a:lnSpc>
                          <a:spcPct val="100000"/>
                        </a:lnSpc>
                        <a:spcBef>
                          <a:spcPts val="0"/>
                        </a:spcBef>
                        <a:spcAft>
                          <a:spcPts val="0"/>
                        </a:spcAft>
                        <a:buClrTx/>
                        <a:buSzTx/>
                        <a:buFontTx/>
                        <a:buNone/>
                        <a:tabLst/>
                        <a:defRPr/>
                      </a:pPr>
                      <a:r>
                        <a:rPr lang="en-US" sz="1100" b="0" i="0" u="none" strike="noStrike" dirty="0">
                          <a:solidFill>
                            <a:srgbClr val="000000"/>
                          </a:solidFill>
                          <a:effectLst/>
                          <a:latin typeface="Aptos Narrow" panose="020B0004020202020204" pitchFamily="34" charset="0"/>
                        </a:rPr>
                        <a:t>(</a:t>
                      </a:r>
                      <a:r>
                        <a:rPr lang="en-US" sz="1100" dirty="0"/>
                        <a:t>Scheduling Jitter / Delay</a:t>
                      </a:r>
                      <a:r>
                        <a:rPr lang="en-US" sz="1100" b="0" i="0" u="none" strike="noStrike" dirty="0">
                          <a:solidFill>
                            <a:srgbClr val="000000"/>
                          </a:solidFill>
                          <a:effectLst/>
                          <a:latin typeface="Aptos Narrow" panose="020B0004020202020204" pitchFamily="34" charset="0"/>
                        </a:rPr>
                        <a:t>)</a:t>
                      </a:r>
                    </a:p>
                  </a:txBody>
                  <a:tcPr marL="6350" marR="6350" marT="635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0" i="0" u="none" strike="noStrike" dirty="0">
                          <a:solidFill>
                            <a:srgbClr val="000000"/>
                          </a:solidFill>
                          <a:effectLst/>
                          <a:latin typeface="Aptos Narrow" panose="020B0004020202020204" pitchFamily="34" charset="0"/>
                        </a:rPr>
                        <a:t>0.91</a:t>
                      </a:r>
                    </a:p>
                  </a:txBody>
                  <a:tcPr marL="6350" marR="6350" marT="635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0" i="0" u="none" strike="noStrike" dirty="0">
                          <a:solidFill>
                            <a:srgbClr val="000000"/>
                          </a:solidFill>
                          <a:effectLst/>
                          <a:latin typeface="Aptos Narrow" panose="020B0004020202020204" pitchFamily="34" charset="0"/>
                        </a:rPr>
                        <a:t>0.96</a:t>
                      </a:r>
                    </a:p>
                  </a:txBody>
                  <a:tcPr marL="6350" marR="6350" marT="635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0" i="0" u="none" strike="noStrike" dirty="0">
                          <a:solidFill>
                            <a:srgbClr val="000000"/>
                          </a:solidFill>
                          <a:effectLst/>
                          <a:latin typeface="Aptos Narrow" panose="020B0004020202020204" pitchFamily="34" charset="0"/>
                        </a:rPr>
                        <a:t>0.98</a:t>
                      </a:r>
                    </a:p>
                  </a:txBody>
                  <a:tcPr marL="6350" marR="6350" marT="635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tc>
                  <a:txBody>
                    <a:bodyPr/>
                    <a:lstStyle/>
                    <a:p>
                      <a:pPr algn="ctr" fontAlgn="b">
                        <a:buNone/>
                      </a:pPr>
                      <a:r>
                        <a:rPr lang="en-US" sz="1100" b="0" i="0" u="none" strike="noStrike" dirty="0">
                          <a:solidFill>
                            <a:srgbClr val="000000"/>
                          </a:solidFill>
                          <a:effectLst/>
                          <a:latin typeface="Aptos Narrow" panose="020B0004020202020204" pitchFamily="34" charset="0"/>
                        </a:rPr>
                        <a:t>1.03</a:t>
                      </a:r>
                    </a:p>
                  </a:txBody>
                  <a:tcPr marL="6350" marR="6350" marT="6350" anchor="b">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solidFill>
                  </a:tcPr>
                </a:tc>
                <a:extLst>
                  <a:ext uri="{0D108BD9-81ED-4DB2-BD59-A6C34878D82A}">
                    <a16:rowId xmlns:a16="http://schemas.microsoft.com/office/drawing/2014/main" val="4247621506"/>
                  </a:ext>
                </a:extLst>
              </a:tr>
            </a:tbl>
          </a:graphicData>
        </a:graphic>
      </p:graphicFrame>
      <p:sp>
        <p:nvSpPr>
          <p:cNvPr id="3" name="Text 0">
            <a:extLst>
              <a:ext uri="{FF2B5EF4-FFF2-40B4-BE49-F238E27FC236}">
                <a16:creationId xmlns:a16="http://schemas.microsoft.com/office/drawing/2014/main" id="{2E404857-2DF3-6E2F-5E09-E1B49190ADDD}"/>
              </a:ext>
            </a:extLst>
          </p:cNvPr>
          <p:cNvSpPr/>
          <p:nvPr/>
        </p:nvSpPr>
        <p:spPr>
          <a:xfrm>
            <a:off x="502919" y="566928"/>
            <a:ext cx="9285025" cy="438912"/>
          </a:xfrm>
          <a:prstGeom prst="rect">
            <a:avLst/>
          </a:prstGeom>
          <a:noFill/>
          <a:ln/>
        </p:spPr>
        <p:txBody>
          <a:bodyPr wrap="square" lIns="0" tIns="0" rIns="0" bIns="0" rtlCol="0" anchor="ctr"/>
          <a:lstStyle/>
          <a:p>
            <a:pPr marL="0" indent="0">
              <a:buNone/>
            </a:pPr>
            <a:r>
              <a:rPr lang="en-US" sz="2800" b="1" dirty="0">
                <a:solidFill>
                  <a:srgbClr val="11263F"/>
                </a:solidFill>
                <a:latin typeface="Aptos Display" pitchFamily="34" charset="0"/>
                <a:ea typeface="Aptos Display" pitchFamily="34" charset="-122"/>
                <a:cs typeface="Aptos Display" pitchFamily="34" charset="-120"/>
              </a:rPr>
              <a:t>Preliminary Results from Original Methods Reproduction:</a:t>
            </a:r>
            <a:endParaRPr lang="en-US" sz="2800" dirty="0"/>
          </a:p>
        </p:txBody>
      </p:sp>
      <p:sp>
        <p:nvSpPr>
          <p:cNvPr id="4" name="TextBox 3">
            <a:extLst>
              <a:ext uri="{FF2B5EF4-FFF2-40B4-BE49-F238E27FC236}">
                <a16:creationId xmlns:a16="http://schemas.microsoft.com/office/drawing/2014/main" id="{5FFA206D-B434-8285-0D4B-3E5B3735E15F}"/>
              </a:ext>
            </a:extLst>
          </p:cNvPr>
          <p:cNvSpPr txBox="1"/>
          <p:nvPr/>
        </p:nvSpPr>
        <p:spPr>
          <a:xfrm>
            <a:off x="998113" y="3921614"/>
            <a:ext cx="9987566" cy="1477328"/>
          </a:xfrm>
          <a:prstGeom prst="rect">
            <a:avLst/>
          </a:prstGeom>
          <a:noFill/>
        </p:spPr>
        <p:txBody>
          <a:bodyPr wrap="square" rtlCol="0">
            <a:spAutoFit/>
          </a:bodyPr>
          <a:lstStyle/>
          <a:p>
            <a:pPr marL="285750" indent="-285750">
              <a:buFont typeface="Arial" panose="020B0604020202020204" pitchFamily="34" charset="0"/>
              <a:buChar char="•"/>
            </a:pPr>
            <a:r>
              <a:rPr lang="en-US" dirty="0"/>
              <a:t>FNSPID, </a:t>
            </a:r>
            <a:r>
              <a:rPr lang="en-US" dirty="0" err="1"/>
              <a:t>ClusterTrace</a:t>
            </a:r>
            <a:r>
              <a:rPr lang="en-US" dirty="0"/>
              <a:t>, and CESNET discrepancies likely reflect differences in preprocessing, data splits, tuning, and environment stability. </a:t>
            </a:r>
          </a:p>
          <a:p>
            <a:pPr marL="285750" indent="-285750">
              <a:buFont typeface="Arial" panose="020B0604020202020204" pitchFamily="34" charset="0"/>
              <a:buChar char="•"/>
            </a:pPr>
            <a:r>
              <a:rPr lang="en-US" dirty="0"/>
              <a:t>MIMIC III embeddings produced and baseline reproduction runs initiated</a:t>
            </a:r>
          </a:p>
          <a:p>
            <a:pPr marL="742950" lvl="1" indent="-285750">
              <a:buFont typeface="Arial" panose="020B0604020202020204" pitchFamily="34" charset="0"/>
              <a:buChar char="•"/>
            </a:pPr>
            <a:r>
              <a:rPr lang="en-US" dirty="0"/>
              <a:t>Computational resources issues, Google </a:t>
            </a:r>
            <a:r>
              <a:rPr lang="en-US" dirty="0" err="1"/>
              <a:t>Colab</a:t>
            </a:r>
            <a:r>
              <a:rPr lang="en-US" dirty="0"/>
              <a:t> reliance</a:t>
            </a:r>
          </a:p>
          <a:p>
            <a:pPr marL="285750" indent="-285750">
              <a:buFont typeface="Arial" panose="020B0604020202020204" pitchFamily="34" charset="0"/>
              <a:buChar char="•"/>
            </a:pPr>
            <a:r>
              <a:rPr lang="en-US" dirty="0"/>
              <a:t>Literature review for project expansion methodology (option C) </a:t>
            </a:r>
          </a:p>
        </p:txBody>
      </p:sp>
      <p:sp>
        <p:nvSpPr>
          <p:cNvPr id="5" name="Text 26">
            <a:extLst>
              <a:ext uri="{FF2B5EF4-FFF2-40B4-BE49-F238E27FC236}">
                <a16:creationId xmlns:a16="http://schemas.microsoft.com/office/drawing/2014/main" id="{B8384BE9-5A86-B719-4F42-8BD3C5F3C042}"/>
              </a:ext>
            </a:extLst>
          </p:cNvPr>
          <p:cNvSpPr/>
          <p:nvPr/>
        </p:nvSpPr>
        <p:spPr>
          <a:xfrm>
            <a:off x="1176863" y="5935440"/>
            <a:ext cx="1005840" cy="128016"/>
          </a:xfrm>
          <a:prstGeom prst="rect">
            <a:avLst/>
          </a:prstGeom>
          <a:noFill/>
          <a:ln/>
        </p:spPr>
        <p:txBody>
          <a:bodyPr wrap="square" lIns="0" tIns="0" rIns="0" bIns="0" rtlCol="0" anchor="ctr"/>
          <a:lstStyle/>
          <a:p>
            <a:pPr marL="0" indent="0">
              <a:buNone/>
            </a:pPr>
            <a:r>
              <a:rPr lang="en-US" sz="1280" b="1" dirty="0">
                <a:solidFill>
                  <a:srgbClr val="5D89B3"/>
                </a:solidFill>
                <a:latin typeface="Aptos" pitchFamily="34" charset="0"/>
                <a:ea typeface="Aptos" pitchFamily="34" charset="-122"/>
                <a:cs typeface="Aptos" pitchFamily="34" charset="-120"/>
              </a:rPr>
              <a:t>Project Milestones</a:t>
            </a:r>
            <a:endParaRPr lang="en-US" sz="1280" dirty="0"/>
          </a:p>
        </p:txBody>
      </p:sp>
      <p:sp>
        <p:nvSpPr>
          <p:cNvPr id="6" name="Shape 27">
            <a:extLst>
              <a:ext uri="{FF2B5EF4-FFF2-40B4-BE49-F238E27FC236}">
                <a16:creationId xmlns:a16="http://schemas.microsoft.com/office/drawing/2014/main" id="{ABAADFFE-CA07-E773-7E01-791B28F70C48}"/>
              </a:ext>
            </a:extLst>
          </p:cNvPr>
          <p:cNvSpPr/>
          <p:nvPr/>
        </p:nvSpPr>
        <p:spPr>
          <a:xfrm>
            <a:off x="2246711" y="6016752"/>
            <a:ext cx="9006840" cy="0"/>
          </a:xfrm>
          <a:prstGeom prst="line">
            <a:avLst/>
          </a:prstGeom>
          <a:noFill/>
          <a:ln w="12700">
            <a:solidFill>
              <a:srgbClr val="B6C2CF"/>
            </a:solidFill>
            <a:prstDash val="solid"/>
          </a:ln>
        </p:spPr>
        <p:txBody>
          <a:bodyPr/>
          <a:lstStyle/>
          <a:p>
            <a:endParaRPr lang="en-US"/>
          </a:p>
        </p:txBody>
      </p:sp>
      <p:sp>
        <p:nvSpPr>
          <p:cNvPr id="7" name="Shape 28">
            <a:extLst>
              <a:ext uri="{FF2B5EF4-FFF2-40B4-BE49-F238E27FC236}">
                <a16:creationId xmlns:a16="http://schemas.microsoft.com/office/drawing/2014/main" id="{CCEEF857-1CD5-C429-D93F-F1F2ED018E5B}"/>
              </a:ext>
            </a:extLst>
          </p:cNvPr>
          <p:cNvSpPr/>
          <p:nvPr/>
        </p:nvSpPr>
        <p:spPr>
          <a:xfrm>
            <a:off x="2475311" y="5879592"/>
            <a:ext cx="274320" cy="274320"/>
          </a:xfrm>
          <a:prstGeom prst="ellipse">
            <a:avLst/>
          </a:prstGeom>
          <a:solidFill>
            <a:srgbClr val="5D89B3"/>
          </a:solidFill>
          <a:ln w="12700">
            <a:solidFill>
              <a:srgbClr val="FFFFFF"/>
            </a:solidFill>
            <a:prstDash val="solid"/>
          </a:ln>
        </p:spPr>
        <p:txBody>
          <a:bodyPr/>
          <a:lstStyle/>
          <a:p>
            <a:endParaRPr lang="en-US"/>
          </a:p>
        </p:txBody>
      </p:sp>
      <p:sp>
        <p:nvSpPr>
          <p:cNvPr id="8" name="Text 29">
            <a:extLst>
              <a:ext uri="{FF2B5EF4-FFF2-40B4-BE49-F238E27FC236}">
                <a16:creationId xmlns:a16="http://schemas.microsoft.com/office/drawing/2014/main" id="{6EC0EED6-B11C-89CB-2379-5009DFB9C2A3}"/>
              </a:ext>
            </a:extLst>
          </p:cNvPr>
          <p:cNvSpPr/>
          <p:nvPr/>
        </p:nvSpPr>
        <p:spPr>
          <a:xfrm>
            <a:off x="2255855" y="5724144"/>
            <a:ext cx="731520" cy="109728"/>
          </a:xfrm>
          <a:prstGeom prst="rect">
            <a:avLst/>
          </a:prstGeom>
          <a:noFill/>
          <a:ln/>
        </p:spPr>
        <p:txBody>
          <a:bodyPr wrap="square" lIns="0" tIns="0" rIns="0" bIns="0" rtlCol="0" anchor="ctr"/>
          <a:lstStyle/>
          <a:p>
            <a:pPr marL="0" indent="0" algn="ctr">
              <a:buNone/>
            </a:pPr>
            <a:r>
              <a:rPr lang="en-US" sz="1140" b="1" dirty="0">
                <a:solidFill>
                  <a:srgbClr val="11263F"/>
                </a:solidFill>
                <a:latin typeface="Aptos" pitchFamily="34" charset="0"/>
                <a:ea typeface="Aptos" pitchFamily="34" charset="-122"/>
                <a:cs typeface="Aptos" pitchFamily="34" charset="-120"/>
              </a:rPr>
              <a:t>Apr 2</a:t>
            </a:r>
            <a:endParaRPr lang="en-US" sz="1140" dirty="0"/>
          </a:p>
        </p:txBody>
      </p:sp>
      <p:sp>
        <p:nvSpPr>
          <p:cNvPr id="9" name="Text 30">
            <a:extLst>
              <a:ext uri="{FF2B5EF4-FFF2-40B4-BE49-F238E27FC236}">
                <a16:creationId xmlns:a16="http://schemas.microsoft.com/office/drawing/2014/main" id="{BA64B0D6-9AEB-0F25-46D5-3FB8736E729E}"/>
              </a:ext>
            </a:extLst>
          </p:cNvPr>
          <p:cNvSpPr/>
          <p:nvPr/>
        </p:nvSpPr>
        <p:spPr>
          <a:xfrm>
            <a:off x="2063831" y="6172200"/>
            <a:ext cx="1133856" cy="100584"/>
          </a:xfrm>
          <a:prstGeom prst="rect">
            <a:avLst/>
          </a:prstGeom>
          <a:noFill/>
          <a:ln/>
        </p:spPr>
        <p:txBody>
          <a:bodyPr wrap="square" lIns="0" tIns="0" rIns="0" bIns="0" rtlCol="0" anchor="ctr"/>
          <a:lstStyle/>
          <a:p>
            <a:pPr marL="0" indent="0" algn="ctr">
              <a:buNone/>
            </a:pPr>
            <a:r>
              <a:rPr lang="en-US" sz="1020" dirty="0">
                <a:solidFill>
                  <a:srgbClr val="11263F"/>
                </a:solidFill>
                <a:latin typeface="Aptos" pitchFamily="34" charset="0"/>
                <a:ea typeface="Aptos" pitchFamily="34" charset="-122"/>
                <a:cs typeface="Aptos" pitchFamily="34" charset="-120"/>
              </a:rPr>
              <a:t>proposal</a:t>
            </a:r>
            <a:endParaRPr lang="en-US" sz="1020" dirty="0"/>
          </a:p>
        </p:txBody>
      </p:sp>
      <p:sp>
        <p:nvSpPr>
          <p:cNvPr id="10" name="Shape 31">
            <a:extLst>
              <a:ext uri="{FF2B5EF4-FFF2-40B4-BE49-F238E27FC236}">
                <a16:creationId xmlns:a16="http://schemas.microsoft.com/office/drawing/2014/main" id="{EA3E0F33-20C6-3EF4-7554-238E20AC2613}"/>
              </a:ext>
            </a:extLst>
          </p:cNvPr>
          <p:cNvSpPr/>
          <p:nvPr/>
        </p:nvSpPr>
        <p:spPr>
          <a:xfrm>
            <a:off x="4453822" y="5861662"/>
            <a:ext cx="274320" cy="274320"/>
          </a:xfrm>
          <a:prstGeom prst="ellipse">
            <a:avLst/>
          </a:prstGeom>
          <a:solidFill>
            <a:srgbClr val="5D89B3"/>
          </a:solidFill>
          <a:ln w="12700">
            <a:solidFill>
              <a:srgbClr val="FFFFFF"/>
            </a:solidFill>
            <a:prstDash val="solid"/>
          </a:ln>
        </p:spPr>
        <p:txBody>
          <a:bodyPr/>
          <a:lstStyle/>
          <a:p>
            <a:endParaRPr lang="en-US"/>
          </a:p>
        </p:txBody>
      </p:sp>
      <p:sp>
        <p:nvSpPr>
          <p:cNvPr id="11" name="Text 32">
            <a:extLst>
              <a:ext uri="{FF2B5EF4-FFF2-40B4-BE49-F238E27FC236}">
                <a16:creationId xmlns:a16="http://schemas.microsoft.com/office/drawing/2014/main" id="{866F00CA-99FC-4A49-506C-B101B8B99613}"/>
              </a:ext>
            </a:extLst>
          </p:cNvPr>
          <p:cNvSpPr/>
          <p:nvPr/>
        </p:nvSpPr>
        <p:spPr>
          <a:xfrm>
            <a:off x="4207471" y="5724144"/>
            <a:ext cx="731520" cy="109728"/>
          </a:xfrm>
          <a:prstGeom prst="rect">
            <a:avLst/>
          </a:prstGeom>
          <a:noFill/>
          <a:ln/>
        </p:spPr>
        <p:txBody>
          <a:bodyPr wrap="square" lIns="0" tIns="0" rIns="0" bIns="0" rtlCol="0" anchor="ctr"/>
          <a:lstStyle/>
          <a:p>
            <a:pPr marL="0" indent="0" algn="ctr">
              <a:buNone/>
            </a:pPr>
            <a:r>
              <a:rPr lang="en-US" sz="1140" b="1" dirty="0">
                <a:solidFill>
                  <a:srgbClr val="11263F"/>
                </a:solidFill>
                <a:latin typeface="Aptos" pitchFamily="34" charset="0"/>
                <a:ea typeface="Aptos" pitchFamily="34" charset="-122"/>
                <a:cs typeface="Aptos" pitchFamily="34" charset="-120"/>
              </a:rPr>
              <a:t>Apr 9</a:t>
            </a:r>
            <a:endParaRPr lang="en-US" sz="1140" dirty="0"/>
          </a:p>
        </p:txBody>
      </p:sp>
      <p:sp>
        <p:nvSpPr>
          <p:cNvPr id="12" name="Text 33">
            <a:extLst>
              <a:ext uri="{FF2B5EF4-FFF2-40B4-BE49-F238E27FC236}">
                <a16:creationId xmlns:a16="http://schemas.microsoft.com/office/drawing/2014/main" id="{23374F7B-319E-C392-A64A-242E73014623}"/>
              </a:ext>
            </a:extLst>
          </p:cNvPr>
          <p:cNvSpPr/>
          <p:nvPr/>
        </p:nvSpPr>
        <p:spPr>
          <a:xfrm>
            <a:off x="4042342" y="6154270"/>
            <a:ext cx="1133856" cy="100584"/>
          </a:xfrm>
          <a:prstGeom prst="rect">
            <a:avLst/>
          </a:prstGeom>
          <a:noFill/>
          <a:ln/>
        </p:spPr>
        <p:txBody>
          <a:bodyPr wrap="square" lIns="0" tIns="0" rIns="0" bIns="0" rtlCol="0" anchor="ctr"/>
          <a:lstStyle/>
          <a:p>
            <a:pPr marL="0" indent="0" algn="ctr">
              <a:buNone/>
            </a:pPr>
            <a:r>
              <a:rPr lang="en-US" sz="1020" dirty="0">
                <a:solidFill>
                  <a:srgbClr val="11263F"/>
                </a:solidFill>
                <a:latin typeface="Aptos" pitchFamily="34" charset="0"/>
                <a:ea typeface="Aptos" pitchFamily="34" charset="-122"/>
                <a:cs typeface="Aptos" pitchFamily="34" charset="-120"/>
              </a:rPr>
              <a:t>first repro</a:t>
            </a:r>
            <a:endParaRPr lang="en-US" sz="1020" dirty="0"/>
          </a:p>
        </p:txBody>
      </p:sp>
      <p:sp>
        <p:nvSpPr>
          <p:cNvPr id="13" name="Shape 34">
            <a:extLst>
              <a:ext uri="{FF2B5EF4-FFF2-40B4-BE49-F238E27FC236}">
                <a16:creationId xmlns:a16="http://schemas.microsoft.com/office/drawing/2014/main" id="{72889AD4-D2D0-C94D-1EC3-61175B2DAC83}"/>
              </a:ext>
            </a:extLst>
          </p:cNvPr>
          <p:cNvSpPr/>
          <p:nvPr/>
        </p:nvSpPr>
        <p:spPr>
          <a:xfrm>
            <a:off x="8207347" y="5879592"/>
            <a:ext cx="274320" cy="274320"/>
          </a:xfrm>
          <a:prstGeom prst="ellipse">
            <a:avLst/>
          </a:prstGeom>
          <a:solidFill>
            <a:srgbClr val="5D89B3"/>
          </a:solidFill>
          <a:ln w="12700">
            <a:solidFill>
              <a:srgbClr val="FFFFFF"/>
            </a:solidFill>
            <a:prstDash val="solid"/>
          </a:ln>
        </p:spPr>
        <p:txBody>
          <a:bodyPr/>
          <a:lstStyle/>
          <a:p>
            <a:endParaRPr lang="en-US"/>
          </a:p>
        </p:txBody>
      </p:sp>
      <p:sp>
        <p:nvSpPr>
          <p:cNvPr id="14" name="Text 35">
            <a:extLst>
              <a:ext uri="{FF2B5EF4-FFF2-40B4-BE49-F238E27FC236}">
                <a16:creationId xmlns:a16="http://schemas.microsoft.com/office/drawing/2014/main" id="{02519C4B-F901-F6F0-8791-9B62020306DD}"/>
              </a:ext>
            </a:extLst>
          </p:cNvPr>
          <p:cNvSpPr/>
          <p:nvPr/>
        </p:nvSpPr>
        <p:spPr>
          <a:xfrm>
            <a:off x="7987891" y="5742074"/>
            <a:ext cx="731520" cy="109728"/>
          </a:xfrm>
          <a:prstGeom prst="rect">
            <a:avLst/>
          </a:prstGeom>
          <a:noFill/>
          <a:ln/>
        </p:spPr>
        <p:txBody>
          <a:bodyPr wrap="square" lIns="0" tIns="0" rIns="0" bIns="0" rtlCol="0" anchor="ctr"/>
          <a:lstStyle/>
          <a:p>
            <a:pPr marL="0" indent="0" algn="ctr">
              <a:buNone/>
            </a:pPr>
            <a:r>
              <a:rPr lang="en-US" sz="1140" b="1" dirty="0">
                <a:solidFill>
                  <a:srgbClr val="11263F"/>
                </a:solidFill>
                <a:latin typeface="Aptos" pitchFamily="34" charset="0"/>
                <a:ea typeface="Aptos" pitchFamily="34" charset="-122"/>
                <a:cs typeface="Aptos" pitchFamily="34" charset="-120"/>
              </a:rPr>
              <a:t>Apr 23 </a:t>
            </a:r>
            <a:endParaRPr lang="en-US" sz="1140" dirty="0"/>
          </a:p>
        </p:txBody>
      </p:sp>
      <p:sp>
        <p:nvSpPr>
          <p:cNvPr id="15" name="Text 36">
            <a:extLst>
              <a:ext uri="{FF2B5EF4-FFF2-40B4-BE49-F238E27FC236}">
                <a16:creationId xmlns:a16="http://schemas.microsoft.com/office/drawing/2014/main" id="{1709AEDD-7A9B-D922-9F61-0192B8F5A439}"/>
              </a:ext>
            </a:extLst>
          </p:cNvPr>
          <p:cNvSpPr/>
          <p:nvPr/>
        </p:nvSpPr>
        <p:spPr>
          <a:xfrm>
            <a:off x="7795867" y="6172200"/>
            <a:ext cx="1133856" cy="100584"/>
          </a:xfrm>
          <a:prstGeom prst="rect">
            <a:avLst/>
          </a:prstGeom>
          <a:noFill/>
          <a:ln/>
        </p:spPr>
        <p:txBody>
          <a:bodyPr wrap="square" lIns="0" tIns="0" rIns="0" bIns="0" rtlCol="0" anchor="ctr"/>
          <a:lstStyle/>
          <a:p>
            <a:pPr marL="0" indent="0" algn="ctr">
              <a:buNone/>
            </a:pPr>
            <a:r>
              <a:rPr lang="en-US" sz="1020" dirty="0">
                <a:solidFill>
                  <a:srgbClr val="11263F"/>
                </a:solidFill>
                <a:latin typeface="Aptos" pitchFamily="34" charset="0"/>
                <a:ea typeface="Aptos" pitchFamily="34" charset="-122"/>
                <a:cs typeface="Aptos" pitchFamily="34" charset="-120"/>
              </a:rPr>
              <a:t>present results</a:t>
            </a:r>
            <a:endParaRPr lang="en-US" sz="1020" dirty="0"/>
          </a:p>
        </p:txBody>
      </p:sp>
      <p:sp>
        <p:nvSpPr>
          <p:cNvPr id="16" name="Shape 37">
            <a:extLst>
              <a:ext uri="{FF2B5EF4-FFF2-40B4-BE49-F238E27FC236}">
                <a16:creationId xmlns:a16="http://schemas.microsoft.com/office/drawing/2014/main" id="{6F17BB3A-A34F-C5CB-AA43-E820A8B2B771}"/>
              </a:ext>
            </a:extLst>
          </p:cNvPr>
          <p:cNvSpPr/>
          <p:nvPr/>
        </p:nvSpPr>
        <p:spPr>
          <a:xfrm>
            <a:off x="10293431" y="5879592"/>
            <a:ext cx="274320" cy="274320"/>
          </a:xfrm>
          <a:prstGeom prst="ellipse">
            <a:avLst/>
          </a:prstGeom>
          <a:solidFill>
            <a:srgbClr val="C39A57"/>
          </a:solidFill>
          <a:ln w="12700">
            <a:solidFill>
              <a:srgbClr val="FFFFFF"/>
            </a:solidFill>
            <a:prstDash val="solid"/>
          </a:ln>
        </p:spPr>
        <p:txBody>
          <a:bodyPr/>
          <a:lstStyle/>
          <a:p>
            <a:endParaRPr lang="en-US"/>
          </a:p>
        </p:txBody>
      </p:sp>
      <p:sp>
        <p:nvSpPr>
          <p:cNvPr id="17" name="Text 38">
            <a:extLst>
              <a:ext uri="{FF2B5EF4-FFF2-40B4-BE49-F238E27FC236}">
                <a16:creationId xmlns:a16="http://schemas.microsoft.com/office/drawing/2014/main" id="{9EE60D76-5B90-F1DD-9F98-E20C07E4B415}"/>
              </a:ext>
            </a:extLst>
          </p:cNvPr>
          <p:cNvSpPr/>
          <p:nvPr/>
        </p:nvSpPr>
        <p:spPr>
          <a:xfrm>
            <a:off x="10073975" y="5724144"/>
            <a:ext cx="731520" cy="109728"/>
          </a:xfrm>
          <a:prstGeom prst="rect">
            <a:avLst/>
          </a:prstGeom>
          <a:noFill/>
          <a:ln/>
        </p:spPr>
        <p:txBody>
          <a:bodyPr wrap="square" lIns="0" tIns="0" rIns="0" bIns="0" rtlCol="0" anchor="ctr"/>
          <a:lstStyle/>
          <a:p>
            <a:pPr marL="0" indent="0" algn="ctr">
              <a:buNone/>
            </a:pPr>
            <a:r>
              <a:rPr lang="en-US" sz="1140" b="1" dirty="0">
                <a:solidFill>
                  <a:srgbClr val="11263F"/>
                </a:solidFill>
                <a:latin typeface="Aptos" pitchFamily="34" charset="0"/>
                <a:ea typeface="Aptos" pitchFamily="34" charset="-122"/>
                <a:cs typeface="Aptos" pitchFamily="34" charset="-120"/>
              </a:rPr>
              <a:t>May 4</a:t>
            </a:r>
            <a:endParaRPr lang="en-US" sz="1140" dirty="0"/>
          </a:p>
        </p:txBody>
      </p:sp>
      <p:sp>
        <p:nvSpPr>
          <p:cNvPr id="18" name="Text 39">
            <a:extLst>
              <a:ext uri="{FF2B5EF4-FFF2-40B4-BE49-F238E27FC236}">
                <a16:creationId xmlns:a16="http://schemas.microsoft.com/office/drawing/2014/main" id="{D0C2BAB6-A9DB-139C-0F24-E413F88EC186}"/>
              </a:ext>
            </a:extLst>
          </p:cNvPr>
          <p:cNvSpPr/>
          <p:nvPr/>
        </p:nvSpPr>
        <p:spPr>
          <a:xfrm>
            <a:off x="9881951" y="6172200"/>
            <a:ext cx="1133856" cy="100584"/>
          </a:xfrm>
          <a:prstGeom prst="rect">
            <a:avLst/>
          </a:prstGeom>
          <a:noFill/>
          <a:ln/>
        </p:spPr>
        <p:txBody>
          <a:bodyPr wrap="square" lIns="0" tIns="0" rIns="0" bIns="0" rtlCol="0" anchor="ctr"/>
          <a:lstStyle/>
          <a:p>
            <a:pPr marL="0" indent="0" algn="ctr">
              <a:buNone/>
            </a:pPr>
            <a:r>
              <a:rPr lang="en-US" sz="1020" dirty="0">
                <a:solidFill>
                  <a:srgbClr val="11263F"/>
                </a:solidFill>
                <a:latin typeface="Aptos" pitchFamily="34" charset="0"/>
                <a:ea typeface="Aptos" pitchFamily="34" charset="-122"/>
                <a:cs typeface="Aptos" pitchFamily="34" charset="-120"/>
              </a:rPr>
              <a:t>final report + code</a:t>
            </a:r>
            <a:endParaRPr lang="en-US" sz="1020" dirty="0"/>
          </a:p>
        </p:txBody>
      </p:sp>
      <p:sp>
        <p:nvSpPr>
          <p:cNvPr id="19" name="Shape 31">
            <a:extLst>
              <a:ext uri="{FF2B5EF4-FFF2-40B4-BE49-F238E27FC236}">
                <a16:creationId xmlns:a16="http://schemas.microsoft.com/office/drawing/2014/main" id="{00C2FD1C-51C2-87CA-9D7C-35900CBB2D17}"/>
              </a:ext>
            </a:extLst>
          </p:cNvPr>
          <p:cNvSpPr/>
          <p:nvPr/>
        </p:nvSpPr>
        <p:spPr>
          <a:xfrm>
            <a:off x="6184014" y="5843731"/>
            <a:ext cx="274320" cy="274320"/>
          </a:xfrm>
          <a:prstGeom prst="ellipse">
            <a:avLst/>
          </a:prstGeom>
          <a:solidFill>
            <a:srgbClr val="5D89B3"/>
          </a:solidFill>
          <a:ln w="12700">
            <a:solidFill>
              <a:srgbClr val="FFFFFF"/>
            </a:solidFill>
            <a:prstDash val="solid"/>
          </a:ln>
        </p:spPr>
        <p:txBody>
          <a:bodyPr/>
          <a:lstStyle/>
          <a:p>
            <a:endParaRPr lang="en-US"/>
          </a:p>
        </p:txBody>
      </p:sp>
      <p:sp>
        <p:nvSpPr>
          <p:cNvPr id="20" name="Text 32">
            <a:extLst>
              <a:ext uri="{FF2B5EF4-FFF2-40B4-BE49-F238E27FC236}">
                <a16:creationId xmlns:a16="http://schemas.microsoft.com/office/drawing/2014/main" id="{35F58FE8-343A-909E-7FD0-0250D97CF2D0}"/>
              </a:ext>
            </a:extLst>
          </p:cNvPr>
          <p:cNvSpPr/>
          <p:nvPr/>
        </p:nvSpPr>
        <p:spPr>
          <a:xfrm>
            <a:off x="5937663" y="5724143"/>
            <a:ext cx="731520" cy="109728"/>
          </a:xfrm>
          <a:prstGeom prst="rect">
            <a:avLst/>
          </a:prstGeom>
          <a:noFill/>
          <a:ln/>
        </p:spPr>
        <p:txBody>
          <a:bodyPr wrap="square" lIns="0" tIns="0" rIns="0" bIns="0" rtlCol="0" anchor="ctr"/>
          <a:lstStyle/>
          <a:p>
            <a:pPr marL="0" indent="0" algn="ctr">
              <a:buNone/>
            </a:pPr>
            <a:r>
              <a:rPr lang="en-US" sz="1140" b="1" dirty="0">
                <a:solidFill>
                  <a:srgbClr val="11263F"/>
                </a:solidFill>
                <a:latin typeface="Aptos" pitchFamily="34" charset="0"/>
                <a:ea typeface="Aptos" pitchFamily="34" charset="-122"/>
                <a:cs typeface="Aptos" pitchFamily="34" charset="-120"/>
              </a:rPr>
              <a:t>Apr 16</a:t>
            </a:r>
            <a:endParaRPr lang="en-US" sz="1140" dirty="0"/>
          </a:p>
        </p:txBody>
      </p:sp>
      <p:sp>
        <p:nvSpPr>
          <p:cNvPr id="21" name="Text 33">
            <a:extLst>
              <a:ext uri="{FF2B5EF4-FFF2-40B4-BE49-F238E27FC236}">
                <a16:creationId xmlns:a16="http://schemas.microsoft.com/office/drawing/2014/main" id="{9607A3E5-CF9A-F051-B4F2-0B1B8BC23CAC}"/>
              </a:ext>
            </a:extLst>
          </p:cNvPr>
          <p:cNvSpPr/>
          <p:nvPr/>
        </p:nvSpPr>
        <p:spPr>
          <a:xfrm>
            <a:off x="5772534" y="6136339"/>
            <a:ext cx="1133856" cy="100584"/>
          </a:xfrm>
          <a:prstGeom prst="rect">
            <a:avLst/>
          </a:prstGeom>
          <a:noFill/>
          <a:ln/>
        </p:spPr>
        <p:txBody>
          <a:bodyPr wrap="square" lIns="0" tIns="0" rIns="0" bIns="0" rtlCol="0" anchor="ctr"/>
          <a:lstStyle/>
          <a:p>
            <a:pPr marL="0" indent="0" algn="ctr">
              <a:buNone/>
            </a:pPr>
            <a:r>
              <a:rPr lang="en-US" sz="1020" dirty="0">
                <a:solidFill>
                  <a:srgbClr val="11263F"/>
                </a:solidFill>
                <a:latin typeface="Aptos" pitchFamily="34" charset="0"/>
                <a:ea typeface="Aptos" pitchFamily="34" charset="-122"/>
                <a:cs typeface="Aptos" pitchFamily="34" charset="-120"/>
              </a:rPr>
              <a:t>results progress</a:t>
            </a:r>
            <a:endParaRPr lang="en-US" sz="1020" dirty="0"/>
          </a:p>
        </p:txBody>
      </p:sp>
    </p:spTree>
    <p:extLst>
      <p:ext uri="{BB962C8B-B14F-4D97-AF65-F5344CB8AC3E}">
        <p14:creationId xmlns:p14="http://schemas.microsoft.com/office/powerpoint/2010/main" val="11881185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3bcfc9f0-4e11-443a-bbfd-24857bbb4ee2"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DC98DC2606335A4E9AA6ABC9A026BDB7" ma:contentTypeVersion="13" ma:contentTypeDescription="Create a new document." ma:contentTypeScope="" ma:versionID="5dfb385d20bf024663c9f81bdc20a151">
  <xsd:schema xmlns:xsd="http://www.w3.org/2001/XMLSchema" xmlns:xs="http://www.w3.org/2001/XMLSchema" xmlns:p="http://schemas.microsoft.com/office/2006/metadata/properties" xmlns:ns3="3bcfc9f0-4e11-443a-bbfd-24857bbb4ee2" xmlns:ns4="e2f0b8c8-5a0b-4ae9-b6d0-e730ed024312" targetNamespace="http://schemas.microsoft.com/office/2006/metadata/properties" ma:root="true" ma:fieldsID="8145896a80839fad57cd9e7041843e5d" ns3:_="" ns4:_="">
    <xsd:import namespace="3bcfc9f0-4e11-443a-bbfd-24857bbb4ee2"/>
    <xsd:import namespace="e2f0b8c8-5a0b-4ae9-b6d0-e730ed024312"/>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_activity" minOccurs="0"/>
                <xsd:element ref="ns3:MediaServiceDateTaken" minOccurs="0"/>
                <xsd:element ref="ns3:MediaServiceSearchProperties" minOccurs="0"/>
                <xsd:element ref="ns3:MediaServiceObjectDetectorVersions" minOccurs="0"/>
                <xsd:element ref="ns3:MediaServiceSystem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bcfc9f0-4e11-443a-bbfd-24857bbb4ee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_activity" ma:index="13" nillable="true" ma:displayName="_activity" ma:hidden="true" ma:internalName="_activity">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ServiceSystemTags" ma:index="17" nillable="true" ma:displayName="MediaServiceSystemTags" ma:hidden="true" ma:internalName="MediaServiceSystemTags" ma:readOnly="true">
      <xsd:simpleType>
        <xsd:restriction base="dms:Note"/>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2f0b8c8-5a0b-4ae9-b6d0-e730ed024312"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9A84A72-A9DC-4853-8970-55EA7B811067}">
  <ds:schemaRefs>
    <ds:schemaRef ds:uri="http://purl.org/dc/terms/"/>
    <ds:schemaRef ds:uri="http://purl.org/dc/dcmitype/"/>
    <ds:schemaRef ds:uri="http://schemas.microsoft.com/office/2006/documentManagement/types"/>
    <ds:schemaRef ds:uri="e2f0b8c8-5a0b-4ae9-b6d0-e730ed024312"/>
    <ds:schemaRef ds:uri="http://schemas.microsoft.com/office/2006/metadata/properties"/>
    <ds:schemaRef ds:uri="http://www.w3.org/XML/1998/namespace"/>
    <ds:schemaRef ds:uri="http://schemas.microsoft.com/office/infopath/2007/PartnerControls"/>
    <ds:schemaRef ds:uri="http://schemas.openxmlformats.org/package/2006/metadata/core-properties"/>
    <ds:schemaRef ds:uri="3bcfc9f0-4e11-443a-bbfd-24857bbb4ee2"/>
    <ds:schemaRef ds:uri="http://purl.org/dc/elements/1.1/"/>
  </ds:schemaRefs>
</ds:datastoreItem>
</file>

<file path=customXml/itemProps2.xml><?xml version="1.0" encoding="utf-8"?>
<ds:datastoreItem xmlns:ds="http://schemas.openxmlformats.org/officeDocument/2006/customXml" ds:itemID="{800D7711-5F26-4A91-A722-9272C0755CBC}">
  <ds:schemaRefs>
    <ds:schemaRef ds:uri="http://schemas.microsoft.com/sharepoint/v3/contenttype/forms"/>
  </ds:schemaRefs>
</ds:datastoreItem>
</file>

<file path=customXml/itemProps3.xml><?xml version="1.0" encoding="utf-8"?>
<ds:datastoreItem xmlns:ds="http://schemas.openxmlformats.org/officeDocument/2006/customXml" ds:itemID="{9C8FD875-8B2E-42B8-973C-1939CBF418E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bcfc9f0-4e11-443a-bbfd-24857bbb4ee2"/>
    <ds:schemaRef ds:uri="e2f0b8c8-5a0b-4ae9-b6d0-e730ed02431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3455</TotalTime>
  <Words>1058</Words>
  <Application>Microsoft Office PowerPoint</Application>
  <PresentationFormat>Widescreen</PresentationFormat>
  <Paragraphs>111</Paragraphs>
  <Slides>3</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Aptos</vt:lpstr>
      <vt:lpstr>Aptos Display</vt:lpstr>
      <vt:lpstr>Aptos Narrow</vt:lpstr>
      <vt:lpstr>Arial</vt:lpstr>
      <vt:lpstr>Office Theme</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TIME-IMM Project Proposal</dc:title>
  <dc:subject>STAT 8240 project proposal</dc:subject>
  <dc:creator>OpenAI</dc:creator>
  <cp:lastModifiedBy>Brandi Jones</cp:lastModifiedBy>
  <cp:revision>11</cp:revision>
  <dcterms:created xsi:type="dcterms:W3CDTF">2026-03-26T16:34:57Z</dcterms:created>
  <dcterms:modified xsi:type="dcterms:W3CDTF">2026-04-02T00:54:41Z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0x010100DC98DC2606335A4E9AA6ABC9A026BDB7</vt:lpwstr>
  </property>
</Properties>
</file>