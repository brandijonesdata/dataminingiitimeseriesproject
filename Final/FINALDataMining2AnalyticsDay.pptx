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43891200" cy="32918400"/>
  <p:notesSz cx="9296400" cy="7010400"/>
  <p:defaultTextStyle>
    <a:defPPr>
      <a:defRPr lang="en-US"/>
    </a:defPPr>
    <a:lvl1pPr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anda Nicole Ferguson" initials="ANF" lastIdx="8" clrIdx="0"/>
  <p:cmAuthor id="2" name="Abigail King" initials="AK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624"/>
    <a:srgbClr val="440053"/>
    <a:srgbClr val="481D6F"/>
    <a:srgbClr val="443681"/>
    <a:srgbClr val="FDE724"/>
    <a:srgbClr val="46317E"/>
    <a:srgbClr val="460E61"/>
    <a:srgbClr val="440154"/>
    <a:srgbClr val="D2D2F4"/>
    <a:srgbClr val="DAE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014C9-8DAC-43CD-8320-8D494BDA7276}" v="18" dt="2026-04-16T15:16:48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7890" autoAdjust="0"/>
    <p:restoredTop sz="94660" autoAdjust="0"/>
  </p:normalViewPr>
  <p:slideViewPr>
    <p:cSldViewPr>
      <p:cViewPr>
        <p:scale>
          <a:sx n="30" d="100"/>
          <a:sy n="30" d="100"/>
        </p:scale>
        <p:origin x="516" y="-812"/>
      </p:cViewPr>
      <p:guideLst>
        <p:guide orient="horz" pos="3888"/>
        <p:guide pos="138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74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fld id="{51BFBB92-9EAF-4A98-AC69-D6A49C72F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3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7488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7487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r">
              <a:defRPr sz="300"/>
            </a:lvl1pPr>
          </a:lstStyle>
          <a:p>
            <a:pPr>
              <a:defRPr/>
            </a:pPr>
            <a:fld id="{5CC69237-968C-4809-BBBD-9304D521757D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0062" tIns="10031" rIns="20062" bIns="100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28988"/>
            <a:ext cx="7435850" cy="3155950"/>
          </a:xfrm>
          <a:prstGeom prst="rect">
            <a:avLst/>
          </a:prstGeom>
        </p:spPr>
        <p:txBody>
          <a:bodyPr vert="horz" lIns="20062" tIns="10031" rIns="20062" bIns="100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7488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7487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r">
              <a:defRPr sz="300"/>
            </a:lvl1pPr>
          </a:lstStyle>
          <a:p>
            <a:pPr>
              <a:defRPr/>
            </a:pPr>
            <a:fld id="{B4C89677-0636-4F7D-8E45-6997A3D618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350F54E-324E-4420-A58C-1451A26E1E91}" type="slidenum">
              <a:rPr lang="en-US" sz="300" smtClean="0"/>
              <a:pPr/>
              <a:t>1</a:t>
            </a:fld>
            <a:endParaRPr lang="en-US" sz="300"/>
          </a:p>
        </p:txBody>
      </p:sp>
    </p:spTree>
    <p:extLst>
      <p:ext uri="{BB962C8B-B14F-4D97-AF65-F5344CB8AC3E}">
        <p14:creationId xmlns:p14="http://schemas.microsoft.com/office/powerpoint/2010/main" val="356588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9746-3E67-4984-B2FE-1AF1BA163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4A587-5FAF-42E6-BE45-17C25F99A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8EA6C-4A5C-449A-8168-A4D2F9419E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9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0888" y="9510713"/>
            <a:ext cx="18578512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9510713"/>
            <a:ext cx="18578513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4A3CC-8336-4978-A66C-FB77D18E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8A453-5BDB-4A82-A97B-AE3AC9DF9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625C-FC05-44C9-AD1B-5BE1C448AF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A2B76-BBD0-4131-9F1A-F9B85BA33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8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0D8EB-A991-429A-9F15-1E5050711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3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D1F85-FC8E-4B63-A86C-FC56C2C36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46AF8-960E-4160-8BB5-686F276ED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3750" y="2924175"/>
            <a:ext cx="9326563" cy="26336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0888" y="2924175"/>
            <a:ext cx="27830462" cy="26336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89B9D-719E-42D8-8020-085B69862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0888" y="2924175"/>
            <a:ext cx="373094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0888" y="9510713"/>
            <a:ext cx="37309425" cy="1975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0888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7113" y="29994225"/>
            <a:ext cx="138969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6313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fld id="{3288BF25-8EA1-41D0-B1F3-352926037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2pPr>
      <a:lvl3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3pPr>
      <a:lvl4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4pPr>
      <a:lvl5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5pPr>
      <a:lvl6pPr marL="4572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6pPr>
      <a:lvl7pPr marL="9144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7pPr>
      <a:lvl8pPr marL="13716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8pPr>
      <a:lvl9pPr marL="18288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9pPr>
    </p:titleStyle>
    <p:bodyStyle>
      <a:lvl1pPr marL="1647825" indent="-1647825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0013" algn="l" defTabSz="4387850" rtl="0" eaLnBrk="0" fontAlgn="base" hangingPunct="0">
        <a:spcBef>
          <a:spcPct val="20000"/>
        </a:spcBef>
        <a:spcAft>
          <a:spcPct val="0"/>
        </a:spcAft>
        <a:buChar char="–"/>
        <a:defRPr sz="13300">
          <a:solidFill>
            <a:schemeClr val="tx1"/>
          </a:solidFill>
          <a:latin typeface="+mn-lt"/>
        </a:defRPr>
      </a:lvl2pPr>
      <a:lvl3pPr marL="5486400" indent="-1098550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1600">
          <a:solidFill>
            <a:schemeClr val="tx1"/>
          </a:solidFill>
          <a:latin typeface="+mn-lt"/>
        </a:defRPr>
      </a:lvl3pPr>
      <a:lvl4pPr marL="7678738" indent="-1093788" algn="l" defTabSz="438785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4pPr>
      <a:lvl5pPr marL="98758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5pPr>
      <a:lvl6pPr marL="103330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6pPr>
      <a:lvl7pPr marL="107902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7pPr>
      <a:lvl8pPr marL="112474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8pPr>
      <a:lvl9pPr marL="117046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package" Target="../embeddings/Microsoft_Excel_Worksheet.xlsx"/><Relationship Id="rId18" Type="http://schemas.openxmlformats.org/officeDocument/2006/relationships/image" Target="../media/image12.emf"/><Relationship Id="rId3" Type="http://schemas.openxmlformats.org/officeDocument/2006/relationships/image" Target="../media/image1.png"/><Relationship Id="rId7" Type="http://schemas.openxmlformats.org/officeDocument/2006/relationships/hyperlink" Target="https://doi.org/10.48550/arXiv.2506.10412" TargetMode="External"/><Relationship Id="rId12" Type="http://schemas.openxmlformats.org/officeDocument/2006/relationships/image" Target="../media/image9.png"/><Relationship Id="rId17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5" Type="http://schemas.openxmlformats.org/officeDocument/2006/relationships/package" Target="../embeddings/Microsoft_Excel_Worksheet1.xlsx"/><Relationship Id="rId10" Type="http://schemas.openxmlformats.org/officeDocument/2006/relationships/image" Target="../media/image7.png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Picture 1054">
            <a:extLst>
              <a:ext uri="{FF2B5EF4-FFF2-40B4-BE49-F238E27FC236}">
                <a16:creationId xmlns:a16="http://schemas.microsoft.com/office/drawing/2014/main" id="{0FC830C9-55BF-101B-B5C9-50AC702C8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58"/>
          <a:stretch>
            <a:fillRect/>
          </a:stretch>
        </p:blipFill>
        <p:spPr>
          <a:xfrm>
            <a:off x="35509200" y="16709918"/>
            <a:ext cx="8458200" cy="6184205"/>
          </a:xfrm>
          <a:prstGeom prst="rect">
            <a:avLst/>
          </a:prstGeom>
        </p:spPr>
      </p:pic>
      <p:pic>
        <p:nvPicPr>
          <p:cNvPr id="1038" name="Picture 1037">
            <a:extLst>
              <a:ext uri="{FF2B5EF4-FFF2-40B4-BE49-F238E27FC236}">
                <a16:creationId xmlns:a16="http://schemas.microsoft.com/office/drawing/2014/main" id="{7BF0BFEF-98A2-A865-2881-DDD30DD03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3" r="1970"/>
          <a:stretch>
            <a:fillRect/>
          </a:stretch>
        </p:blipFill>
        <p:spPr>
          <a:xfrm>
            <a:off x="26136600" y="14554200"/>
            <a:ext cx="9419437" cy="7056690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15854DD9-82CF-1D2F-0AC4-8D859A0A59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85"/>
          <a:stretch>
            <a:fillRect/>
          </a:stretch>
        </p:blipFill>
        <p:spPr>
          <a:xfrm>
            <a:off x="10591800" y="13186277"/>
            <a:ext cx="15697200" cy="10742586"/>
          </a:xfrm>
          <a:prstGeom prst="rect">
            <a:avLst/>
          </a:prstGeom>
        </p:spPr>
      </p:pic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65EEAB4-6CD0-14A2-5CBE-35E60361F4E2}"/>
              </a:ext>
            </a:extLst>
          </p:cNvPr>
          <p:cNvSpPr/>
          <p:nvPr/>
        </p:nvSpPr>
        <p:spPr bwMode="auto">
          <a:xfrm>
            <a:off x="41067789" y="30156390"/>
            <a:ext cx="2699398" cy="2614647"/>
          </a:xfrm>
          <a:prstGeom prst="rect">
            <a:avLst/>
          </a:prstGeom>
          <a:solidFill>
            <a:srgbClr val="D2D2F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4BF08D49-3DE0-089F-0243-6C746B00AF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94" t="5258" r="21758"/>
          <a:stretch>
            <a:fillRect/>
          </a:stretch>
        </p:blipFill>
        <p:spPr>
          <a:xfrm>
            <a:off x="11766229" y="3803984"/>
            <a:ext cx="14503382" cy="8548289"/>
          </a:xfrm>
          <a:prstGeom prst="rect">
            <a:avLst/>
          </a:prstGeom>
        </p:spPr>
      </p:pic>
      <p:sp>
        <p:nvSpPr>
          <p:cNvPr id="1033" name="Rectangle 51"/>
          <p:cNvSpPr>
            <a:spLocks noChangeArrowheads="1"/>
          </p:cNvSpPr>
          <p:nvPr/>
        </p:nvSpPr>
        <p:spPr bwMode="auto">
          <a:xfrm>
            <a:off x="2147483647" y="2147483647"/>
            <a:ext cx="214748268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/>
          <a:p>
            <a:pPr algn="l" defTabSz="2259013">
              <a:lnSpc>
                <a:spcPct val="100000"/>
              </a:lnSpc>
              <a:spcBef>
                <a:spcPct val="0"/>
              </a:spcBef>
            </a:pPr>
            <a:r>
              <a:rPr lang="en-US" sz="7700" b="0"/>
              <a:t> </a:t>
            </a:r>
            <a:endParaRPr lang="en-US" sz="5900" b="0"/>
          </a:p>
        </p:txBody>
      </p:sp>
      <p:sp>
        <p:nvSpPr>
          <p:cNvPr id="1036" name="Text Box 89"/>
          <p:cNvSpPr txBox="1">
            <a:spLocks noChangeArrowheads="1"/>
          </p:cNvSpPr>
          <p:nvPr/>
        </p:nvSpPr>
        <p:spPr bwMode="auto">
          <a:xfrm>
            <a:off x="18619788" y="1143000"/>
            <a:ext cx="63182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/>
          </a:p>
        </p:txBody>
      </p:sp>
      <p:sp>
        <p:nvSpPr>
          <p:cNvPr id="1037" name="Rectangle 90"/>
          <p:cNvSpPr>
            <a:spLocks noChangeArrowheads="1"/>
          </p:cNvSpPr>
          <p:nvPr/>
        </p:nvSpPr>
        <p:spPr bwMode="auto">
          <a:xfrm>
            <a:off x="9525000" y="275511"/>
            <a:ext cx="25151556" cy="30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 anchor="ctr">
            <a:noAutofit/>
          </a:bodyPr>
          <a:lstStyle/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7200" dirty="0"/>
              <a:t>Recency-Aware Multimodal Fusion for Irregular Time Series: Extending IMM-TSF from Forecasting to Classification</a:t>
            </a:r>
          </a:p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4200" b="0" dirty="0"/>
              <a:t>Chad Bishop, Nnenna Ifeanyi, &amp; Brandi Jones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41794" y="14448848"/>
            <a:ext cx="10828610" cy="7564297"/>
            <a:chOff x="448990" y="7667878"/>
            <a:chExt cx="10828610" cy="7427616"/>
          </a:xfrm>
        </p:grpSpPr>
        <p:sp>
          <p:nvSpPr>
            <p:cNvPr id="1031" name="Text Box 15"/>
            <p:cNvSpPr txBox="1">
              <a:spLocks noChangeArrowheads="1"/>
            </p:cNvSpPr>
            <p:nvPr/>
          </p:nvSpPr>
          <p:spPr bwMode="auto">
            <a:xfrm>
              <a:off x="448990" y="7667878"/>
              <a:ext cx="10818004" cy="9372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dirty="0"/>
                <a:t>METHODS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7200" y="14439193"/>
              <a:ext cx="10820400" cy="656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endParaRPr lang="en-US" sz="3400" b="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62036" y="3482439"/>
            <a:ext cx="43617184" cy="26235561"/>
            <a:chOff x="-77373" y="-4755513"/>
            <a:chExt cx="43617184" cy="26235561"/>
          </a:xfrm>
        </p:grpSpPr>
        <p:sp>
          <p:nvSpPr>
            <p:cNvPr id="48" name="TextBox 47"/>
            <p:cNvSpPr txBox="1"/>
            <p:nvPr/>
          </p:nvSpPr>
          <p:spPr>
            <a:xfrm>
              <a:off x="457200" y="4479085"/>
              <a:ext cx="10744200" cy="583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marR="0" indent="-45720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3200" b="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-77373" y="-4755513"/>
              <a:ext cx="43617184" cy="26235561"/>
              <a:chOff x="-77373" y="-4755513"/>
              <a:chExt cx="43617184" cy="26235561"/>
            </a:xfrm>
          </p:grpSpPr>
          <p:sp>
            <p:nvSpPr>
              <p:cNvPr id="1030" name="Text Box 12"/>
              <p:cNvSpPr txBox="1">
                <a:spLocks noChangeArrowheads="1"/>
              </p:cNvSpPr>
              <p:nvPr/>
            </p:nvSpPr>
            <p:spPr bwMode="auto">
              <a:xfrm>
                <a:off x="-77373" y="-4755513"/>
                <a:ext cx="10818004" cy="98472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INTRODUCTION</a:t>
                </a:r>
              </a:p>
            </p:txBody>
          </p:sp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11201401" y="20525587"/>
                <a:ext cx="32338410" cy="9544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CONCLUSION 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44C654-F435-DA61-FAC3-E94861F4191A}"/>
              </a:ext>
            </a:extLst>
          </p:cNvPr>
          <p:cNvSpPr txBox="1"/>
          <p:nvPr/>
        </p:nvSpPr>
        <p:spPr>
          <a:xfrm>
            <a:off x="140777" y="4437222"/>
            <a:ext cx="11136823" cy="1064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Real-world time series data</a:t>
            </a:r>
            <a:r>
              <a:rPr lang="en-US" sz="3600" b="0" dirty="0"/>
              <a:t>, like that found in large medical and financial market settings, are irregular, asynchronous, multimodal, and missing-rich.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/>
              <a:t>Textual data can provide context not present in structured, tabular time series features.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IMM-TSF</a:t>
            </a:r>
            <a:r>
              <a:rPr lang="en-US" sz="3600" b="0" dirty="0"/>
              <a:t> provides an irregular, multimodal time series framework benchmark for forecasting under these conditions, combining irregular numeric streams with temporally aligned text.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The purpose of this study was: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dirty="0"/>
              <a:t>First</a:t>
            </a:r>
            <a:r>
              <a:rPr lang="en-US" sz="3600" b="0" dirty="0"/>
              <a:t>, to develop a recency-aware gated fusion (</a:t>
            </a:r>
            <a:r>
              <a:rPr lang="en-US" sz="3600" dirty="0"/>
              <a:t>RA-</a:t>
            </a:r>
            <a:r>
              <a:rPr lang="en-US" sz="3600" dirty="0" err="1"/>
              <a:t>GRAdd</a:t>
            </a:r>
            <a:r>
              <a:rPr lang="en-US" sz="3600" b="0" dirty="0"/>
              <a:t>) variant of the IMM-TSF framework.</a:t>
            </a:r>
          </a:p>
          <a:p>
            <a:pPr marL="1485900" lvl="2" indent="-571500" algn="l">
              <a:lnSpc>
                <a:spcPct val="100000"/>
              </a:lnSpc>
              <a:spcBef>
                <a:spcPts val="0"/>
              </a:spcBef>
              <a:buSzPct val="50000"/>
              <a:buFont typeface="Courier New" panose="02070309020205020404" pitchFamily="49" charset="0"/>
              <a:buChar char="o"/>
            </a:pPr>
            <a:r>
              <a:rPr lang="en-US" sz="3600" b="0" dirty="0"/>
              <a:t>Weighting asynchronous text relative to irregular time-series observations</a:t>
            </a:r>
          </a:p>
          <a:p>
            <a:pPr marL="1485900" lvl="2" indent="-571500" algn="l">
              <a:lnSpc>
                <a:spcPct val="100000"/>
              </a:lnSpc>
              <a:spcBef>
                <a:spcPts val="0"/>
              </a:spcBef>
              <a:buSzPct val="50000"/>
              <a:buFont typeface="Courier New" panose="02070309020205020404" pitchFamily="49" charset="0"/>
              <a:buChar char="o"/>
            </a:pPr>
            <a:r>
              <a:rPr lang="en-US" sz="3600" b="0" dirty="0"/>
              <a:t>Taking text recency, density in time, alignment, and missingness into account prior to inclusion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dirty="0"/>
              <a:t>Second</a:t>
            </a:r>
            <a:r>
              <a:rPr lang="en-US" sz="3600" b="0" dirty="0"/>
              <a:t>, our study </a:t>
            </a:r>
            <a:r>
              <a:rPr lang="en-US" sz="3600" dirty="0"/>
              <a:t>altered</a:t>
            </a:r>
            <a:r>
              <a:rPr lang="en-US" sz="3600" b="0" dirty="0"/>
              <a:t> the original </a:t>
            </a:r>
            <a:r>
              <a:rPr lang="en-US" sz="3600" dirty="0"/>
              <a:t>forecasting</a:t>
            </a:r>
            <a:r>
              <a:rPr lang="en-US" sz="3600" b="0" dirty="0"/>
              <a:t> framework for downstream </a:t>
            </a:r>
            <a:r>
              <a:rPr lang="en-US" sz="3600" dirty="0"/>
              <a:t>binary classification</a:t>
            </a:r>
            <a:r>
              <a:rPr lang="en-US" sz="3600" b="0" dirty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800" b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B644A-DD8F-B051-6120-F2F8C6AAABB5}"/>
              </a:ext>
            </a:extLst>
          </p:cNvPr>
          <p:cNvSpPr txBox="1"/>
          <p:nvPr/>
        </p:nvSpPr>
        <p:spPr>
          <a:xfrm>
            <a:off x="26380904" y="12337979"/>
            <a:ext cx="98478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Table 1.</a:t>
            </a:r>
            <a:r>
              <a:rPr lang="en-US" sz="3200" b="0" i="1" dirty="0"/>
              <a:t> Model performance comparisons for reproduction  results from Chang et al., 2025 IMM-TSF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AC880-BB2F-B6F1-3220-9EA4EC31B021}"/>
              </a:ext>
            </a:extLst>
          </p:cNvPr>
          <p:cNvSpPr txBox="1"/>
          <p:nvPr/>
        </p:nvSpPr>
        <p:spPr>
          <a:xfrm>
            <a:off x="124604" y="15403309"/>
            <a:ext cx="10968514" cy="1837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Motivating Paper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Chang, C. et al. (2025). Time-IMM: A dataset and benchmark for irregular multimodal multivariate time series. arXiv. </a:t>
            </a:r>
            <a:r>
              <a:rPr lang="en-US" sz="36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https://doi.org/10.48550/arXiv.2506.10412</a:t>
            </a:r>
            <a:r>
              <a:rPr lang="en-US" sz="36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Benchmark reproduced for subset of datasets from the IMM-TSF study across types of irregularity </a:t>
            </a:r>
            <a:r>
              <a:rPr lang="en-US" sz="3600" dirty="0">
                <a:latin typeface="+mn-lt"/>
              </a:rPr>
              <a:t>(</a:t>
            </a:r>
            <a:r>
              <a:rPr lang="en-US" sz="3600" i="1" dirty="0">
                <a:latin typeface="+mn-lt"/>
              </a:rPr>
              <a:t>Table 1</a:t>
            </a:r>
            <a:r>
              <a:rPr lang="en-US" sz="3600" dirty="0">
                <a:latin typeface="+mn-lt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RA-</a:t>
            </a:r>
            <a:r>
              <a:rPr lang="en-US" sz="3600" dirty="0" err="1">
                <a:latin typeface="+mn-lt"/>
              </a:rPr>
              <a:t>GRAdd</a:t>
            </a:r>
            <a:endParaRPr lang="en-US" sz="3600" dirty="0">
              <a:latin typeface="+mn-lt"/>
            </a:endParaRP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Decomposes multimodal weighting into interpretable irregularity components to make text inclusions smarter </a:t>
            </a:r>
            <a:r>
              <a:rPr lang="en-US" sz="3600" dirty="0">
                <a:latin typeface="+mn-lt"/>
              </a:rPr>
              <a:t>(</a:t>
            </a:r>
            <a:r>
              <a:rPr lang="en-US" sz="3600" i="1" dirty="0">
                <a:latin typeface="+mn-lt"/>
              </a:rPr>
              <a:t>Figure 1</a:t>
            </a:r>
            <a:r>
              <a:rPr lang="en-US" sz="3600" dirty="0">
                <a:latin typeface="+mn-lt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Datasets for Classification Experiments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Healthcare application: </a:t>
            </a:r>
            <a:r>
              <a:rPr lang="en-US" sz="3600" dirty="0">
                <a:latin typeface="+mn-lt"/>
              </a:rPr>
              <a:t>MIMIC-IV,</a:t>
            </a:r>
            <a:r>
              <a:rPr lang="en-US" sz="3600" b="0" dirty="0">
                <a:latin typeface="+mn-lt"/>
              </a:rPr>
              <a:t> a large deidentified database containing ICU and ER data with structured measurements and clinical text notes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Financial market application: </a:t>
            </a:r>
            <a:r>
              <a:rPr lang="en-US" sz="3600" dirty="0">
                <a:latin typeface="+mn-lt"/>
              </a:rPr>
              <a:t>FNSPID</a:t>
            </a:r>
            <a:r>
              <a:rPr lang="en-US" sz="3600" b="0" dirty="0">
                <a:latin typeface="+mn-lt"/>
              </a:rPr>
              <a:t>, a large-scale dataset integrating stock prices and time-aligned news for S&amp;P 500 companies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n=1108 mortality sample,  n=678 financial sample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Modeling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Fused latent state replaced forecasting head with a binary classification head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 dirty="0">
                <a:latin typeface="+mn-lt"/>
              </a:rPr>
              <a:t>LLM: GPT-2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 dirty="0">
                <a:latin typeface="+mn-lt"/>
              </a:rPr>
              <a:t>Architecture: t-Patch GNN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 dirty="0">
                <a:latin typeface="+mn-lt"/>
              </a:rPr>
              <a:t>Binary cross-entropy loss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IMM-TSF extensions evaluated for baseline and RA-</a:t>
            </a:r>
            <a:r>
              <a:rPr lang="en-US" sz="3600" b="0" dirty="0" err="1">
                <a:latin typeface="+mn-lt"/>
              </a:rPr>
              <a:t>GRAdd</a:t>
            </a:r>
            <a:r>
              <a:rPr lang="en-US" sz="3600" b="0" dirty="0">
                <a:latin typeface="+mn-lt"/>
              </a:rPr>
              <a:t> ablation forecasting and classification 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Performance was evaluated using held-out validation and test sets (60%/20%/20%)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Permutation importance estimates evaluated the importance of a given feature by shuffling and measuring drop in predictive performance </a:t>
            </a:r>
            <a:r>
              <a:rPr lang="en-US" sz="3600" dirty="0">
                <a:latin typeface="+mn-lt"/>
              </a:rPr>
              <a:t>(</a:t>
            </a:r>
            <a:r>
              <a:rPr lang="en-US" sz="3600" i="1" dirty="0">
                <a:latin typeface="+mn-lt"/>
              </a:rPr>
              <a:t>Figure 3</a:t>
            </a:r>
            <a:r>
              <a:rPr lang="en-US" sz="3600" dirty="0">
                <a:latin typeface="+mn-lt"/>
              </a:rPr>
              <a:t>)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3600" b="0" dirty="0">
              <a:latin typeface="+mn-lt"/>
            </a:endParaRPr>
          </a:p>
        </p:txBody>
      </p:sp>
      <p:sp>
        <p:nvSpPr>
          <p:cNvPr id="27" name="Text Box 18">
            <a:extLst>
              <a:ext uri="{FF2B5EF4-FFF2-40B4-BE49-F238E27FC236}">
                <a16:creationId xmlns:a16="http://schemas.microsoft.com/office/drawing/2014/main" id="{6643A470-696F-5025-512E-0E9916ADD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0846" y="30242517"/>
            <a:ext cx="2699398" cy="5481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25903" tIns="112951" rIns="225903" bIns="112951" anchor="ctr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600" dirty="0"/>
              <a:t>REFERENCES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5055EC-E5F2-FFB9-A56D-AFF08F0E457D}"/>
              </a:ext>
            </a:extLst>
          </p:cNvPr>
          <p:cNvSpPr txBox="1"/>
          <p:nvPr/>
        </p:nvSpPr>
        <p:spPr>
          <a:xfrm>
            <a:off x="11600290" y="29718000"/>
            <a:ext cx="29319110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IMM-TSF successfully extended from irregular multimodal forecasting to downstream binary classification in both healthcare and financial settings.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RA-</a:t>
            </a:r>
            <a:r>
              <a:rPr kumimoji="0" lang="en-US" sz="3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GRAdd</a:t>
            </a: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runs demonstrated that incorporating text reliability signals before fusion improved asynchronous clinical and financial note usage, while maintaining strong predictive performance and interpretability </a:t>
            </a:r>
            <a:r>
              <a:rPr kumimoji="0" lang="en-US" sz="37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(Table 2-3, Figure 2-5)</a:t>
            </a:r>
            <a:r>
              <a:rPr kumimoji="0" lang="en-US" sz="37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.</a:t>
            </a: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These results suggest that recency-aware gating in multimodal fusion is a promising strategy for extracting clinically and operationally meaningful signals from irregular, asynchronous, and missing-rich time series tabular and textual data, which can be used in both forecasting and classification</a:t>
            </a:r>
            <a:r>
              <a:rPr lang="en-US" sz="3700" b="0" dirty="0">
                <a:solidFill>
                  <a:srgbClr val="000000"/>
                </a:solidFill>
              </a:rPr>
              <a:t> tasks.</a:t>
            </a:r>
            <a:endParaRPr lang="en-US" sz="3700" b="0" dirty="0"/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3600" b="0" dirty="0"/>
          </a:p>
          <a:p>
            <a:pPr marL="274320" lvl="0" indent="-274320" algn="l">
              <a:lnSpc>
                <a:spcPts val="39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3586EF-8D57-7369-E994-8E37BCFBAE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66400" y="609600"/>
            <a:ext cx="1905000" cy="1905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6C9D62D-1F99-5305-5218-C2C32FD626F8}"/>
              </a:ext>
            </a:extLst>
          </p:cNvPr>
          <p:cNvSpPr txBox="1"/>
          <p:nvPr/>
        </p:nvSpPr>
        <p:spPr>
          <a:xfrm>
            <a:off x="36240415" y="2798209"/>
            <a:ext cx="9098585" cy="34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1" dirty="0"/>
              <a:t>Nnenna                  Brandi                       Chad</a:t>
            </a:r>
            <a:endParaRPr lang="en-US" sz="2400" b="0" i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F1EC393-49C5-B1B9-A714-CCC0A14A91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69215" y="457200"/>
            <a:ext cx="2267491" cy="2254459"/>
          </a:xfrm>
          <a:prstGeom prst="rect">
            <a:avLst/>
          </a:prstGeom>
        </p:spPr>
      </p:pic>
      <p:pic>
        <p:nvPicPr>
          <p:cNvPr id="33" name="Picture 32" descr="A qr code with black dots&#10;&#10;AI-generated content may be incorrect.">
            <a:extLst>
              <a:ext uri="{FF2B5EF4-FFF2-40B4-BE49-F238E27FC236}">
                <a16:creationId xmlns:a16="http://schemas.microsoft.com/office/drawing/2014/main" id="{CDF36F5C-D4D9-1009-8A1F-B5A30936C4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5200" y="30794724"/>
            <a:ext cx="1723848" cy="172384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C1007F3-97CB-F2C2-EC65-2D2CCA4537C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2200" y="479343"/>
            <a:ext cx="2267491" cy="2263857"/>
          </a:xfrm>
          <a:prstGeom prst="rect">
            <a:avLst/>
          </a:prstGeom>
        </p:spPr>
      </p:pic>
      <p:pic>
        <p:nvPicPr>
          <p:cNvPr id="52" name="Picture 26">
            <a:extLst>
              <a:ext uri="{FF2B5EF4-FFF2-40B4-BE49-F238E27FC236}">
                <a16:creationId xmlns:a16="http://schemas.microsoft.com/office/drawing/2014/main" id="{13DDD5B5-B541-87E0-8C06-55E78E9F15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002" y="385594"/>
            <a:ext cx="8402052" cy="2677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E353EA3-51E5-6FF1-D400-26137C4BB242}"/>
              </a:ext>
            </a:extLst>
          </p:cNvPr>
          <p:cNvSpPr txBox="1"/>
          <p:nvPr/>
        </p:nvSpPr>
        <p:spPr>
          <a:xfrm>
            <a:off x="18621560" y="3429000"/>
            <a:ext cx="7086600" cy="1355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/>
              <a:t>Advisor: Dr. Bin Luo, PhD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936E6B-5B7B-9D4F-A9B5-81D6C7B84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772888"/>
              </p:ext>
            </p:extLst>
          </p:nvPr>
        </p:nvGraphicFramePr>
        <p:xfrm>
          <a:off x="26954457" y="4164494"/>
          <a:ext cx="8534400" cy="8096506"/>
        </p:xfrm>
        <a:graphic>
          <a:graphicData uri="http://schemas.openxmlformats.org/drawingml/2006/table">
            <a:tbl>
              <a:tblPr/>
              <a:tblGrid>
                <a:gridCol w="1639315">
                  <a:extLst>
                    <a:ext uri="{9D8B030D-6E8A-4147-A177-3AD203B41FA5}">
                      <a16:colId xmlns:a16="http://schemas.microsoft.com/office/drawing/2014/main" val="347509223"/>
                    </a:ext>
                  </a:extLst>
                </a:gridCol>
                <a:gridCol w="2856485">
                  <a:extLst>
                    <a:ext uri="{9D8B030D-6E8A-4147-A177-3AD203B41FA5}">
                      <a16:colId xmlns:a16="http://schemas.microsoft.com/office/drawing/2014/main" val="3980417026"/>
                    </a:ext>
                  </a:extLst>
                </a:gridCol>
                <a:gridCol w="1235126">
                  <a:extLst>
                    <a:ext uri="{9D8B030D-6E8A-4147-A177-3AD203B41FA5}">
                      <a16:colId xmlns:a16="http://schemas.microsoft.com/office/drawing/2014/main" val="3985619348"/>
                    </a:ext>
                  </a:extLst>
                </a:gridCol>
                <a:gridCol w="920791">
                  <a:extLst>
                    <a:ext uri="{9D8B030D-6E8A-4147-A177-3AD203B41FA5}">
                      <a16:colId xmlns:a16="http://schemas.microsoft.com/office/drawing/2014/main" val="1945792390"/>
                    </a:ext>
                  </a:extLst>
                </a:gridCol>
                <a:gridCol w="1173832">
                  <a:extLst>
                    <a:ext uri="{9D8B030D-6E8A-4147-A177-3AD203B41FA5}">
                      <a16:colId xmlns:a16="http://schemas.microsoft.com/office/drawing/2014/main" val="403839876"/>
                    </a:ext>
                  </a:extLst>
                </a:gridCol>
                <a:gridCol w="708851">
                  <a:extLst>
                    <a:ext uri="{9D8B030D-6E8A-4147-A177-3AD203B41FA5}">
                      <a16:colId xmlns:a16="http://schemas.microsoft.com/office/drawing/2014/main" val="2738948510"/>
                    </a:ext>
                  </a:extLst>
                </a:gridCol>
              </a:tblGrid>
              <a:tr h="101189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Model Reproduction Results 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Multimodal MSE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Unimodal MSE 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56834"/>
                  </a:ext>
                </a:extLst>
              </a:tr>
              <a:tr h="8418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Dataset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Irregularity Type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Paper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Ours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Paper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Ours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92460"/>
                  </a:ext>
                </a:extLst>
              </a:tr>
              <a:tr h="13526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GDELT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Trigger-Based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2400" dirty="0">
                          <a:latin typeface="+mn-lt"/>
                        </a:rPr>
                        <a:t>Event-Based Logging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21678"/>
                  </a:ext>
                </a:extLst>
              </a:tr>
              <a:tr h="11858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FNSPID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Artifact-Based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 dirty="0">
                          <a:latin typeface="+mn-lt"/>
                        </a:rPr>
                        <a:t>Operational Window Sampling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99887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CLUSTER TRACE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Artifact-Based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 dirty="0">
                          <a:latin typeface="+mn-lt"/>
                        </a:rPr>
                        <a:t>Resource-Aware Collection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0.98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0.87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850367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CESNET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Constraint-Based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 dirty="0">
                          <a:latin typeface="+mn-lt"/>
                        </a:rPr>
                        <a:t>Scheduling Jitter / Delay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0.98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621506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MIMIC-IV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Trigger-Based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(Event-Based Logging)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0.77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0.74</a:t>
                      </a: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0.73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0.74</a:t>
                      </a: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131304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3AE0460-7E51-E56E-7695-7C736199221E}"/>
              </a:ext>
            </a:extLst>
          </p:cNvPr>
          <p:cNvSpPr/>
          <p:nvPr/>
        </p:nvSpPr>
        <p:spPr bwMode="auto">
          <a:xfrm>
            <a:off x="29718000" y="6779205"/>
            <a:ext cx="3249887" cy="16789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D2C6AD-40D7-80CD-C8D0-E769C510D1B1}"/>
              </a:ext>
            </a:extLst>
          </p:cNvPr>
          <p:cNvSpPr txBox="1"/>
          <p:nvPr/>
        </p:nvSpPr>
        <p:spPr>
          <a:xfrm>
            <a:off x="30975770" y="28422600"/>
            <a:ext cx="12229630" cy="4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Table 3.</a:t>
            </a:r>
            <a:r>
              <a:rPr lang="en-US" sz="3200" b="0" i="1" dirty="0"/>
              <a:t> Final Mortality Classification Model Results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C2A5558-9469-70E8-6A94-358436A69765}"/>
              </a:ext>
            </a:extLst>
          </p:cNvPr>
          <p:cNvSpPr txBox="1"/>
          <p:nvPr/>
        </p:nvSpPr>
        <p:spPr>
          <a:xfrm>
            <a:off x="13068770" y="28334960"/>
            <a:ext cx="12229630" cy="4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Table 2.</a:t>
            </a:r>
            <a:r>
              <a:rPr lang="en-US" sz="3200" b="0" i="1" dirty="0"/>
              <a:t> Final Financial Classification Model Results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A57311DA-13F9-D0C6-B9A4-7714A5111289}"/>
              </a:ext>
            </a:extLst>
          </p:cNvPr>
          <p:cNvSpPr txBox="1"/>
          <p:nvPr/>
        </p:nvSpPr>
        <p:spPr>
          <a:xfrm>
            <a:off x="13248914" y="23677328"/>
            <a:ext cx="128876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3.</a:t>
            </a:r>
            <a:r>
              <a:rPr lang="en-US" sz="3200" b="0" i="1" dirty="0"/>
              <a:t> Permutation Feature Importance from Mortality Classification with Text Embedding Interpretations</a:t>
            </a:r>
            <a:endParaRPr lang="en-US" sz="2400" b="0" i="1" dirty="0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6FF5BD3B-7CA2-1298-BF8A-405642C8788B}"/>
              </a:ext>
            </a:extLst>
          </p:cNvPr>
          <p:cNvSpPr txBox="1"/>
          <p:nvPr/>
        </p:nvSpPr>
        <p:spPr>
          <a:xfrm>
            <a:off x="36181458" y="14660940"/>
            <a:ext cx="7709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2.</a:t>
            </a:r>
            <a:r>
              <a:rPr lang="en-US" sz="3200" b="0" i="1" dirty="0"/>
              <a:t> Confusion Matrices for         	Classification of 1.Mortality 	       and 2.Financial Return Binary Direction</a:t>
            </a:r>
            <a:endParaRPr lang="en-US" sz="2400" b="0" i="1" dirty="0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7339D244-D446-2782-B8B6-E65175417F5D}"/>
              </a:ext>
            </a:extLst>
          </p:cNvPr>
          <p:cNvSpPr txBox="1"/>
          <p:nvPr/>
        </p:nvSpPr>
        <p:spPr>
          <a:xfrm>
            <a:off x="36155563" y="22773382"/>
            <a:ext cx="7521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5.</a:t>
            </a:r>
            <a:r>
              <a:rPr lang="en-US" sz="3200" b="0" i="1" dirty="0"/>
              <a:t> Best Model: Financial RA-</a:t>
            </a:r>
            <a:r>
              <a:rPr lang="en-US" sz="3200" b="0" i="1" dirty="0" err="1"/>
              <a:t>GRAdd</a:t>
            </a:r>
            <a:r>
              <a:rPr lang="en-US" sz="3200" b="0" i="1" dirty="0"/>
              <a:t> Classification AUROC</a:t>
            </a:r>
            <a:endParaRPr lang="en-US" sz="2400" b="0" i="1" dirty="0"/>
          </a:p>
        </p:txBody>
      </p:sp>
      <p:graphicFrame>
        <p:nvGraphicFramePr>
          <p:cNvPr id="1065" name="Object 1064">
            <a:extLst>
              <a:ext uri="{FF2B5EF4-FFF2-40B4-BE49-F238E27FC236}">
                <a16:creationId xmlns:a16="http://schemas.microsoft.com/office/drawing/2014/main" id="{7C27F4C8-4890-5A4C-AE3C-392FF6120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820305"/>
              </p:ext>
            </p:extLst>
          </p:nvPr>
        </p:nvGraphicFramePr>
        <p:xfrm>
          <a:off x="18651785" y="15993526"/>
          <a:ext cx="7484815" cy="716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0261600" imgH="10693518" progId="Excel.Sheet.12">
                  <p:embed/>
                </p:oleObj>
              </mc:Choice>
              <mc:Fallback>
                <p:oleObj name="Worksheet" r:id="rId13" imgW="10261600" imgH="10693518" progId="Excel.Sheet.12">
                  <p:embed/>
                  <p:pic>
                    <p:nvPicPr>
                      <p:cNvPr id="1065" name="Object 1064">
                        <a:extLst>
                          <a:ext uri="{FF2B5EF4-FFF2-40B4-BE49-F238E27FC236}">
                            <a16:creationId xmlns:a16="http://schemas.microsoft.com/office/drawing/2014/main" id="{7C27F4C8-4890-5A4C-AE3C-392FF61200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651785" y="15993526"/>
                        <a:ext cx="7484815" cy="7162800"/>
                      </a:xfrm>
                      <a:prstGeom prst="rect">
                        <a:avLst/>
                      </a:prstGeom>
                      <a:ln w="31750">
                        <a:solidFill>
                          <a:srgbClr val="DAE9F8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TextBox 1039">
            <a:extLst>
              <a:ext uri="{FF2B5EF4-FFF2-40B4-BE49-F238E27FC236}">
                <a16:creationId xmlns:a16="http://schemas.microsoft.com/office/drawing/2014/main" id="{CEE991C5-A915-1AAD-613F-F920BC34249B}"/>
              </a:ext>
            </a:extLst>
          </p:cNvPr>
          <p:cNvSpPr txBox="1"/>
          <p:nvPr/>
        </p:nvSpPr>
        <p:spPr>
          <a:xfrm>
            <a:off x="27518833" y="21534539"/>
            <a:ext cx="80372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4.</a:t>
            </a:r>
            <a:r>
              <a:rPr lang="en-US" sz="3200" b="0" i="1" dirty="0"/>
              <a:t> Best Model: Mortality RA-</a:t>
            </a:r>
            <a:r>
              <a:rPr lang="en-US" sz="3200" b="0" i="1" dirty="0" err="1"/>
              <a:t>GRAdd</a:t>
            </a:r>
            <a:r>
              <a:rPr lang="en-US" sz="3200" b="0" i="1" dirty="0"/>
              <a:t> Classification AUROC</a:t>
            </a:r>
            <a:endParaRPr lang="en-US" sz="3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400" b="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86C1F-9518-A0ED-F44B-F16A1B8F31A8}"/>
              </a:ext>
            </a:extLst>
          </p:cNvPr>
          <p:cNvSpPr txBox="1"/>
          <p:nvPr/>
        </p:nvSpPr>
        <p:spPr>
          <a:xfrm>
            <a:off x="11655696" y="12115800"/>
            <a:ext cx="14331410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1</a:t>
            </a:r>
            <a:r>
              <a:rPr lang="en-US" sz="3200" b="0" i="1" dirty="0"/>
              <a:t>. Irregular time series model framework with RA-</a:t>
            </a:r>
            <a:r>
              <a:rPr lang="en-US" sz="3200" b="0" i="1" dirty="0" err="1"/>
              <a:t>GRAdd</a:t>
            </a:r>
            <a:r>
              <a:rPr lang="en-US" sz="3200" b="0" i="1" dirty="0"/>
              <a:t> and Classifier Extensions of Chang et al., 2025 IMM-TSF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DA54F2F-0CFB-814E-C1F2-B7F50D0E2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62987"/>
              </p:ext>
            </p:extLst>
          </p:nvPr>
        </p:nvGraphicFramePr>
        <p:xfrm>
          <a:off x="28044441" y="24342671"/>
          <a:ext cx="15618159" cy="3927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9067918" imgH="2279620" progId="Excel.Sheet.12">
                  <p:embed/>
                </p:oleObj>
              </mc:Choice>
              <mc:Fallback>
                <p:oleObj name="Worksheet" r:id="rId15" imgW="9067918" imgH="227962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DA54F2F-0CFB-814E-C1F2-B7F50D0E2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044441" y="24342671"/>
                        <a:ext cx="15618159" cy="3927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846FC77-BF70-D791-76E3-B1969C697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476990"/>
              </p:ext>
            </p:extLst>
          </p:nvPr>
        </p:nvGraphicFramePr>
        <p:xfrm>
          <a:off x="11800367" y="24762867"/>
          <a:ext cx="16012633" cy="3510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3233518" imgH="2724298" progId="Excel.Sheet.12">
                  <p:embed/>
                </p:oleObj>
              </mc:Choice>
              <mc:Fallback>
                <p:oleObj name="Worksheet" r:id="rId17" imgW="13233518" imgH="2724298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846FC77-BF70-D791-76E3-B1969C697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800367" y="24762867"/>
                        <a:ext cx="16012633" cy="3510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CE33461E-8FF4-E58D-145A-834027322D1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52864" y="3552995"/>
            <a:ext cx="6370872" cy="11229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bcfc9f0-4e11-443a-bbfd-24857bbb4e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98DC2606335A4E9AA6ABC9A026BDB7" ma:contentTypeVersion="13" ma:contentTypeDescription="Create a new document." ma:contentTypeScope="" ma:versionID="a8d52ce5e6b69da79db1ec4f98cf0d4e">
  <xsd:schema xmlns:xsd="http://www.w3.org/2001/XMLSchema" xmlns:xs="http://www.w3.org/2001/XMLSchema" xmlns:p="http://schemas.microsoft.com/office/2006/metadata/properties" xmlns:ns3="3bcfc9f0-4e11-443a-bbfd-24857bbb4ee2" xmlns:ns4="e2f0b8c8-5a0b-4ae9-b6d0-e730ed024312" targetNamespace="http://schemas.microsoft.com/office/2006/metadata/properties" ma:root="true" ma:fieldsID="832b74e7aa182fdda20e537cb9e18e6c" ns3:_="" ns4:_="">
    <xsd:import namespace="3bcfc9f0-4e11-443a-bbfd-24857bbb4ee2"/>
    <xsd:import namespace="e2f0b8c8-5a0b-4ae9-b6d0-e730ed0243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cfc9f0-4e11-443a-bbfd-24857bbb4e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0b8c8-5a0b-4ae9-b6d0-e730ed02431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7B7C08-3F81-4C42-A477-1D889769CE2C}">
  <ds:schemaRefs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3bcfc9f0-4e11-443a-bbfd-24857bbb4ee2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e2f0b8c8-5a0b-4ae9-b6d0-e730ed024312"/>
  </ds:schemaRefs>
</ds:datastoreItem>
</file>

<file path=customXml/itemProps2.xml><?xml version="1.0" encoding="utf-8"?>
<ds:datastoreItem xmlns:ds="http://schemas.openxmlformats.org/officeDocument/2006/customXml" ds:itemID="{D5F29616-F05C-42B8-B1A8-60D74B3F85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6D1D63-9588-4770-AB3B-963120A446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cfc9f0-4e11-443a-bbfd-24857bbb4ee2"/>
    <ds:schemaRef ds:uri="e2f0b8c8-5a0b-4ae9-b6d0-e730ed0243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24576</TotalTime>
  <Words>640</Words>
  <Application>Microsoft Office PowerPoint</Application>
  <PresentationFormat>Custom</PresentationFormat>
  <Paragraphs>90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Times New Roman</vt:lpstr>
      <vt:lpstr>Default Design</vt:lpstr>
      <vt:lpstr>Worksheet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Stephen J. Kinzey, Ph.D.</dc:creator>
  <cp:lastModifiedBy>Brandi Jones</cp:lastModifiedBy>
  <cp:revision>389</cp:revision>
  <dcterms:created xsi:type="dcterms:W3CDTF">1999-06-15T14:29:13Z</dcterms:created>
  <dcterms:modified xsi:type="dcterms:W3CDTF">2026-04-16T15:31:42Z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0x010100DC98DC2606335A4E9AA6ABC9A026BDB7</vt:lpwstr>
  </property>
</Properties>
</file>