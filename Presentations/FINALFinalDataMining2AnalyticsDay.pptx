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43891200" cy="32918400"/>
  <p:notesSz cx="9296400" cy="7010400"/>
  <p:defaultTextStyle>
    <a:defPPr>
      <a:defRPr lang="en-US"/>
    </a:defPPr>
    <a:lvl1pPr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lnSpc>
        <a:spcPct val="65000"/>
      </a:lnSpc>
      <a:spcBef>
        <a:spcPct val="50000"/>
      </a:spcBef>
      <a:spcAft>
        <a:spcPct val="0"/>
      </a:spcAft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5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387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anda Nicole Ferguson" initials="ANF" lastIdx="8" clrIdx="0"/>
  <p:cmAuthor id="2" name="Abigail King" initials="AK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737"/>
    <a:srgbClr val="4E4708"/>
    <a:srgbClr val="FDE724"/>
    <a:srgbClr val="FDE624"/>
    <a:srgbClr val="440053"/>
    <a:srgbClr val="481D6F"/>
    <a:srgbClr val="443681"/>
    <a:srgbClr val="46317E"/>
    <a:srgbClr val="460E61"/>
    <a:srgbClr val="4401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9714FD-2D0F-D877-77C6-1BC57A6AA0A3}" v="45" dt="2026-04-18T00:59:02.815"/>
    <p1510:client id="{78ECE216-EA49-7A64-3F55-DB6008784669}" v="39" dt="2026-04-19T00:12:17.904"/>
    <p1510:client id="{FBB565BC-7566-0F68-4685-97A1A0737AF3}" v="22" dt="2026-04-19T23:58:19.7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888"/>
        <p:guide pos="1387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i Jones" userId="29e8d744-5b69-4bf9-ae48-fdb0e323734d" providerId="ADAL" clId="{81D1B3C7-73BC-40C8-AF83-E89614EB77A7}"/>
    <pc:docChg chg="modSld">
      <pc:chgData name="Brandi Jones" userId="29e8d744-5b69-4bf9-ae48-fdb0e323734d" providerId="ADAL" clId="{81D1B3C7-73BC-40C8-AF83-E89614EB77A7}" dt="2026-04-18T12:38:01.733" v="9" actId="208"/>
      <pc:docMkLst>
        <pc:docMk/>
      </pc:docMkLst>
      <pc:sldChg chg="modSp mod">
        <pc:chgData name="Brandi Jones" userId="29e8d744-5b69-4bf9-ae48-fdb0e323734d" providerId="ADAL" clId="{81D1B3C7-73BC-40C8-AF83-E89614EB77A7}" dt="2026-04-18T12:38:01.733" v="9" actId="208"/>
        <pc:sldMkLst>
          <pc:docMk/>
          <pc:sldMk cId="0" sldId="256"/>
        </pc:sldMkLst>
        <pc:cxnChg chg="mod">
          <ac:chgData name="Brandi Jones" userId="29e8d744-5b69-4bf9-ae48-fdb0e323734d" providerId="ADAL" clId="{81D1B3C7-73BC-40C8-AF83-E89614EB77A7}" dt="2026-04-18T12:38:01.733" v="9" actId="208"/>
          <ac:cxnSpMkLst>
            <pc:docMk/>
            <pc:sldMk cId="0" sldId="256"/>
            <ac:cxnSpMk id="31" creationId="{B8A04B83-362B-0E57-A2D9-DB9E20B75FD8}"/>
          </ac:cxnSpMkLst>
        </pc:cxnChg>
      </pc:sldChg>
    </pc:docChg>
  </pc:docChgLst>
  <pc:docChgLst>
    <pc:chgData name="Chad Bishop" userId="S::cbisho37@students.kennesaw.edu::210f6328-ccc5-4ff0-807f-6a1c23b221f2" providerId="AD" clId="Web-{0F9714FD-2D0F-D877-77C6-1BC57A6AA0A3}"/>
    <pc:docChg chg="modSld">
      <pc:chgData name="Chad Bishop" userId="S::cbisho37@students.kennesaw.edu::210f6328-ccc5-4ff0-807f-6a1c23b221f2" providerId="AD" clId="Web-{0F9714FD-2D0F-D877-77C6-1BC57A6AA0A3}" dt="2026-04-18T00:59:02.815" v="25" actId="1076"/>
      <pc:docMkLst>
        <pc:docMk/>
      </pc:docMkLst>
      <pc:sldChg chg="modSp">
        <pc:chgData name="Chad Bishop" userId="S::cbisho37@students.kennesaw.edu::210f6328-ccc5-4ff0-807f-6a1c23b221f2" providerId="AD" clId="Web-{0F9714FD-2D0F-D877-77C6-1BC57A6AA0A3}" dt="2026-04-18T00:59:02.815" v="25" actId="1076"/>
        <pc:sldMkLst>
          <pc:docMk/>
          <pc:sldMk cId="0" sldId="256"/>
        </pc:sldMkLst>
        <pc:spChg chg="mod">
          <ac:chgData name="Chad Bishop" userId="S::cbisho37@students.kennesaw.edu::210f6328-ccc5-4ff0-807f-6a1c23b221f2" providerId="AD" clId="Web-{0F9714FD-2D0F-D877-77C6-1BC57A6AA0A3}" dt="2026-04-18T00:58:58.737" v="24" actId="1076"/>
          <ac:spMkLst>
            <pc:docMk/>
            <pc:sldMk cId="0" sldId="256"/>
            <ac:spMk id="25" creationId="{B84DDD55-12B4-B898-DEEB-E67679A373B6}"/>
          </ac:spMkLst>
        </pc:spChg>
        <pc:spChg chg="mod">
          <ac:chgData name="Chad Bishop" userId="S::cbisho37@students.kennesaw.edu::210f6328-ccc5-4ff0-807f-6a1c23b221f2" providerId="AD" clId="Web-{0F9714FD-2D0F-D877-77C6-1BC57A6AA0A3}" dt="2026-04-18T00:57:14.426" v="17" actId="20577"/>
          <ac:spMkLst>
            <pc:docMk/>
            <pc:sldMk cId="0" sldId="256"/>
            <ac:spMk id="49" creationId="{DD5055EC-E5F2-FFB9-A56D-AFF08F0E457D}"/>
          </ac:spMkLst>
        </pc:spChg>
        <pc:spChg chg="mod">
          <ac:chgData name="Chad Bishop" userId="S::cbisho37@students.kennesaw.edu::210f6328-ccc5-4ff0-807f-6a1c23b221f2" providerId="AD" clId="Web-{0F9714FD-2D0F-D877-77C6-1BC57A6AA0A3}" dt="2026-04-18T00:58:26.733" v="20" actId="1076"/>
          <ac:spMkLst>
            <pc:docMk/>
            <pc:sldMk cId="0" sldId="256"/>
            <ac:spMk id="1029" creationId="{7339D244-D446-2782-B8B6-E65175417F5D}"/>
          </ac:spMkLst>
        </pc:spChg>
        <pc:spChg chg="mod">
          <ac:chgData name="Chad Bishop" userId="S::cbisho37@students.kennesaw.edu::210f6328-ccc5-4ff0-807f-6a1c23b221f2" providerId="AD" clId="Web-{0F9714FD-2D0F-D877-77C6-1BC57A6AA0A3}" dt="2026-04-18T00:58:45.595" v="23" actId="1076"/>
          <ac:spMkLst>
            <pc:docMk/>
            <pc:sldMk cId="0" sldId="256"/>
            <ac:spMk id="1040" creationId="{CEE991C5-A915-1AAD-613F-F920BC34249B}"/>
          </ac:spMkLst>
        </pc:spChg>
        <pc:graphicFrameChg chg="mod">
          <ac:chgData name="Chad Bishop" userId="S::cbisho37@students.kennesaw.edu::210f6328-ccc5-4ff0-807f-6a1c23b221f2" providerId="AD" clId="Web-{0F9714FD-2D0F-D877-77C6-1BC57A6AA0A3}" dt="2026-04-18T00:58:10.325" v="18" actId="14100"/>
          <ac:graphicFrameMkLst>
            <pc:docMk/>
            <pc:sldMk cId="0" sldId="256"/>
            <ac:graphicFrameMk id="4" creationId="{7DA54F2F-0CFB-814E-C1F2-B7F50D0E2CB0}"/>
          </ac:graphicFrameMkLst>
        </pc:graphicFrameChg>
        <pc:picChg chg="mod">
          <ac:chgData name="Chad Bishop" userId="S::cbisho37@students.kennesaw.edu::210f6328-ccc5-4ff0-807f-6a1c23b221f2" providerId="AD" clId="Web-{0F9714FD-2D0F-D877-77C6-1BC57A6AA0A3}" dt="2026-04-18T00:59:02.815" v="25" actId="1076"/>
          <ac:picMkLst>
            <pc:docMk/>
            <pc:sldMk cId="0" sldId="256"/>
            <ac:picMk id="24" creationId="{79C9C098-3EF7-A752-571B-8076858EC442}"/>
          </ac:picMkLst>
        </pc:picChg>
        <pc:picChg chg="mod">
          <ac:chgData name="Chad Bishop" userId="S::cbisho37@students.kennesaw.edu::210f6328-ccc5-4ff0-807f-6a1c23b221f2" providerId="AD" clId="Web-{0F9714FD-2D0F-D877-77C6-1BC57A6AA0A3}" dt="2026-04-18T00:58:39.438" v="22" actId="1076"/>
          <ac:picMkLst>
            <pc:docMk/>
            <pc:sldMk cId="0" sldId="256"/>
            <ac:picMk id="1038" creationId="{7BF0BFEF-98A2-A865-2881-DDD30DD03213}"/>
          </ac:picMkLst>
        </pc:picChg>
        <pc:picChg chg="mod">
          <ac:chgData name="Chad Bishop" userId="S::cbisho37@students.kennesaw.edu::210f6328-ccc5-4ff0-807f-6a1c23b221f2" providerId="AD" clId="Web-{0F9714FD-2D0F-D877-77C6-1BC57A6AA0A3}" dt="2026-04-18T00:58:20.483" v="19" actId="1076"/>
          <ac:picMkLst>
            <pc:docMk/>
            <pc:sldMk cId="0" sldId="256"/>
            <ac:picMk id="1055" creationId="{0FC830C9-55BF-101B-B5C9-50AC702C843D}"/>
          </ac:picMkLst>
        </pc:picChg>
      </pc:sldChg>
    </pc:docChg>
  </pc:docChgLst>
  <pc:docChgLst>
    <pc:chgData name="Chad Bishop" userId="S::cbisho37@students.kennesaw.edu::210f6328-ccc5-4ff0-807f-6a1c23b221f2" providerId="AD" clId="Web-{78ECE216-EA49-7A64-3F55-DB6008784669}"/>
    <pc:docChg chg="modSld">
      <pc:chgData name="Chad Bishop" userId="S::cbisho37@students.kennesaw.edu::210f6328-ccc5-4ff0-807f-6a1c23b221f2" providerId="AD" clId="Web-{78ECE216-EA49-7A64-3F55-DB6008784669}" dt="2026-04-19T00:12:17.904" v="34"/>
      <pc:docMkLst>
        <pc:docMk/>
      </pc:docMkLst>
      <pc:sldChg chg="addSp delSp modSp">
        <pc:chgData name="Chad Bishop" userId="S::cbisho37@students.kennesaw.edu::210f6328-ccc5-4ff0-807f-6a1c23b221f2" providerId="AD" clId="Web-{78ECE216-EA49-7A64-3F55-DB6008784669}" dt="2026-04-19T00:12:17.904" v="34"/>
        <pc:sldMkLst>
          <pc:docMk/>
          <pc:sldMk cId="0" sldId="256"/>
        </pc:sldMkLst>
        <pc:graphicFrameChg chg="del">
          <ac:chgData name="Chad Bishop" userId="S::cbisho37@students.kennesaw.edu::210f6328-ccc5-4ff0-807f-6a1c23b221f2" providerId="AD" clId="Web-{78ECE216-EA49-7A64-3F55-DB6008784669}" dt="2026-04-18T23:57:50.127" v="6"/>
          <ac:graphicFrameMkLst>
            <pc:docMk/>
            <pc:sldMk cId="0" sldId="256"/>
            <ac:graphicFrameMk id="7" creationId="{6846FC77-BF70-D791-76E3-B1969C697BE2}"/>
          </ac:graphicFrameMkLst>
        </pc:graphicFrameChg>
        <pc:graphicFrameChg chg="add del mod">
          <ac:chgData name="Chad Bishop" userId="S::cbisho37@students.kennesaw.edu::210f6328-ccc5-4ff0-807f-6a1c23b221f2" providerId="AD" clId="Web-{78ECE216-EA49-7A64-3F55-DB6008784669}" dt="2026-04-18T23:57:08.439" v="1"/>
          <ac:graphicFrameMkLst>
            <pc:docMk/>
            <pc:sldMk cId="0" sldId="256"/>
            <ac:graphicFrameMk id="14" creationId="{0F5355F1-3B60-2421-2D7E-1E71D3A4F179}"/>
          </ac:graphicFrameMkLst>
        </pc:graphicFrameChg>
        <pc:graphicFrameChg chg="add del mod">
          <ac:chgData name="Chad Bishop" userId="S::cbisho37@students.kennesaw.edu::210f6328-ccc5-4ff0-807f-6a1c23b221f2" providerId="AD" clId="Web-{78ECE216-EA49-7A64-3F55-DB6008784669}" dt="2026-04-19T00:00:54.742" v="8"/>
          <ac:graphicFrameMkLst>
            <pc:docMk/>
            <pc:sldMk cId="0" sldId="256"/>
            <ac:graphicFrameMk id="16" creationId="{33A683E8-21D4-4A6D-C2AF-5BB9D7F4838E}"/>
          </ac:graphicFrameMkLst>
        </pc:graphicFrameChg>
        <pc:graphicFrameChg chg="add del mod">
          <ac:chgData name="Chad Bishop" userId="S::cbisho37@students.kennesaw.edu::210f6328-ccc5-4ff0-807f-6a1c23b221f2" providerId="AD" clId="Web-{78ECE216-EA49-7A64-3F55-DB6008784669}" dt="2026-04-19T00:08:57.396" v="15"/>
          <ac:graphicFrameMkLst>
            <pc:docMk/>
            <pc:sldMk cId="0" sldId="256"/>
            <ac:graphicFrameMk id="30" creationId="{5B1BC39E-B9CF-EF12-FE76-CE5E95E3D969}"/>
          </ac:graphicFrameMkLst>
        </pc:graphicFrameChg>
        <pc:picChg chg="add del mod">
          <ac:chgData name="Chad Bishop" userId="S::cbisho37@students.kennesaw.edu::210f6328-ccc5-4ff0-807f-6a1c23b221f2" providerId="AD" clId="Web-{78ECE216-EA49-7A64-3F55-DB6008784669}" dt="2026-04-19T00:04:36.671" v="11"/>
          <ac:picMkLst>
            <pc:docMk/>
            <pc:sldMk cId="0" sldId="256"/>
            <ac:picMk id="18" creationId="{E703A461-B84E-EC7E-0738-06FEBC9F48E7}"/>
          </ac:picMkLst>
        </pc:picChg>
        <pc:picChg chg="add del mod">
          <ac:chgData name="Chad Bishop" userId="S::cbisho37@students.kennesaw.edu::210f6328-ccc5-4ff0-807f-6a1c23b221f2" providerId="AD" clId="Web-{78ECE216-EA49-7A64-3F55-DB6008784669}" dt="2026-04-19T00:09:37.461" v="22"/>
          <ac:picMkLst>
            <pc:docMk/>
            <pc:sldMk cId="0" sldId="256"/>
            <ac:picMk id="20" creationId="{97907D5C-7A47-8050-C33A-B7A9C563DD1E}"/>
          </ac:picMkLst>
        </pc:picChg>
        <pc:picChg chg="add mod">
          <ac:chgData name="Chad Bishop" userId="S::cbisho37@students.kennesaw.edu::210f6328-ccc5-4ff0-807f-6a1c23b221f2" providerId="AD" clId="Web-{78ECE216-EA49-7A64-3F55-DB6008784669}" dt="2026-04-19T00:09:45.820" v="23" actId="1076"/>
          <ac:picMkLst>
            <pc:docMk/>
            <pc:sldMk cId="0" sldId="256"/>
            <ac:picMk id="32" creationId="{4C65EC8A-65B6-5E68-2172-AD8BE761F2B3}"/>
          </ac:picMkLst>
        </pc:picChg>
        <pc:picChg chg="add del mod">
          <ac:chgData name="Chad Bishop" userId="S::cbisho37@students.kennesaw.edu::210f6328-ccc5-4ff0-807f-6a1c23b221f2" providerId="AD" clId="Web-{78ECE216-EA49-7A64-3F55-DB6008784669}" dt="2026-04-19T00:12:17.904" v="34"/>
          <ac:picMkLst>
            <pc:docMk/>
            <pc:sldMk cId="0" sldId="256"/>
            <ac:picMk id="34" creationId="{6CE515B5-8EFE-6169-69CE-D97EF5AE6A2D}"/>
          </ac:picMkLst>
        </pc:picChg>
      </pc:sldChg>
    </pc:docChg>
  </pc:docChgLst>
  <pc:docChgLst>
    <pc:chgData name="Chad Bishop" userId="S::cbisho37@students.kennesaw.edu::210f6328-ccc5-4ff0-807f-6a1c23b221f2" providerId="AD" clId="Web-{FBB565BC-7566-0F68-4685-97A1A0737AF3}"/>
    <pc:docChg chg="modSld">
      <pc:chgData name="Chad Bishop" userId="S::cbisho37@students.kennesaw.edu::210f6328-ccc5-4ff0-807f-6a1c23b221f2" providerId="AD" clId="Web-{FBB565BC-7566-0F68-4685-97A1A0737AF3}" dt="2026-04-19T23:58:17.909" v="17" actId="20577"/>
      <pc:docMkLst>
        <pc:docMk/>
      </pc:docMkLst>
      <pc:sldChg chg="addSp delSp modSp">
        <pc:chgData name="Chad Bishop" userId="S::cbisho37@students.kennesaw.edu::210f6328-ccc5-4ff0-807f-6a1c23b221f2" providerId="AD" clId="Web-{FBB565BC-7566-0F68-4685-97A1A0737AF3}" dt="2026-04-19T23:58:17.909" v="17" actId="20577"/>
        <pc:sldMkLst>
          <pc:docMk/>
          <pc:sldMk cId="0" sldId="256"/>
        </pc:sldMkLst>
        <pc:spChg chg="add del mod">
          <ac:chgData name="Chad Bishop" userId="S::cbisho37@students.kennesaw.edu::210f6328-ccc5-4ff0-807f-6a1c23b221f2" providerId="AD" clId="Web-{FBB565BC-7566-0F68-4685-97A1A0737AF3}" dt="2026-04-19T23:58:17.909" v="17" actId="20577"/>
          <ac:spMkLst>
            <pc:docMk/>
            <pc:sldMk cId="0" sldId="256"/>
            <ac:spMk id="9" creationId="{52F459FF-995B-3CA4-D894-BE1B33F8AA68}"/>
          </ac:spMkLst>
        </pc:spChg>
        <pc:spChg chg="mod">
          <ac:chgData name="Chad Bishop" userId="S::cbisho37@students.kennesaw.edu::210f6328-ccc5-4ff0-807f-6a1c23b221f2" providerId="AD" clId="Web-{FBB565BC-7566-0F68-4685-97A1A0737AF3}" dt="2026-04-19T23:26:19.370" v="1" actId="1076"/>
          <ac:spMkLst>
            <pc:docMk/>
            <pc:sldMk cId="0" sldId="256"/>
            <ac:spMk id="25" creationId="{B84DDD55-12B4-B898-DEEB-E67679A373B6}"/>
          </ac:spMkLst>
        </pc:spChg>
        <pc:picChg chg="add mod modCrop">
          <ac:chgData name="Chad Bishop" userId="S::cbisho37@students.kennesaw.edu::210f6328-ccc5-4ff0-807f-6a1c23b221f2" providerId="AD" clId="Web-{FBB565BC-7566-0F68-4685-97A1A0737AF3}" dt="2026-04-19T23:57:15.607" v="13" actId="14100"/>
          <ac:picMkLst>
            <pc:docMk/>
            <pc:sldMk cId="0" sldId="256"/>
            <ac:picMk id="7" creationId="{3F8B3B74-9D81-51DD-D47A-DC51A089DA99}"/>
          </ac:picMkLst>
        </pc:picChg>
        <pc:picChg chg="mod">
          <ac:chgData name="Chad Bishop" userId="S::cbisho37@students.kennesaw.edu::210f6328-ccc5-4ff0-807f-6a1c23b221f2" providerId="AD" clId="Web-{FBB565BC-7566-0F68-4685-97A1A0737AF3}" dt="2026-04-19T23:26:10.088" v="0" actId="1076"/>
          <ac:picMkLst>
            <pc:docMk/>
            <pc:sldMk cId="0" sldId="256"/>
            <ac:picMk id="24" creationId="{79C9C098-3EF7-A752-571B-8076858EC442}"/>
          </ac:picMkLst>
        </pc:picChg>
        <pc:picChg chg="del">
          <ac:chgData name="Chad Bishop" userId="S::cbisho37@students.kennesaw.edu::210f6328-ccc5-4ff0-807f-6a1c23b221f2" providerId="AD" clId="Web-{FBB565BC-7566-0F68-4685-97A1A0737AF3}" dt="2026-04-19T23:50:29.704" v="4"/>
          <ac:picMkLst>
            <pc:docMk/>
            <pc:sldMk cId="0" sldId="256"/>
            <ac:picMk id="1055" creationId="{0FC830C9-55BF-101B-B5C9-50AC702C843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488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t" anchorCtr="0" compatLnSpc="1">
            <a:prstTxWarp prst="textNoShape">
              <a:avLst/>
            </a:prstTxWarp>
          </a:bodyPr>
          <a:lstStyle>
            <a:lvl1pPr algn="l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8913" y="0"/>
            <a:ext cx="4027487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t" anchorCtr="0" compatLnSpc="1">
            <a:prstTxWarp prst="textNoShape">
              <a:avLst/>
            </a:prstTxWarp>
          </a:bodyPr>
          <a:lstStyle>
            <a:lvl1pPr algn="r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9563"/>
            <a:ext cx="4027488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l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8913" y="6659563"/>
            <a:ext cx="4027487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1696">
              <a:lnSpc>
                <a:spcPct val="100000"/>
              </a:lnSpc>
              <a:spcBef>
                <a:spcPct val="0"/>
              </a:spcBef>
              <a:defRPr sz="1200" b="0"/>
            </a:lvl1pPr>
          </a:lstStyle>
          <a:p>
            <a:pPr>
              <a:defRPr/>
            </a:pPr>
            <a:fld id="{51BFBB92-9EAF-4A98-AC69-D6A49C72F0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431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7488" cy="350838"/>
          </a:xfrm>
          <a:prstGeom prst="rect">
            <a:avLst/>
          </a:prstGeom>
        </p:spPr>
        <p:txBody>
          <a:bodyPr vert="horz" lIns="20062" tIns="10031" rIns="20062" bIns="10031" rtlCol="0"/>
          <a:lstStyle>
            <a:lvl1pPr algn="l">
              <a:defRPr sz="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7487" cy="350838"/>
          </a:xfrm>
          <a:prstGeom prst="rect">
            <a:avLst/>
          </a:prstGeom>
        </p:spPr>
        <p:txBody>
          <a:bodyPr vert="horz" lIns="20062" tIns="10031" rIns="20062" bIns="10031" rtlCol="0"/>
          <a:lstStyle>
            <a:lvl1pPr algn="r">
              <a:defRPr sz="300"/>
            </a:lvl1pPr>
          </a:lstStyle>
          <a:p>
            <a:pPr>
              <a:defRPr/>
            </a:pPr>
            <a:fld id="{5CC69237-968C-4809-BBBD-9304D521757D}" type="datetimeFigureOut">
              <a:rPr lang="en-US"/>
              <a:pPr>
                <a:defRPr/>
              </a:pPr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20062" tIns="10031" rIns="20062" bIns="10031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275" y="3328988"/>
            <a:ext cx="7435850" cy="3155950"/>
          </a:xfrm>
          <a:prstGeom prst="rect">
            <a:avLst/>
          </a:prstGeom>
        </p:spPr>
        <p:txBody>
          <a:bodyPr vert="horz" lIns="20062" tIns="10031" rIns="20062" bIns="100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27488" cy="349250"/>
          </a:xfrm>
          <a:prstGeom prst="rect">
            <a:avLst/>
          </a:prstGeom>
        </p:spPr>
        <p:txBody>
          <a:bodyPr vert="horz" lIns="20062" tIns="10031" rIns="20062" bIns="10031" rtlCol="0" anchor="b"/>
          <a:lstStyle>
            <a:lvl1pPr algn="l">
              <a:defRPr sz="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738" y="6659563"/>
            <a:ext cx="4027487" cy="349250"/>
          </a:xfrm>
          <a:prstGeom prst="rect">
            <a:avLst/>
          </a:prstGeom>
        </p:spPr>
        <p:txBody>
          <a:bodyPr vert="horz" lIns="20062" tIns="10031" rIns="20062" bIns="10031" rtlCol="0" anchor="b"/>
          <a:lstStyle>
            <a:lvl1pPr algn="r">
              <a:defRPr sz="300"/>
            </a:lvl1pPr>
          </a:lstStyle>
          <a:p>
            <a:pPr>
              <a:defRPr/>
            </a:pPr>
            <a:fld id="{B4C89677-0636-4F7D-8E45-6997A3D618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32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5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5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5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5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5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350F54E-324E-4420-A58C-1451A26E1E91}" type="slidenum">
              <a:rPr lang="en-US" sz="300" smtClean="0"/>
              <a:pPr/>
              <a:t>1</a:t>
            </a:fld>
            <a:endParaRPr lang="en-US" sz="300"/>
          </a:p>
        </p:txBody>
      </p:sp>
    </p:spTree>
    <p:extLst>
      <p:ext uri="{BB962C8B-B14F-4D97-AF65-F5344CB8AC3E}">
        <p14:creationId xmlns:p14="http://schemas.microsoft.com/office/powerpoint/2010/main" val="3565885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75" y="10226675"/>
            <a:ext cx="37306250" cy="70548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3" y="18653125"/>
            <a:ext cx="30724475" cy="84137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E9746-3E67-4984-B2FE-1AF1BA1634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123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4A587-5FAF-42E6-BE45-17C25F99A9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91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0" y="21153438"/>
            <a:ext cx="37307838" cy="65373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88EA6C-4A5C-449A-8168-A4D2F9419E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39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90888" y="9510713"/>
            <a:ext cx="18578512" cy="19750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0" y="9510713"/>
            <a:ext cx="18578513" cy="19750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B4A3CC-8336-4978-A66C-FB77D18E1F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9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7625"/>
            <a:ext cx="39503350" cy="5486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5" y="7369175"/>
            <a:ext cx="19392900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5" y="10439400"/>
            <a:ext cx="19392900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38" y="7369175"/>
            <a:ext cx="19400837" cy="30702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38" y="10439400"/>
            <a:ext cx="19400837" cy="18965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8A453-5BDB-4A82-A97B-AE3AC9DF93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22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6625C-FC05-44C9-AD1B-5BE1C448AF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92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A2B76-BBD0-4131-9F1A-F9B85BA33A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85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1275"/>
            <a:ext cx="14439900" cy="55768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5" y="1311275"/>
            <a:ext cx="24536400" cy="280939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5" y="6888163"/>
            <a:ext cx="14439900" cy="225171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0D8EB-A991-429A-9F15-1E50507113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7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3" y="23042563"/>
            <a:ext cx="26335037" cy="27209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3" y="2941638"/>
            <a:ext cx="26335037" cy="197500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3" y="25763538"/>
            <a:ext cx="26335037" cy="3862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6D1F85-FC8E-4B63-A86C-FC56C2C366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1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F46AF8-960E-4160-8BB5-686F276EDF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04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273750" y="2924175"/>
            <a:ext cx="9326563" cy="26336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90888" y="2924175"/>
            <a:ext cx="27830462" cy="26336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589B9D-719E-42D8-8020-085B69862E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90888" y="2924175"/>
            <a:ext cx="3730942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8884" tIns="219442" rIns="438884" bIns="21944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90888" y="9510713"/>
            <a:ext cx="37309425" cy="1975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90888" y="29994225"/>
            <a:ext cx="91440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67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7113" y="29994225"/>
            <a:ext cx="13896975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sz="67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6313" y="29994225"/>
            <a:ext cx="91440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8884" tIns="219442" rIns="438884" bIns="219442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6700" b="0"/>
            </a:lvl1pPr>
          </a:lstStyle>
          <a:p>
            <a:pPr>
              <a:defRPr/>
            </a:pPr>
            <a:fld id="{3288BF25-8EA1-41D0-B1F3-3529260375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2pPr>
      <a:lvl3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3pPr>
      <a:lvl4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4pPr>
      <a:lvl5pPr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5pPr>
      <a:lvl6pPr marL="4572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6pPr>
      <a:lvl7pPr marL="9144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7pPr>
      <a:lvl8pPr marL="13716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8pPr>
      <a:lvl9pPr marL="1828800" algn="ctr" defTabSz="4387850" rtl="0" eaLnBrk="0" fontAlgn="base" hangingPunct="0">
        <a:spcBef>
          <a:spcPct val="0"/>
        </a:spcBef>
        <a:spcAft>
          <a:spcPct val="0"/>
        </a:spcAft>
        <a:defRPr sz="21000">
          <a:solidFill>
            <a:schemeClr val="tx2"/>
          </a:solidFill>
          <a:latin typeface="Times New Roman" pitchFamily="18" charset="0"/>
        </a:defRPr>
      </a:lvl9pPr>
    </p:titleStyle>
    <p:bodyStyle>
      <a:lvl1pPr marL="1647825" indent="-1647825" algn="l" defTabSz="4387850" rtl="0" eaLnBrk="0" fontAlgn="base" hangingPunct="0">
        <a:spcBef>
          <a:spcPct val="20000"/>
        </a:spcBef>
        <a:spcAft>
          <a:spcPct val="0"/>
        </a:spcAft>
        <a:buChar char="•"/>
        <a:defRPr sz="15300">
          <a:solidFill>
            <a:schemeClr val="tx1"/>
          </a:solidFill>
          <a:latin typeface="+mn-lt"/>
          <a:ea typeface="+mn-ea"/>
          <a:cs typeface="+mn-cs"/>
        </a:defRPr>
      </a:lvl1pPr>
      <a:lvl2pPr marL="3565525" indent="-1370013" algn="l" defTabSz="4387850" rtl="0" eaLnBrk="0" fontAlgn="base" hangingPunct="0">
        <a:spcBef>
          <a:spcPct val="20000"/>
        </a:spcBef>
        <a:spcAft>
          <a:spcPct val="0"/>
        </a:spcAft>
        <a:buChar char="–"/>
        <a:defRPr sz="13300">
          <a:solidFill>
            <a:schemeClr val="tx1"/>
          </a:solidFill>
          <a:latin typeface="+mn-lt"/>
        </a:defRPr>
      </a:lvl2pPr>
      <a:lvl3pPr marL="5486400" indent="-1098550" algn="l" defTabSz="4387850" rtl="0" eaLnBrk="0" fontAlgn="base" hangingPunct="0">
        <a:spcBef>
          <a:spcPct val="20000"/>
        </a:spcBef>
        <a:spcAft>
          <a:spcPct val="0"/>
        </a:spcAft>
        <a:buChar char="•"/>
        <a:defRPr sz="11600">
          <a:solidFill>
            <a:schemeClr val="tx1"/>
          </a:solidFill>
          <a:latin typeface="+mn-lt"/>
        </a:defRPr>
      </a:lvl3pPr>
      <a:lvl4pPr marL="7678738" indent="-1093788" algn="l" defTabSz="4387850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</a:defRPr>
      </a:lvl4pPr>
      <a:lvl5pPr marL="98758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5pPr>
      <a:lvl6pPr marL="103330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6pPr>
      <a:lvl7pPr marL="107902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7pPr>
      <a:lvl8pPr marL="112474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8pPr>
      <a:lvl9pPr marL="11704638" indent="-1098550" algn="l" defTabSz="4387850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.emf"/><Relationship Id="rId1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package" Target="../embeddings/Microsoft_Excel_Worksheet_20D52253.xlsx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48550/arXiv.2506.10412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0.emf"/><Relationship Id="rId10" Type="http://schemas.openxmlformats.org/officeDocument/2006/relationships/image" Target="../media/image7.jpeg"/><Relationship Id="rId19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package" Target="../embeddings/Microsoft_Excel_Worksheet_C7879BFE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1037">
            <a:extLst>
              <a:ext uri="{FF2B5EF4-FFF2-40B4-BE49-F238E27FC236}">
                <a16:creationId xmlns:a16="http://schemas.microsoft.com/office/drawing/2014/main" id="{7BF0BFEF-98A2-A865-2881-DDD30DD03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73" r="1970"/>
          <a:stretch>
            <a:fillRect/>
          </a:stretch>
        </p:blipFill>
        <p:spPr>
          <a:xfrm>
            <a:off x="26950521" y="16687800"/>
            <a:ext cx="8037205" cy="6021174"/>
          </a:xfrm>
          <a:prstGeom prst="rect">
            <a:avLst/>
          </a:prstGeom>
        </p:spPr>
      </p:pic>
      <p:pic>
        <p:nvPicPr>
          <p:cNvPr id="1062" name="Picture 1061">
            <a:extLst>
              <a:ext uri="{FF2B5EF4-FFF2-40B4-BE49-F238E27FC236}">
                <a16:creationId xmlns:a16="http://schemas.microsoft.com/office/drawing/2014/main" id="{15854DD9-82CF-1D2F-0AC4-8D859A0A59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885"/>
          <a:stretch>
            <a:fillRect/>
          </a:stretch>
        </p:blipFill>
        <p:spPr>
          <a:xfrm>
            <a:off x="10591800" y="13186277"/>
            <a:ext cx="15697200" cy="10742586"/>
          </a:xfrm>
          <a:prstGeom prst="rect">
            <a:avLst/>
          </a:prstGeom>
        </p:spPr>
      </p:pic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65EEAB4-6CD0-14A2-5CBE-35E60361F4E2}"/>
              </a:ext>
            </a:extLst>
          </p:cNvPr>
          <p:cNvSpPr/>
          <p:nvPr/>
        </p:nvSpPr>
        <p:spPr bwMode="auto">
          <a:xfrm>
            <a:off x="41067789" y="30156390"/>
            <a:ext cx="2699398" cy="2614647"/>
          </a:xfrm>
          <a:prstGeom prst="rect">
            <a:avLst/>
          </a:prstGeom>
          <a:solidFill>
            <a:srgbClr val="D2D2F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2259013" rtl="0" eaLnBrk="0" fontAlgn="base" latinLnBrk="0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1028" name="Picture 1027">
            <a:extLst>
              <a:ext uri="{FF2B5EF4-FFF2-40B4-BE49-F238E27FC236}">
                <a16:creationId xmlns:a16="http://schemas.microsoft.com/office/drawing/2014/main" id="{4BF08D49-3DE0-089F-0243-6C746B00AF4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94" t="5258" r="21758"/>
          <a:stretch>
            <a:fillRect/>
          </a:stretch>
        </p:blipFill>
        <p:spPr>
          <a:xfrm>
            <a:off x="11766229" y="3803984"/>
            <a:ext cx="14503382" cy="8548289"/>
          </a:xfrm>
          <a:prstGeom prst="rect">
            <a:avLst/>
          </a:prstGeom>
        </p:spPr>
      </p:pic>
      <p:sp>
        <p:nvSpPr>
          <p:cNvPr id="1033" name="Rectangle 51"/>
          <p:cNvSpPr>
            <a:spLocks noChangeArrowheads="1"/>
          </p:cNvSpPr>
          <p:nvPr/>
        </p:nvSpPr>
        <p:spPr bwMode="auto">
          <a:xfrm>
            <a:off x="2147483647" y="2147483647"/>
            <a:ext cx="2147482688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5903" tIns="112951" rIns="225903" bIns="112951">
            <a:spAutoFit/>
          </a:bodyPr>
          <a:lstStyle/>
          <a:p>
            <a:pPr algn="l" defTabSz="2259013">
              <a:lnSpc>
                <a:spcPct val="100000"/>
              </a:lnSpc>
              <a:spcBef>
                <a:spcPct val="0"/>
              </a:spcBef>
            </a:pPr>
            <a:r>
              <a:rPr lang="en-US" sz="7700" b="0"/>
              <a:t> </a:t>
            </a:r>
            <a:endParaRPr lang="en-US" sz="5900" b="0"/>
          </a:p>
        </p:txBody>
      </p:sp>
      <p:sp>
        <p:nvSpPr>
          <p:cNvPr id="1036" name="Text Box 89"/>
          <p:cNvSpPr txBox="1">
            <a:spLocks noChangeArrowheads="1"/>
          </p:cNvSpPr>
          <p:nvPr/>
        </p:nvSpPr>
        <p:spPr bwMode="auto">
          <a:xfrm>
            <a:off x="18619788" y="1143000"/>
            <a:ext cx="631825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5903" tIns="112951" rIns="225903" bIns="112951">
            <a:spAutoFit/>
          </a:bodyPr>
          <a:lstStyle>
            <a:lvl1pPr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US"/>
          </a:p>
        </p:txBody>
      </p:sp>
      <p:sp>
        <p:nvSpPr>
          <p:cNvPr id="1037" name="Rectangle 90"/>
          <p:cNvSpPr>
            <a:spLocks noChangeArrowheads="1"/>
          </p:cNvSpPr>
          <p:nvPr/>
        </p:nvSpPr>
        <p:spPr bwMode="auto">
          <a:xfrm>
            <a:off x="9525000" y="275511"/>
            <a:ext cx="25151556" cy="304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25903" tIns="112951" rIns="225903" bIns="112951" anchor="ctr">
            <a:noAutofit/>
          </a:bodyPr>
          <a:lstStyle/>
          <a:p>
            <a:pPr defTabSz="2259013">
              <a:lnSpc>
                <a:spcPct val="100000"/>
              </a:lnSpc>
              <a:spcBef>
                <a:spcPts val="0"/>
              </a:spcBef>
            </a:pPr>
            <a:r>
              <a:rPr lang="en-US" sz="7200"/>
              <a:t>Recency-Aware Multimodal Fusion for Irregular Time Series: Extending IMM-TSF from Forecasting to Classification</a:t>
            </a:r>
          </a:p>
          <a:p>
            <a:pPr defTabSz="2259013">
              <a:lnSpc>
                <a:spcPct val="100000"/>
              </a:lnSpc>
              <a:spcBef>
                <a:spcPts val="0"/>
              </a:spcBef>
            </a:pPr>
            <a:r>
              <a:rPr lang="en-US" sz="4200" b="0"/>
              <a:t>Chad Bishop, Nnenna Ifeanyi, &amp; Brandi Jones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41794" y="14448848"/>
            <a:ext cx="10828610" cy="7564297"/>
            <a:chOff x="448990" y="7667878"/>
            <a:chExt cx="10828610" cy="7427616"/>
          </a:xfrm>
        </p:grpSpPr>
        <p:sp>
          <p:nvSpPr>
            <p:cNvPr id="1031" name="Text Box 15"/>
            <p:cNvSpPr txBox="1">
              <a:spLocks noChangeArrowheads="1"/>
            </p:cNvSpPr>
            <p:nvPr/>
          </p:nvSpPr>
          <p:spPr bwMode="auto">
            <a:xfrm>
              <a:off x="448990" y="7667878"/>
              <a:ext cx="10818004" cy="93721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225903" tIns="112951" rIns="225903" bIns="112951" anchor="ctr">
              <a:spAutoFit/>
            </a:bodyPr>
            <a:lstStyle>
              <a:lvl1pPr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2259013"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defTabSz="2259013" eaLnBrk="0" fontAlgn="base" hangingPunct="0">
                <a:lnSpc>
                  <a:spcPct val="65000"/>
                </a:lnSpc>
                <a:spcBef>
                  <a:spcPct val="50000"/>
                </a:spcBef>
                <a:spcAft>
                  <a:spcPct val="0"/>
                </a:spcAft>
                <a:defRPr sz="5400" b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sz="5900"/>
                <a:t>METHODS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57200" y="14439193"/>
              <a:ext cx="10820400" cy="656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</a:pPr>
              <a:endParaRPr lang="en-US" sz="3400" b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62036" y="3482439"/>
            <a:ext cx="43617184" cy="26235561"/>
            <a:chOff x="-77373" y="-4755513"/>
            <a:chExt cx="43617184" cy="26235561"/>
          </a:xfrm>
        </p:grpSpPr>
        <p:sp>
          <p:nvSpPr>
            <p:cNvPr id="48" name="TextBox 47"/>
            <p:cNvSpPr txBox="1"/>
            <p:nvPr/>
          </p:nvSpPr>
          <p:spPr>
            <a:xfrm>
              <a:off x="457200" y="4479085"/>
              <a:ext cx="10744200" cy="5837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marR="0" indent="-45720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en-US" sz="3200" b="0" kern="10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-77373" y="-4755513"/>
              <a:ext cx="43617184" cy="26235561"/>
              <a:chOff x="-77373" y="-4755513"/>
              <a:chExt cx="43617184" cy="26235561"/>
            </a:xfrm>
          </p:grpSpPr>
          <p:sp>
            <p:nvSpPr>
              <p:cNvPr id="1030" name="Text Box 12"/>
              <p:cNvSpPr txBox="1">
                <a:spLocks noChangeArrowheads="1"/>
              </p:cNvSpPr>
              <p:nvPr/>
            </p:nvSpPr>
            <p:spPr bwMode="auto">
              <a:xfrm>
                <a:off x="-77373" y="-4755513"/>
                <a:ext cx="10818004" cy="98472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225903" tIns="112951" rIns="225903" bIns="112951" anchor="ctr">
                <a:spAutoFit/>
              </a:bodyPr>
              <a:lstStyle>
                <a:lvl1pPr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5900"/>
                  <a:t>INTRODUCTION</a:t>
                </a:r>
              </a:p>
            </p:txBody>
          </p:sp>
          <p:sp>
            <p:nvSpPr>
              <p:cNvPr id="26" name="Text Box 18"/>
              <p:cNvSpPr txBox="1">
                <a:spLocks noChangeArrowheads="1"/>
              </p:cNvSpPr>
              <p:nvPr/>
            </p:nvSpPr>
            <p:spPr bwMode="auto">
              <a:xfrm>
                <a:off x="11201401" y="20525587"/>
                <a:ext cx="32338410" cy="95446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225903" tIns="112951" rIns="225903" bIns="112951" anchor="ctr">
                <a:spAutoFit/>
              </a:bodyPr>
              <a:lstStyle>
                <a:lvl1pPr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defTabSz="2259013"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ctr" defTabSz="2259013" eaLnBrk="0" fontAlgn="base" hangingPunct="0">
                  <a:lnSpc>
                    <a:spcPct val="65000"/>
                  </a:lnSpc>
                  <a:spcBef>
                    <a:spcPct val="50000"/>
                  </a:spcBef>
                  <a:spcAft>
                    <a:spcPct val="0"/>
                  </a:spcAft>
                  <a:defRPr sz="5400" b="1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lnSpc>
                    <a:spcPct val="80000"/>
                  </a:lnSpc>
                </a:pPr>
                <a:r>
                  <a:rPr lang="en-US" sz="5900"/>
                  <a:t>CONCLUSIONS 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244C654-F435-DA61-FAC3-E94861F4191A}"/>
              </a:ext>
            </a:extLst>
          </p:cNvPr>
          <p:cNvSpPr txBox="1"/>
          <p:nvPr/>
        </p:nvSpPr>
        <p:spPr>
          <a:xfrm>
            <a:off x="140777" y="4437222"/>
            <a:ext cx="11136823" cy="10649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/>
              <a:t>Real-world time series data</a:t>
            </a:r>
            <a:r>
              <a:rPr lang="en-US" sz="3600" b="0"/>
              <a:t>, like that found in large medical and financial market settings, are irregular, asynchronous, multimodal, and missing-rich.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/>
              <a:t>Textual data can provide context not present in structured, tabular time series features. 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/>
              <a:t>IMM-TSF</a:t>
            </a:r>
            <a:r>
              <a:rPr lang="en-US" sz="3600" b="0"/>
              <a:t> provides an irregular, multimodal time series framework benchmark for forecasting under these conditions, combining irregular numeric streams with temporally aligned text.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/>
              <a:t>The purpose of this study was:</a:t>
            </a:r>
          </a:p>
          <a:p>
            <a:pPr marL="1028700" lvl="1" indent="-571500" algn="l">
              <a:lnSpc>
                <a:spcPct val="100000"/>
              </a:lnSpc>
              <a:spcBef>
                <a:spcPts val="0"/>
              </a:spcBef>
              <a:buSzPct val="50000"/>
              <a:buFont typeface="Times New Roman" panose="02020603050405020304" pitchFamily="18" charset="0"/>
              <a:buChar char="►"/>
            </a:pPr>
            <a:r>
              <a:rPr lang="en-US" sz="3600"/>
              <a:t>First</a:t>
            </a:r>
            <a:r>
              <a:rPr lang="en-US" sz="3600" b="0"/>
              <a:t>, to develop a recency-aware gated fusion (</a:t>
            </a:r>
            <a:r>
              <a:rPr lang="en-US" sz="3600"/>
              <a:t>RA-</a:t>
            </a:r>
            <a:r>
              <a:rPr lang="en-US" sz="3600" err="1"/>
              <a:t>GRAdd</a:t>
            </a:r>
            <a:r>
              <a:rPr lang="en-US" sz="3600" b="0"/>
              <a:t>) variant of the IMM-TSF framework.</a:t>
            </a:r>
          </a:p>
          <a:p>
            <a:pPr marL="1485900" lvl="2" indent="-571500" algn="l">
              <a:lnSpc>
                <a:spcPct val="100000"/>
              </a:lnSpc>
              <a:spcBef>
                <a:spcPts val="0"/>
              </a:spcBef>
              <a:buSzPct val="50000"/>
              <a:buFont typeface="Courier New" panose="02070309020205020404" pitchFamily="49" charset="0"/>
              <a:buChar char="o"/>
            </a:pPr>
            <a:r>
              <a:rPr lang="en-US" sz="3600" b="0"/>
              <a:t>Weighting asynchronous text relative to irregular time-series observations</a:t>
            </a:r>
          </a:p>
          <a:p>
            <a:pPr marL="1485900" lvl="2" indent="-571500" algn="l">
              <a:lnSpc>
                <a:spcPct val="100000"/>
              </a:lnSpc>
              <a:spcBef>
                <a:spcPts val="0"/>
              </a:spcBef>
              <a:buSzPct val="50000"/>
              <a:buFont typeface="Courier New" panose="02070309020205020404" pitchFamily="49" charset="0"/>
              <a:buChar char="o"/>
            </a:pPr>
            <a:r>
              <a:rPr lang="en-US" sz="3600" b="0"/>
              <a:t>Taking text recency, density in time, alignment, and missingness into account prior to inclusion</a:t>
            </a:r>
          </a:p>
          <a:p>
            <a:pPr marL="1028700" lvl="1" indent="-571500" algn="l">
              <a:lnSpc>
                <a:spcPct val="100000"/>
              </a:lnSpc>
              <a:spcBef>
                <a:spcPts val="0"/>
              </a:spcBef>
              <a:buSzPct val="50000"/>
              <a:buFont typeface="Times New Roman" panose="02020603050405020304" pitchFamily="18" charset="0"/>
              <a:buChar char="►"/>
            </a:pPr>
            <a:r>
              <a:rPr lang="en-US" sz="3600"/>
              <a:t>Second</a:t>
            </a:r>
            <a:r>
              <a:rPr lang="en-US" sz="3600" b="0"/>
              <a:t>, our study </a:t>
            </a:r>
            <a:r>
              <a:rPr lang="en-US" sz="3600"/>
              <a:t>altered</a:t>
            </a:r>
            <a:r>
              <a:rPr lang="en-US" sz="3600" b="0"/>
              <a:t> the original </a:t>
            </a:r>
            <a:r>
              <a:rPr lang="en-US" sz="3600"/>
              <a:t>forecasting</a:t>
            </a:r>
            <a:r>
              <a:rPr lang="en-US" sz="3600" b="0"/>
              <a:t> framework for downstream </a:t>
            </a:r>
            <a:r>
              <a:rPr lang="en-US" sz="3600"/>
              <a:t>binary classification</a:t>
            </a:r>
            <a:r>
              <a:rPr lang="en-US" sz="3600" b="0"/>
              <a:t>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sz="3800" b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FB644A-DD8F-B051-6120-F2F8C6AAABB5}"/>
              </a:ext>
            </a:extLst>
          </p:cNvPr>
          <p:cNvSpPr txBox="1"/>
          <p:nvPr/>
        </p:nvSpPr>
        <p:spPr>
          <a:xfrm>
            <a:off x="26380904" y="12337979"/>
            <a:ext cx="98478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/>
              <a:t>Table 1.</a:t>
            </a:r>
            <a:r>
              <a:rPr lang="en-US" sz="3200" b="0" i="1"/>
              <a:t> Model performance comparisons for reproduction  results from Chang et al., 2025 IMM-TSF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3AC880-BB2F-B6F1-3220-9EA4EC31B021}"/>
              </a:ext>
            </a:extLst>
          </p:cNvPr>
          <p:cNvSpPr txBox="1"/>
          <p:nvPr/>
        </p:nvSpPr>
        <p:spPr>
          <a:xfrm>
            <a:off x="124604" y="15403309"/>
            <a:ext cx="10968514" cy="1837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</a:pPr>
            <a:r>
              <a:rPr lang="en-US" sz="3600">
                <a:latin typeface="+mn-lt"/>
              </a:rPr>
              <a:t>Motivating Paper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>
                <a:latin typeface="+mn-lt"/>
              </a:rPr>
              <a:t>Chang, C. et al. (2025). Time-IMM: A dataset and benchmark for irregular multimodal multivariate time series. arXiv. </a:t>
            </a:r>
            <a:r>
              <a:rPr lang="en-US" sz="3600" b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https://doi.org/10.48550/arXiv.2506.10412</a:t>
            </a:r>
            <a:r>
              <a:rPr lang="en-US" sz="3600" b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>
                <a:latin typeface="+mn-lt"/>
              </a:rPr>
              <a:t>Benchmark reproduced for subset of datasets from the IMM-TSF study across types of irregularity </a:t>
            </a:r>
            <a:r>
              <a:rPr lang="en-US" sz="3600">
                <a:latin typeface="+mn-lt"/>
              </a:rPr>
              <a:t>(</a:t>
            </a:r>
            <a:r>
              <a:rPr lang="en-US" sz="3600" i="1">
                <a:latin typeface="+mn-lt"/>
              </a:rPr>
              <a:t>Table 1</a:t>
            </a:r>
            <a:r>
              <a:rPr lang="en-US" sz="3600">
                <a:latin typeface="+mn-lt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600">
                <a:latin typeface="+mn-lt"/>
              </a:rPr>
              <a:t>RA-</a:t>
            </a:r>
            <a:r>
              <a:rPr lang="en-US" sz="3600" err="1">
                <a:latin typeface="+mn-lt"/>
              </a:rPr>
              <a:t>GRAdd</a:t>
            </a:r>
            <a:endParaRPr lang="en-US" sz="3600">
              <a:latin typeface="+mn-lt"/>
            </a:endParaRP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>
                <a:latin typeface="+mn-lt"/>
              </a:rPr>
              <a:t>Decomposes multimodal weighting into interpretable irregularity components to make text inclusions smarter </a:t>
            </a:r>
            <a:r>
              <a:rPr lang="en-US" sz="3600">
                <a:latin typeface="+mn-lt"/>
              </a:rPr>
              <a:t>(</a:t>
            </a:r>
            <a:r>
              <a:rPr lang="en-US" sz="3600" i="1">
                <a:latin typeface="+mn-lt"/>
              </a:rPr>
              <a:t>Figure 1</a:t>
            </a:r>
            <a:r>
              <a:rPr lang="en-US" sz="3600">
                <a:latin typeface="+mn-lt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600">
                <a:latin typeface="+mn-lt"/>
              </a:rPr>
              <a:t>Datasets for Classification Experiments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>
                <a:latin typeface="+mn-lt"/>
              </a:rPr>
              <a:t>Healthcare application: </a:t>
            </a:r>
            <a:r>
              <a:rPr lang="en-US" sz="3600">
                <a:latin typeface="+mn-lt"/>
              </a:rPr>
              <a:t>MIMIC-IV,</a:t>
            </a:r>
            <a:r>
              <a:rPr lang="en-US" sz="3600" b="0">
                <a:latin typeface="+mn-lt"/>
              </a:rPr>
              <a:t> a large deidentified database containing ICU and ER data with structured measurements and clinical text notes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>
                <a:latin typeface="+mn-lt"/>
              </a:rPr>
              <a:t>Financial market application: </a:t>
            </a:r>
            <a:r>
              <a:rPr lang="en-US" sz="3600">
                <a:latin typeface="+mn-lt"/>
              </a:rPr>
              <a:t>FNSPID</a:t>
            </a:r>
            <a:r>
              <a:rPr lang="en-US" sz="3600" b="0">
                <a:latin typeface="+mn-lt"/>
              </a:rPr>
              <a:t>, a large-scale dataset integrating stock prices and time-aligned news for S&amp;P 500 companies</a:t>
            </a:r>
          </a:p>
          <a:p>
            <a:pPr marL="288925" indent="-288925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>
                <a:latin typeface="+mn-lt"/>
              </a:rPr>
              <a:t>n=1108 mortality sample,  n=678 financial sample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600">
                <a:latin typeface="+mn-lt"/>
              </a:rPr>
              <a:t>Modeling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>
                <a:latin typeface="+mn-lt"/>
              </a:rPr>
              <a:t>Fused latent state replaced forecasting head with a binary classification head</a:t>
            </a:r>
          </a:p>
          <a:p>
            <a:pPr marL="1028700" lvl="1" indent="-571500" algn="l">
              <a:lnSpc>
                <a:spcPct val="100000"/>
              </a:lnSpc>
              <a:spcBef>
                <a:spcPts val="0"/>
              </a:spcBef>
              <a:buSzPct val="50000"/>
              <a:buFont typeface="Times New Roman" panose="02020603050405020304" pitchFamily="18" charset="0"/>
              <a:buChar char="►"/>
            </a:pPr>
            <a:r>
              <a:rPr lang="en-US" sz="3600" b="0">
                <a:latin typeface="+mn-lt"/>
              </a:rPr>
              <a:t>LLM: GPT-2</a:t>
            </a:r>
          </a:p>
          <a:p>
            <a:pPr marL="1028700" lvl="1" indent="-571500" algn="l">
              <a:lnSpc>
                <a:spcPct val="100000"/>
              </a:lnSpc>
              <a:spcBef>
                <a:spcPts val="0"/>
              </a:spcBef>
              <a:buSzPct val="50000"/>
              <a:buFont typeface="Times New Roman" panose="02020603050405020304" pitchFamily="18" charset="0"/>
              <a:buChar char="►"/>
            </a:pPr>
            <a:r>
              <a:rPr lang="en-US" sz="3600" b="0">
                <a:latin typeface="+mn-lt"/>
              </a:rPr>
              <a:t>Architecture: t-Patch GNN</a:t>
            </a:r>
          </a:p>
          <a:p>
            <a:pPr marL="1028700" lvl="1" indent="-571500" algn="l">
              <a:lnSpc>
                <a:spcPct val="100000"/>
              </a:lnSpc>
              <a:spcBef>
                <a:spcPts val="0"/>
              </a:spcBef>
              <a:buSzPct val="50000"/>
              <a:buFont typeface="Times New Roman" panose="02020603050405020304" pitchFamily="18" charset="0"/>
              <a:buChar char="►"/>
            </a:pPr>
            <a:r>
              <a:rPr lang="en-US" sz="3600" b="0">
                <a:latin typeface="+mn-lt"/>
              </a:rPr>
              <a:t>Binary cross-entropy loss</a:t>
            </a: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>
                <a:latin typeface="+mn-lt"/>
              </a:rPr>
              <a:t>IMM-TSF extensions evaluated for baseline and RA-</a:t>
            </a:r>
            <a:r>
              <a:rPr lang="en-US" sz="3600" b="0" err="1">
                <a:latin typeface="+mn-lt"/>
              </a:rPr>
              <a:t>GRAdd</a:t>
            </a:r>
            <a:r>
              <a:rPr lang="en-US" sz="3600" b="0">
                <a:latin typeface="+mn-lt"/>
              </a:rPr>
              <a:t> ablation forecasting and classification </a:t>
            </a:r>
          </a:p>
          <a:p>
            <a:pPr marL="288925" indent="-288925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>
                <a:latin typeface="+mn-lt"/>
              </a:rPr>
              <a:t>Performance was evaluated using held-out validation and test sets (60%/20%/20%)</a:t>
            </a:r>
          </a:p>
          <a:p>
            <a:pPr marL="288925" indent="-288925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600" b="0">
                <a:latin typeface="+mn-lt"/>
              </a:rPr>
              <a:t>Permutation importance estimates evaluated the importance of a given feature by shuffling and measuring drop in predictive performance </a:t>
            </a:r>
            <a:r>
              <a:rPr lang="en-US" sz="3600">
                <a:latin typeface="+mn-lt"/>
              </a:rPr>
              <a:t>(</a:t>
            </a:r>
            <a:r>
              <a:rPr lang="en-US" sz="3600" i="1">
                <a:latin typeface="+mn-lt"/>
              </a:rPr>
              <a:t>Figure 3</a:t>
            </a:r>
            <a:r>
              <a:rPr lang="en-US" sz="3600">
                <a:latin typeface="+mn-lt"/>
              </a:rPr>
              <a:t>)</a:t>
            </a:r>
          </a:p>
          <a:p>
            <a:pPr marL="288925" indent="-288925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3600" b="0">
              <a:latin typeface="+mn-lt"/>
            </a:endParaRPr>
          </a:p>
        </p:txBody>
      </p:sp>
      <p:sp>
        <p:nvSpPr>
          <p:cNvPr id="27" name="Text Box 18">
            <a:extLst>
              <a:ext uri="{FF2B5EF4-FFF2-40B4-BE49-F238E27FC236}">
                <a16:creationId xmlns:a16="http://schemas.microsoft.com/office/drawing/2014/main" id="{6643A470-696F-5025-512E-0E9916ADD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60846" y="30242517"/>
            <a:ext cx="2699398" cy="5481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25903" tIns="112951" rIns="225903" bIns="112951" anchor="ctr">
            <a:spAutoFit/>
          </a:bodyPr>
          <a:lstStyle>
            <a:lvl1pPr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2259013">
              <a:defRPr sz="5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defTabSz="2259013" eaLnBrk="0" fontAlgn="base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defRPr sz="5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600"/>
              <a:t>REFERENCES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5055EC-E5F2-FFB9-A56D-AFF08F0E457D}"/>
              </a:ext>
            </a:extLst>
          </p:cNvPr>
          <p:cNvSpPr txBox="1"/>
          <p:nvPr/>
        </p:nvSpPr>
        <p:spPr>
          <a:xfrm>
            <a:off x="11600290" y="29718000"/>
            <a:ext cx="29319110" cy="39934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0" lang="en-US" sz="3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IMM-TSF successfully extended from irregular multimodal forecasting to downstream binary classification in both healthcare and financial settings.</a:t>
            </a:r>
          </a:p>
          <a:p>
            <a:pPr marL="233045" indent="-233045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0" lang="en-US" sz="3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</a:rPr>
              <a:t>RA-</a:t>
            </a:r>
            <a:r>
              <a:rPr kumimoji="0" lang="en-US" sz="37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</a:rPr>
              <a:t>GRAdd</a:t>
            </a:r>
            <a:r>
              <a:rPr lang="en-US" sz="3700" b="0">
                <a:solidFill>
                  <a:srgbClr val="000000"/>
                </a:solidFill>
                <a:latin typeface="Times New Roman"/>
                <a:cs typeface="Times New Roman"/>
              </a:rPr>
              <a:t> models demonstrate</a:t>
            </a:r>
            <a:r>
              <a:rPr kumimoji="0" lang="en-US" sz="3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</a:rPr>
              <a:t> that incorporating text reliability signals before fusion improved asynchronous clinical and financial note usage, while </a:t>
            </a:r>
            <a:r>
              <a:rPr lang="en-US" sz="3700" b="0">
                <a:solidFill>
                  <a:srgbClr val="000000"/>
                </a:solidFill>
                <a:latin typeface="Times New Roman"/>
                <a:cs typeface="Times New Roman"/>
              </a:rPr>
              <a:t>maintaining</a:t>
            </a:r>
            <a:r>
              <a:rPr kumimoji="0" lang="en-US" sz="3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</a:rPr>
              <a:t> strong predictive performance and interpretability </a:t>
            </a:r>
            <a:r>
              <a:rPr kumimoji="0" lang="en-US" sz="370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</a:rPr>
              <a:t>(Table 2-3, Figure 2-5)</a:t>
            </a:r>
            <a:r>
              <a:rPr kumimoji="0" lang="en-US" sz="37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</a:rPr>
              <a:t>.</a:t>
            </a:r>
            <a:r>
              <a:rPr kumimoji="0" lang="en-US" sz="3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endParaRPr lang="en-US" sz="3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33363" indent="-233363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0" lang="en-US" sz="3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These results suggest that recency-aware gating in multimodal fusion is a promising strategy for extracting clinically and operationally meaningful signals from irregular, asynchronous, and missing-rich time series tabular and textual data, which can be used in both forecasting and classification</a:t>
            </a:r>
            <a:r>
              <a:rPr lang="en-US" sz="3700" b="0">
                <a:solidFill>
                  <a:srgbClr val="000000"/>
                </a:solidFill>
              </a:rPr>
              <a:t> tasks.</a:t>
            </a:r>
            <a:endParaRPr lang="en-US" sz="3700" b="0"/>
          </a:p>
          <a:p>
            <a:pPr marL="571500" indent="-57150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3600" b="0"/>
          </a:p>
          <a:p>
            <a:pPr marL="274320" lvl="0" indent="-274320" algn="l">
              <a:lnSpc>
                <a:spcPts val="39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23586EF-8D57-7369-E994-8E37BCFBAE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66400" y="609600"/>
            <a:ext cx="1905000" cy="1905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6C9D62D-1F99-5305-5218-C2C32FD626F8}"/>
              </a:ext>
            </a:extLst>
          </p:cNvPr>
          <p:cNvSpPr txBox="1"/>
          <p:nvPr/>
        </p:nvSpPr>
        <p:spPr>
          <a:xfrm>
            <a:off x="36240415" y="2798209"/>
            <a:ext cx="9098585" cy="344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i="1"/>
              <a:t>Nnenna                  Brandi                       Chad</a:t>
            </a:r>
            <a:endParaRPr lang="en-US" sz="2400" b="0" i="1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F1EC393-49C5-B1B9-A714-CCC0A14A91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69215" y="457200"/>
            <a:ext cx="2267491" cy="2254459"/>
          </a:xfrm>
          <a:prstGeom prst="rect">
            <a:avLst/>
          </a:prstGeom>
        </p:spPr>
      </p:pic>
      <p:pic>
        <p:nvPicPr>
          <p:cNvPr id="33" name="Picture 32" descr="A qr code with black dots&#10;&#10;AI-generated content may be incorrect.">
            <a:extLst>
              <a:ext uri="{FF2B5EF4-FFF2-40B4-BE49-F238E27FC236}">
                <a16:creationId xmlns:a16="http://schemas.microsoft.com/office/drawing/2014/main" id="{CDF36F5C-D4D9-1009-8A1F-B5A30936C4D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5200" y="30794724"/>
            <a:ext cx="1723848" cy="172384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C1007F3-97CB-F2C2-EC65-2D2CCA4537C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2200" y="479343"/>
            <a:ext cx="2267491" cy="2263857"/>
          </a:xfrm>
          <a:prstGeom prst="rect">
            <a:avLst/>
          </a:prstGeom>
        </p:spPr>
      </p:pic>
      <p:pic>
        <p:nvPicPr>
          <p:cNvPr id="52" name="Picture 26">
            <a:extLst>
              <a:ext uri="{FF2B5EF4-FFF2-40B4-BE49-F238E27FC236}">
                <a16:creationId xmlns:a16="http://schemas.microsoft.com/office/drawing/2014/main" id="{13DDD5B5-B541-87E0-8C06-55E78E9F158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1002" y="385594"/>
            <a:ext cx="8402052" cy="2677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1E353EA3-51E5-6FF1-D400-26137C4BB242}"/>
              </a:ext>
            </a:extLst>
          </p:cNvPr>
          <p:cNvSpPr txBox="1"/>
          <p:nvPr/>
        </p:nvSpPr>
        <p:spPr>
          <a:xfrm>
            <a:off x="18621560" y="3429000"/>
            <a:ext cx="7086600" cy="1355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/>
              <a:t>Advisor: Dr. Bin Luo, PhD</a:t>
            </a:r>
          </a:p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936E6B-5B7B-9D4F-A9B5-81D6C7B84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772888"/>
              </p:ext>
            </p:extLst>
          </p:nvPr>
        </p:nvGraphicFramePr>
        <p:xfrm>
          <a:off x="26954457" y="4164494"/>
          <a:ext cx="8534400" cy="8096506"/>
        </p:xfrm>
        <a:graphic>
          <a:graphicData uri="http://schemas.openxmlformats.org/drawingml/2006/table">
            <a:tbl>
              <a:tblPr/>
              <a:tblGrid>
                <a:gridCol w="1639315">
                  <a:extLst>
                    <a:ext uri="{9D8B030D-6E8A-4147-A177-3AD203B41FA5}">
                      <a16:colId xmlns:a16="http://schemas.microsoft.com/office/drawing/2014/main" val="347509223"/>
                    </a:ext>
                  </a:extLst>
                </a:gridCol>
                <a:gridCol w="2856485">
                  <a:extLst>
                    <a:ext uri="{9D8B030D-6E8A-4147-A177-3AD203B41FA5}">
                      <a16:colId xmlns:a16="http://schemas.microsoft.com/office/drawing/2014/main" val="3980417026"/>
                    </a:ext>
                  </a:extLst>
                </a:gridCol>
                <a:gridCol w="1235126">
                  <a:extLst>
                    <a:ext uri="{9D8B030D-6E8A-4147-A177-3AD203B41FA5}">
                      <a16:colId xmlns:a16="http://schemas.microsoft.com/office/drawing/2014/main" val="3985619348"/>
                    </a:ext>
                  </a:extLst>
                </a:gridCol>
                <a:gridCol w="920791">
                  <a:extLst>
                    <a:ext uri="{9D8B030D-6E8A-4147-A177-3AD203B41FA5}">
                      <a16:colId xmlns:a16="http://schemas.microsoft.com/office/drawing/2014/main" val="1945792390"/>
                    </a:ext>
                  </a:extLst>
                </a:gridCol>
                <a:gridCol w="1173832">
                  <a:extLst>
                    <a:ext uri="{9D8B030D-6E8A-4147-A177-3AD203B41FA5}">
                      <a16:colId xmlns:a16="http://schemas.microsoft.com/office/drawing/2014/main" val="403839876"/>
                    </a:ext>
                  </a:extLst>
                </a:gridCol>
                <a:gridCol w="708851">
                  <a:extLst>
                    <a:ext uri="{9D8B030D-6E8A-4147-A177-3AD203B41FA5}">
                      <a16:colId xmlns:a16="http://schemas.microsoft.com/office/drawing/2014/main" val="2738948510"/>
                    </a:ext>
                  </a:extLst>
                </a:gridCol>
              </a:tblGrid>
              <a:tr h="1011895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t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Model Reproduction Results </a:t>
                      </a:r>
                    </a:p>
                  </a:txBody>
                  <a:tcPr marL="6350" marR="6350" marT="63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Multimodal MSE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Unimodal MSE 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756834"/>
                  </a:ext>
                </a:extLst>
              </a:tr>
              <a:tr h="8418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Dataset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Irregularity Type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Paper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Ours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Paper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Ours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92460"/>
                  </a:ext>
                </a:extLst>
              </a:tr>
              <a:tr h="13526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GDELT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Trigger-Based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</a:t>
                      </a:r>
                      <a:r>
                        <a:rPr lang="en-US" sz="2400">
                          <a:latin typeface="+mn-lt"/>
                        </a:rPr>
                        <a:t>Event-Based Logging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1.03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1.02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1.03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1.04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921678"/>
                  </a:ext>
                </a:extLst>
              </a:tr>
              <a:tr h="11858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FNSPID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Artifact-Based 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2400">
                          <a:latin typeface="+mn-lt"/>
                        </a:rPr>
                        <a:t>Operational Window Sampling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)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0.12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0.16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0.12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0.16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99887"/>
                  </a:ext>
                </a:extLst>
              </a:tr>
              <a:tr h="12347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CLUSTER TRACE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Artifact-Based 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2400">
                          <a:latin typeface="+mn-lt"/>
                        </a:rPr>
                        <a:t>Resource-Aware Collection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0.61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0.85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0.98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0.87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850367"/>
                  </a:ext>
                </a:extLst>
              </a:tr>
              <a:tr h="12347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CESNET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Constraint-Based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2400">
                          <a:latin typeface="+mn-lt"/>
                        </a:rPr>
                        <a:t>Scheduling Jitter / Delay</a:t>
                      </a: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0.91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0.96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0.98</a:t>
                      </a:r>
                    </a:p>
                  </a:txBody>
                  <a:tcPr marL="6350" marR="6350" marT="635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1.03</a:t>
                      </a:r>
                    </a:p>
                  </a:txBody>
                  <a:tcPr marL="6350" marR="6350" marT="635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621506"/>
                  </a:ext>
                </a:extLst>
              </a:tr>
              <a:tr h="12347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MIMIC-IV</a:t>
                      </a:r>
                    </a:p>
                  </a:txBody>
                  <a:tcPr marL="6350" marR="6350" marT="6350" anchor="b">
                    <a:lnL w="1270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Trigger-Based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(Event-Based Logging)</a:t>
                      </a:r>
                      <a:endParaRPr lang="en-US" sz="2400">
                        <a:latin typeface="+mn-lt"/>
                      </a:endParaRPr>
                    </a:p>
                  </a:txBody>
                  <a:tcPr marL="6350" marR="6350" marT="6350" anchor="b">
                    <a:lnL w="635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0.77</a:t>
                      </a:r>
                    </a:p>
                  </a:txBody>
                  <a:tcPr marL="6350" marR="6350" marT="6350" anchor="b">
                    <a:lnL w="1270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0.74</a:t>
                      </a:r>
                    </a:p>
                  </a:txBody>
                  <a:tcPr marL="6350" marR="6350" marT="6350" anchor="b">
                    <a:lnL w="635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0.73</a:t>
                      </a:r>
                    </a:p>
                  </a:txBody>
                  <a:tcPr marL="6350" marR="6350" marT="6350" anchor="b">
                    <a:lnL w="1270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ptos"/>
                        </a:defRPr>
                      </a:lvl9pPr>
                    </a:lstStyle>
                    <a:p>
                      <a:pPr lvl="0" 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0.74</a:t>
                      </a:r>
                    </a:p>
                  </a:txBody>
                  <a:tcPr marL="6350" marR="6350" marT="6350" anchor="b">
                    <a:lnL w="635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131304"/>
                  </a:ext>
                </a:extLst>
              </a:tr>
            </a:tbl>
          </a:graphicData>
        </a:graphic>
      </p:graphicFrame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3AE0460-7E51-E56E-7695-7C736199221E}"/>
              </a:ext>
            </a:extLst>
          </p:cNvPr>
          <p:cNvSpPr/>
          <p:nvPr/>
        </p:nvSpPr>
        <p:spPr bwMode="auto">
          <a:xfrm>
            <a:off x="29718000" y="6779205"/>
            <a:ext cx="3249887" cy="1678995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2259013" rtl="0" eaLnBrk="0" fontAlgn="base" latinLnBrk="0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D2C6AD-40D7-80CD-C8D0-E769C510D1B1}"/>
              </a:ext>
            </a:extLst>
          </p:cNvPr>
          <p:cNvSpPr txBox="1"/>
          <p:nvPr/>
        </p:nvSpPr>
        <p:spPr>
          <a:xfrm>
            <a:off x="30975770" y="28422600"/>
            <a:ext cx="12229630" cy="428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/>
              <a:t>Table 3.</a:t>
            </a:r>
            <a:r>
              <a:rPr lang="en-US" sz="3200" b="0" i="1"/>
              <a:t> Final Mortality Classification Model Results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5C2A5558-9469-70E8-6A94-358436A69765}"/>
              </a:ext>
            </a:extLst>
          </p:cNvPr>
          <p:cNvSpPr txBox="1"/>
          <p:nvPr/>
        </p:nvSpPr>
        <p:spPr>
          <a:xfrm>
            <a:off x="13068770" y="28334960"/>
            <a:ext cx="12229630" cy="428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/>
              <a:t>Table 2.</a:t>
            </a:r>
            <a:r>
              <a:rPr lang="en-US" sz="3200" b="0" i="1"/>
              <a:t> Final Financial Classification Model Results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A57311DA-13F9-D0C6-B9A4-7714A5111289}"/>
              </a:ext>
            </a:extLst>
          </p:cNvPr>
          <p:cNvSpPr txBox="1"/>
          <p:nvPr/>
        </p:nvSpPr>
        <p:spPr>
          <a:xfrm>
            <a:off x="13248914" y="23677328"/>
            <a:ext cx="128876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/>
              <a:t>Figure 3.</a:t>
            </a:r>
            <a:r>
              <a:rPr lang="en-US" sz="3200" b="0" i="1"/>
              <a:t> Permutation Feature Importance from Mortality Classification with Text Embedding Interpretations</a:t>
            </a:r>
            <a:endParaRPr lang="en-US" sz="2400" b="0" i="1"/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6FF5BD3B-7CA2-1298-BF8A-405642C8788B}"/>
              </a:ext>
            </a:extLst>
          </p:cNvPr>
          <p:cNvSpPr txBox="1"/>
          <p:nvPr/>
        </p:nvSpPr>
        <p:spPr>
          <a:xfrm>
            <a:off x="36181458" y="14660940"/>
            <a:ext cx="77097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/>
              <a:t>Figure 2.</a:t>
            </a:r>
            <a:r>
              <a:rPr lang="en-US" sz="3200" b="0" i="1"/>
              <a:t> Confusion Matrices for         	Classification of 1.Mortality 	       and 2.Financial Return Binary Direction</a:t>
            </a:r>
            <a:endParaRPr lang="en-US" sz="2400" b="0" i="1"/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7339D244-D446-2782-B8B6-E65175417F5D}"/>
              </a:ext>
            </a:extLst>
          </p:cNvPr>
          <p:cNvSpPr txBox="1"/>
          <p:nvPr/>
        </p:nvSpPr>
        <p:spPr>
          <a:xfrm>
            <a:off x="36091953" y="22848919"/>
            <a:ext cx="75211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/>
              <a:t>Figure 5.</a:t>
            </a:r>
            <a:r>
              <a:rPr lang="en-US" sz="3200" b="0" i="1"/>
              <a:t> Best Model: Financial RA-</a:t>
            </a:r>
            <a:r>
              <a:rPr lang="en-US" sz="3200" b="0" i="1" err="1"/>
              <a:t>GRAdd</a:t>
            </a:r>
            <a:r>
              <a:rPr lang="en-US" sz="3200" b="0" i="1"/>
              <a:t> Classification AUROC</a:t>
            </a:r>
            <a:endParaRPr lang="en-US" sz="2400" b="0" i="1"/>
          </a:p>
        </p:txBody>
      </p:sp>
      <p:graphicFrame>
        <p:nvGraphicFramePr>
          <p:cNvPr id="1065" name="Object 1064">
            <a:extLst>
              <a:ext uri="{FF2B5EF4-FFF2-40B4-BE49-F238E27FC236}">
                <a16:creationId xmlns:a16="http://schemas.microsoft.com/office/drawing/2014/main" id="{7C27F4C8-4890-5A4C-AE3C-392FF61200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820305"/>
              </p:ext>
            </p:extLst>
          </p:nvPr>
        </p:nvGraphicFramePr>
        <p:xfrm>
          <a:off x="18651785" y="15993526"/>
          <a:ext cx="7484815" cy="716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2" imgW="10261600" imgH="10693518" progId="Excel.Sheet.12">
                  <p:embed/>
                </p:oleObj>
              </mc:Choice>
              <mc:Fallback>
                <p:oleObj name="Worksheet" r:id="rId12" imgW="10261600" imgH="10693518" progId="Excel.Sheet.12">
                  <p:embed/>
                  <p:pic>
                    <p:nvPicPr>
                      <p:cNvPr id="1065" name="Object 1064">
                        <a:extLst>
                          <a:ext uri="{FF2B5EF4-FFF2-40B4-BE49-F238E27FC236}">
                            <a16:creationId xmlns:a16="http://schemas.microsoft.com/office/drawing/2014/main" id="{7C27F4C8-4890-5A4C-AE3C-392FF61200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651785" y="15993526"/>
                        <a:ext cx="7484815" cy="7162800"/>
                      </a:xfrm>
                      <a:prstGeom prst="rect">
                        <a:avLst/>
                      </a:prstGeom>
                      <a:ln w="31750">
                        <a:solidFill>
                          <a:srgbClr val="DAE9F8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0" name="TextBox 1039">
            <a:extLst>
              <a:ext uri="{FF2B5EF4-FFF2-40B4-BE49-F238E27FC236}">
                <a16:creationId xmlns:a16="http://schemas.microsoft.com/office/drawing/2014/main" id="{CEE991C5-A915-1AAD-613F-F920BC34249B}"/>
              </a:ext>
            </a:extLst>
          </p:cNvPr>
          <p:cNvSpPr txBox="1"/>
          <p:nvPr/>
        </p:nvSpPr>
        <p:spPr>
          <a:xfrm>
            <a:off x="27328002" y="22846370"/>
            <a:ext cx="803720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/>
              <a:t>Figure 4.</a:t>
            </a:r>
            <a:r>
              <a:rPr lang="en-US" sz="3200" b="0" i="1"/>
              <a:t> Best Model: Mortality RA-</a:t>
            </a:r>
            <a:r>
              <a:rPr lang="en-US" sz="3200" b="0" i="1" err="1"/>
              <a:t>GRAdd</a:t>
            </a:r>
            <a:r>
              <a:rPr lang="en-US" sz="3200" b="0" i="1"/>
              <a:t> Classification AUROC</a:t>
            </a:r>
            <a:endParaRPr lang="en-US" sz="3200"/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400" b="0" i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586C1F-9518-A0ED-F44B-F16A1B8F31A8}"/>
              </a:ext>
            </a:extLst>
          </p:cNvPr>
          <p:cNvSpPr txBox="1"/>
          <p:nvPr/>
        </p:nvSpPr>
        <p:spPr>
          <a:xfrm>
            <a:off x="11655696" y="12115800"/>
            <a:ext cx="14331410" cy="10772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/>
              <a:t>Figure 1</a:t>
            </a:r>
            <a:r>
              <a:rPr lang="en-US" sz="3200" b="0" i="1"/>
              <a:t>. Irregular time series model framework with RA-</a:t>
            </a:r>
            <a:r>
              <a:rPr lang="en-US" sz="3200" b="0" i="1" err="1"/>
              <a:t>GRAdd</a:t>
            </a:r>
            <a:r>
              <a:rPr lang="en-US" sz="3200" b="0" i="1"/>
              <a:t> and Classifier Extensions of Chang et al., 2025 IMM-TSF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DA54F2F-0CFB-814E-C1F2-B7F50D0E2C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169428"/>
              </p:ext>
            </p:extLst>
          </p:nvPr>
        </p:nvGraphicFramePr>
        <p:xfrm>
          <a:off x="28044441" y="24756138"/>
          <a:ext cx="15681769" cy="3482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4" imgW="9067918" imgH="2279620" progId="Excel.Sheet.12">
                  <p:embed/>
                </p:oleObj>
              </mc:Choice>
              <mc:Fallback>
                <p:oleObj name="Worksheet" r:id="rId14" imgW="9067918" imgH="2279620" progId="Excel.Shee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DA54F2F-0CFB-814E-C1F2-B7F50D0E2C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8044441" y="24756138"/>
                        <a:ext cx="15681769" cy="34822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CE33461E-8FF4-E58D-145A-834027322D1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552864" y="3552995"/>
            <a:ext cx="6370872" cy="1122980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5EEEAE-4F23-983E-CC57-7A95D66C2040}"/>
              </a:ext>
            </a:extLst>
          </p:cNvPr>
          <p:cNvSpPr/>
          <p:nvPr/>
        </p:nvSpPr>
        <p:spPr bwMode="auto">
          <a:xfrm>
            <a:off x="37490400" y="9448800"/>
            <a:ext cx="2362200" cy="23622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2259013" rtl="0" eaLnBrk="0" fontAlgn="base" latinLnBrk="0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8450B4-1D62-C656-6443-AAC2B35D2339}"/>
              </a:ext>
            </a:extLst>
          </p:cNvPr>
          <p:cNvSpPr/>
          <p:nvPr/>
        </p:nvSpPr>
        <p:spPr bwMode="auto">
          <a:xfrm>
            <a:off x="37490400" y="9372600"/>
            <a:ext cx="2438400" cy="2438400"/>
          </a:xfrm>
          <a:prstGeom prst="rect">
            <a:avLst/>
          </a:prstGeom>
          <a:solidFill>
            <a:srgbClr val="FDE724"/>
          </a:solidFill>
          <a:ln w="28575" cap="flat" cmpd="sng" algn="ctr">
            <a:solidFill>
              <a:srgbClr val="4E470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2259013" rtl="0" eaLnBrk="0" fontAlgn="base" latinLnBrk="0" hangingPunct="0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5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F459FF-995B-3CA4-D894-BE1B33F8AA68}"/>
              </a:ext>
            </a:extLst>
          </p:cNvPr>
          <p:cNvSpPr txBox="1"/>
          <p:nvPr/>
        </p:nvSpPr>
        <p:spPr>
          <a:xfrm>
            <a:off x="37871400" y="10210800"/>
            <a:ext cx="1600200" cy="6597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137</a:t>
            </a:r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9C9C098-3EF7-A752-571B-8076858EC44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277925" y="13801549"/>
            <a:ext cx="10363380" cy="197713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84DDD55-12B4-B898-DEEB-E67679A373B6}"/>
              </a:ext>
            </a:extLst>
          </p:cNvPr>
          <p:cNvSpPr txBox="1"/>
          <p:nvPr/>
        </p:nvSpPr>
        <p:spPr>
          <a:xfrm>
            <a:off x="26262925" y="15499219"/>
            <a:ext cx="98478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i="1"/>
              <a:t>Table 2.</a:t>
            </a:r>
            <a:r>
              <a:rPr lang="en-US" sz="3200" b="0" i="1"/>
              <a:t> Forecasting Best Models: RA-</a:t>
            </a:r>
            <a:r>
              <a:rPr lang="en-US" sz="3200" b="0" i="1" err="1"/>
              <a:t>GRAdd</a:t>
            </a:r>
            <a:r>
              <a:rPr lang="en-US" sz="3200" b="0" i="1"/>
              <a:t> vs GR-Add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8A04B83-362B-0E57-A2D9-DB9E20B75FD8}"/>
              </a:ext>
            </a:extLst>
          </p:cNvPr>
          <p:cNvCxnSpPr/>
          <p:nvPr/>
        </p:nvCxnSpPr>
        <p:spPr bwMode="auto">
          <a:xfrm>
            <a:off x="36228781" y="15259050"/>
            <a:ext cx="528203" cy="0"/>
          </a:xfrm>
          <a:prstGeom prst="line">
            <a:avLst/>
          </a:prstGeom>
          <a:noFill/>
          <a:ln w="38100" cap="flat" cmpd="sng" algn="ctr">
            <a:solidFill>
              <a:srgbClr val="373737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2" name="Picture 31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4C65EC8A-65B6-5E68-2172-AD8BE761F2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91955" y="24760238"/>
            <a:ext cx="15850262" cy="3482920"/>
          </a:xfrm>
          <a:prstGeom prst="rect">
            <a:avLst/>
          </a:prstGeom>
        </p:spPr>
      </p:pic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3F8B3B74-9D81-51DD-D47A-DC51A089DA99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4290" t="11806" r="4748" b="500"/>
          <a:stretch>
            <a:fillRect/>
          </a:stretch>
        </p:blipFill>
        <p:spPr>
          <a:xfrm>
            <a:off x="35486041" y="16697507"/>
            <a:ext cx="8403668" cy="60003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2259013" rtl="0" eaLnBrk="0" fontAlgn="base" latinLnBrk="0" hangingPunct="0">
          <a:lnSpc>
            <a:spcPct val="65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5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2259013" rtl="0" eaLnBrk="0" fontAlgn="base" latinLnBrk="0" hangingPunct="0">
          <a:lnSpc>
            <a:spcPct val="65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5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98DC2606335A4E9AA6ABC9A026BDB7" ma:contentTypeVersion="13" ma:contentTypeDescription="Create a new document." ma:contentTypeScope="" ma:versionID="a8d52ce5e6b69da79db1ec4f98cf0d4e">
  <xsd:schema xmlns:xsd="http://www.w3.org/2001/XMLSchema" xmlns:xs="http://www.w3.org/2001/XMLSchema" xmlns:p="http://schemas.microsoft.com/office/2006/metadata/properties" xmlns:ns3="3bcfc9f0-4e11-443a-bbfd-24857bbb4ee2" xmlns:ns4="e2f0b8c8-5a0b-4ae9-b6d0-e730ed024312" targetNamespace="http://schemas.microsoft.com/office/2006/metadata/properties" ma:root="true" ma:fieldsID="832b74e7aa182fdda20e537cb9e18e6c" ns3:_="" ns4:_="">
    <xsd:import namespace="3bcfc9f0-4e11-443a-bbfd-24857bbb4ee2"/>
    <xsd:import namespace="e2f0b8c8-5a0b-4ae9-b6d0-e730ed02431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cfc9f0-4e11-443a-bbfd-24857bbb4e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f0b8c8-5a0b-4ae9-b6d0-e730ed02431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bcfc9f0-4e11-443a-bbfd-24857bbb4ee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6D1D63-9588-4770-AB3B-963120A446F2}">
  <ds:schemaRefs>
    <ds:schemaRef ds:uri="3bcfc9f0-4e11-443a-bbfd-24857bbb4ee2"/>
    <ds:schemaRef ds:uri="e2f0b8c8-5a0b-4ae9-b6d0-e730ed02431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E7B7C08-3F81-4C42-A477-1D889769CE2C}">
  <ds:schemaRefs>
    <ds:schemaRef ds:uri="3bcfc9f0-4e11-443a-bbfd-24857bbb4ee2"/>
    <ds:schemaRef ds:uri="e2f0b8c8-5a0b-4ae9-b6d0-e730ed02431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5F29616-F05C-42B8-B1A8-60D74B3F850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Default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Stephen J. Kinzey, Ph.D.</dc:creator>
  <cp:revision>1</cp:revision>
  <dcterms:created xsi:type="dcterms:W3CDTF">1999-06-15T14:29:13Z</dcterms:created>
  <dcterms:modified xsi:type="dcterms:W3CDTF">2026-04-19T23:59:10Z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0x010100DC98DC2606335A4E9AA6ABC9A026BDB7</vt:lpwstr>
  </property>
</Properties>
</file>