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2" r:id="rId5"/>
  </p:sldMasterIdLst>
  <p:notesMasterIdLst>
    <p:notesMasterId r:id="rId26"/>
  </p:notesMasterIdLst>
  <p:sldIdLst>
    <p:sldId id="256" r:id="rId6"/>
    <p:sldId id="257" r:id="rId7"/>
    <p:sldId id="264" r:id="rId8"/>
    <p:sldId id="262" r:id="rId9"/>
    <p:sldId id="259" r:id="rId10"/>
    <p:sldId id="261" r:id="rId11"/>
    <p:sldId id="265" r:id="rId12"/>
    <p:sldId id="266" r:id="rId13"/>
    <p:sldId id="263" r:id="rId14"/>
    <p:sldId id="260" r:id="rId15"/>
    <p:sldId id="275" r:id="rId16"/>
    <p:sldId id="276" r:id="rId17"/>
    <p:sldId id="277" r:id="rId18"/>
    <p:sldId id="279" r:id="rId19"/>
    <p:sldId id="281" r:id="rId20"/>
    <p:sldId id="268" r:id="rId21"/>
    <p:sldId id="267" r:id="rId22"/>
    <p:sldId id="278" r:id="rId23"/>
    <p:sldId id="280" r:id="rId24"/>
    <p:sldId id="273"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0"/>
    <a:srgbClr val="DED5E5"/>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44" y="-8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884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2 script:
On the execution side, I will keep the project staged. First, I will replicate the official benchmark on a small but diverse subset of TIME-IMM, probably MIMIC, ClusterTrace, and one of FNSPID or EPA-Air. I will follow the paper’s split, sliding-window setup, and core fusion baselines so the reproduction is faithful. Second, I will frame the application around healthcare by asking when clinical text helps most in MIMIC. Third, I will implement RA-GRAdd, a reliability-aware version of the paper’s GR-Add fusion that uses recency, note density, missingness, and time-series/text alignment to decide how much text should affect the forecast. Evaluation will use MSE first, then MAE and ablation studies.
[Sources]
- User-uploaded paper: Time-IMM.pdf, pages 2-9 (dataset taxonomy, IMM-TSF architecture, TTF/MMF variants, experimental setup, and ablation findings).
- User-uploaded class slides: Class Project.pptx, slides titled “Proposal &amp; Weekly Progress Check”, “Final Project Report”, and “Code”.
- GitHub README for IMM-TSF documenting main.py, compute_text_embeddings.py, main_all.sh, and MIMIC preprocessing: https://github.com/blacksnail789521/IMM-TSF
- GitHub README for Time-IMM documenting the released 8 datasets and local MIMIC preprocessing requirement: https://github.com/blacksnail789521/Time-IMM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sz="1200" b="0" i="0" u="none" strike="noStrike" kern="1200" baseline="0">
                <a:solidFill>
                  <a:schemeClr val="tx1"/>
                </a:solidFill>
                <a:latin typeface="+mn-lt"/>
                <a:ea typeface="+mn-ea"/>
                <a:cs typeface="+mn-cs"/>
              </a:rPr>
              <a:t>the original TIMEIMM</a:t>
            </a:r>
          </a:p>
          <a:p>
            <a:r>
              <a:rPr lang="en-US" sz="1200" b="0" i="0" u="none" strike="noStrike" kern="1200" baseline="0">
                <a:solidFill>
                  <a:schemeClr val="tx1"/>
                </a:solidFill>
                <a:latin typeface="+mn-lt"/>
                <a:ea typeface="+mn-ea"/>
                <a:cs typeface="+mn-cs"/>
              </a:rPr>
              <a:t>/ IMM-TSF forecasting framework was reproduced as closely as possible</a:t>
            </a:r>
          </a:p>
          <a:p>
            <a:r>
              <a:rPr lang="en-US" sz="1200" b="0" i="0" u="none" strike="noStrike" kern="1200" baseline="0">
                <a:solidFill>
                  <a:schemeClr val="tx1"/>
                </a:solidFill>
                <a:latin typeface="+mn-lt"/>
                <a:ea typeface="+mn-ea"/>
                <a:cs typeface="+mn-cs"/>
              </a:rPr>
              <a:t>using the official repository structure, preserving the modular pipeline consisting</a:t>
            </a:r>
          </a:p>
          <a:p>
            <a:r>
              <a:rPr lang="en-US" sz="1200" b="0" i="0" u="none" strike="noStrike" kern="1200" baseline="0">
                <a:solidFill>
                  <a:schemeClr val="tx1"/>
                </a:solidFill>
                <a:latin typeface="+mn-lt"/>
                <a:ea typeface="+mn-ea"/>
                <a:cs typeface="+mn-cs"/>
              </a:rPr>
              <a:t>of an irregular time-series backbone, a timestamp-to-text fusion module, and</a:t>
            </a:r>
          </a:p>
          <a:p>
            <a:r>
              <a:rPr lang="en-US" sz="1200" b="0" i="0" u="none" strike="noStrike" kern="1200" baseline="0">
                <a:solidFill>
                  <a:schemeClr val="tx1"/>
                </a:solidFill>
                <a:latin typeface="+mn-lt"/>
                <a:ea typeface="+mn-ea"/>
                <a:cs typeface="+mn-cs"/>
              </a:rPr>
              <a:t>a multimodality fusion module. Second, this framework was extended from</a:t>
            </a:r>
          </a:p>
          <a:p>
            <a:r>
              <a:rPr lang="en-US" sz="1200" b="0" i="0" u="none" strike="noStrike" kern="1200" baseline="0">
                <a:solidFill>
                  <a:schemeClr val="tx1"/>
                </a:solidFill>
                <a:latin typeface="+mn-lt"/>
                <a:ea typeface="+mn-ea"/>
                <a:cs typeface="+mn-cs"/>
              </a:rPr>
              <a:t>irregular multimodal forecasting to binary ICU readmission classification on</a:t>
            </a:r>
          </a:p>
          <a:p>
            <a:r>
              <a:rPr lang="en-US" sz="1200" b="0" i="0" u="none" strike="noStrike" kern="1200" baseline="0">
                <a:solidFill>
                  <a:schemeClr val="tx1"/>
                </a:solidFill>
                <a:latin typeface="+mn-lt"/>
                <a:ea typeface="+mn-ea"/>
                <a:cs typeface="+mn-cs"/>
              </a:rPr>
              <a:t>MIMIC by retaining the core multimodal representation learning strategy while</a:t>
            </a:r>
          </a:p>
          <a:p>
            <a:r>
              <a:rPr lang="en-US" sz="1200" b="0" i="0" u="none" strike="noStrike" kern="1200" baseline="0">
                <a:solidFill>
                  <a:schemeClr val="tx1"/>
                </a:solidFill>
                <a:latin typeface="+mn-lt"/>
                <a:ea typeface="+mn-ea"/>
                <a:cs typeface="+mn-cs"/>
              </a:rPr>
              <a:t>replacing the forecasting head with a binary classification head.</a:t>
            </a:r>
          </a:p>
          <a:p>
            <a:r>
              <a:rPr lang="en-US" sz="1200" b="0" i="0" u="none" strike="noStrike" kern="1200" baseline="0">
                <a:solidFill>
                  <a:schemeClr val="tx1"/>
                </a:solidFill>
                <a:latin typeface="+mn-lt"/>
                <a:ea typeface="+mn-ea"/>
                <a:cs typeface="+mn-cs"/>
              </a:rPr>
              <a:t>Let</a:t>
            </a:r>
          </a:p>
          <a:p>
            <a:r>
              <a:rPr lang="it-IT" sz="1200" b="0" i="0" u="none" strike="noStrike" kern="1200" baseline="0">
                <a:solidFill>
                  <a:schemeClr val="tx1"/>
                </a:solidFill>
                <a:latin typeface="+mn-lt"/>
                <a:ea typeface="+mn-ea"/>
                <a:cs typeface="+mn-cs"/>
              </a:rPr>
              <a:t>X = {(ti, xi,mi)}T</a:t>
            </a:r>
          </a:p>
          <a:p>
            <a:r>
              <a:rPr lang="en-US" sz="1200" b="0" i="0" u="none" strike="noStrike" kern="1200" baseline="0" err="1">
                <a:solidFill>
                  <a:schemeClr val="tx1"/>
                </a:solidFill>
                <a:latin typeface="+mn-lt"/>
                <a:ea typeface="+mn-ea"/>
                <a:cs typeface="+mn-cs"/>
              </a:rPr>
              <a:t>i</a:t>
            </a:r>
            <a:r>
              <a:rPr lang="en-US" sz="1200" b="0" i="0" u="none" strike="noStrike" kern="1200" baseline="0">
                <a:solidFill>
                  <a:schemeClr val="tx1"/>
                </a:solidFill>
                <a:latin typeface="+mn-lt"/>
                <a:ea typeface="+mn-ea"/>
                <a:cs typeface="+mn-cs"/>
              </a:rPr>
              <a:t>=1</a:t>
            </a:r>
          </a:p>
          <a:p>
            <a:r>
              <a:rPr lang="en-US" sz="1200" b="0" i="0" u="none" strike="noStrike" kern="1200" baseline="0">
                <a:solidFill>
                  <a:schemeClr val="tx1"/>
                </a:solidFill>
                <a:latin typeface="+mn-lt"/>
                <a:ea typeface="+mn-ea"/>
                <a:cs typeface="+mn-cs"/>
              </a:rPr>
              <a:t>denote the irregular structured time-series history for a patient window, where</a:t>
            </a:r>
          </a:p>
          <a:p>
            <a:r>
              <a:rPr lang="en-US" sz="1200" b="0" i="0" u="none" strike="noStrike" kern="1200" baseline="0" err="1">
                <a:solidFill>
                  <a:schemeClr val="tx1"/>
                </a:solidFill>
                <a:latin typeface="+mn-lt"/>
                <a:ea typeface="+mn-ea"/>
                <a:cs typeface="+mn-cs"/>
              </a:rPr>
              <a:t>ti</a:t>
            </a:r>
            <a:r>
              <a:rPr lang="en-US" sz="1200" b="0" i="0" u="none" strike="noStrike" kern="1200" baseline="0">
                <a:solidFill>
                  <a:schemeClr val="tx1"/>
                </a:solidFill>
                <a:latin typeface="+mn-lt"/>
                <a:ea typeface="+mn-ea"/>
                <a:cs typeface="+mn-cs"/>
              </a:rPr>
              <a:t> is the observation time, xi ∈ RF is the feature vector, and mi ∈ {0, 1}F is</a:t>
            </a:r>
          </a:p>
          <a:p>
            <a:r>
              <a:rPr lang="en-US" sz="1200" b="0" i="0" u="none" strike="noStrike" kern="1200" baseline="0">
                <a:solidFill>
                  <a:schemeClr val="tx1"/>
                </a:solidFill>
                <a:latin typeface="+mn-lt"/>
                <a:ea typeface="+mn-ea"/>
                <a:cs typeface="+mn-cs"/>
              </a:rPr>
              <a:t>the observation mask. Let</a:t>
            </a:r>
          </a:p>
          <a:p>
            <a:r>
              <a:rPr lang="en-US" sz="1200" b="0" i="0" u="none" strike="noStrike" kern="1200" baseline="0">
                <a:solidFill>
                  <a:schemeClr val="tx1"/>
                </a:solidFill>
                <a:latin typeface="+mn-lt"/>
                <a:ea typeface="+mn-ea"/>
                <a:cs typeface="+mn-cs"/>
              </a:rPr>
              <a:t>S = {(</a:t>
            </a:r>
            <a:r>
              <a:rPr lang="el-GR" sz="1200" b="0" i="0" u="none" strike="noStrike" kern="1200" baseline="0">
                <a:solidFill>
                  <a:schemeClr val="tx1"/>
                </a:solidFill>
                <a:latin typeface="+mn-lt"/>
                <a:ea typeface="+mn-ea"/>
                <a:cs typeface="+mn-cs"/>
              </a:rPr>
              <a:t>τ</a:t>
            </a:r>
            <a:r>
              <a:rPr lang="en-US" sz="1200" b="0" i="0" u="none" strike="noStrike" kern="1200" baseline="0">
                <a:solidFill>
                  <a:schemeClr val="tx1"/>
                </a:solidFill>
                <a:latin typeface="+mn-lt"/>
                <a:ea typeface="+mn-ea"/>
                <a:cs typeface="+mn-cs"/>
              </a:rPr>
              <a:t>j , </a:t>
            </a:r>
            <a:r>
              <a:rPr lang="en-US" sz="1200" b="0" i="0" u="none" strike="noStrike" kern="1200" baseline="0" err="1">
                <a:solidFill>
                  <a:schemeClr val="tx1"/>
                </a:solidFill>
                <a:latin typeface="+mn-lt"/>
                <a:ea typeface="+mn-ea"/>
                <a:cs typeface="+mn-cs"/>
              </a:rPr>
              <a:t>sj</a:t>
            </a:r>
            <a:r>
              <a:rPr lang="en-US" sz="1200" b="0" i="0" u="none" strike="noStrike" kern="1200" baseline="0">
                <a:solidFill>
                  <a:schemeClr val="tx1"/>
                </a:solidFill>
                <a:latin typeface="+mn-lt"/>
                <a:ea typeface="+mn-ea"/>
                <a:cs typeface="+mn-cs"/>
              </a:rPr>
              <a:t>)}L</a:t>
            </a:r>
          </a:p>
          <a:p>
            <a:r>
              <a:rPr lang="en-US" sz="1200" b="0" i="0" u="none" strike="noStrike" kern="1200" baseline="0">
                <a:solidFill>
                  <a:schemeClr val="tx1"/>
                </a:solidFill>
                <a:latin typeface="+mn-lt"/>
                <a:ea typeface="+mn-ea"/>
                <a:cs typeface="+mn-cs"/>
              </a:rPr>
              <a:t>j=1</a:t>
            </a:r>
          </a:p>
          <a:p>
            <a:r>
              <a:rPr lang="en-US" sz="1200" b="0" i="0" u="none" strike="noStrike" kern="1200" baseline="0">
                <a:solidFill>
                  <a:schemeClr val="tx1"/>
                </a:solidFill>
                <a:latin typeface="+mn-lt"/>
                <a:ea typeface="+mn-ea"/>
                <a:cs typeface="+mn-cs"/>
              </a:rPr>
              <a:t>denote the asynchronous clinical text stream, where </a:t>
            </a:r>
            <a:r>
              <a:rPr lang="en-US" sz="1200" b="0" i="0" u="none" strike="noStrike" kern="1200" baseline="0" err="1">
                <a:solidFill>
                  <a:schemeClr val="tx1"/>
                </a:solidFill>
                <a:latin typeface="+mn-lt"/>
                <a:ea typeface="+mn-ea"/>
                <a:cs typeface="+mn-cs"/>
              </a:rPr>
              <a:t>τj</a:t>
            </a:r>
            <a:r>
              <a:rPr lang="en-US" sz="1200" b="0" i="0" u="none" strike="noStrike" kern="1200" baseline="0">
                <a:solidFill>
                  <a:schemeClr val="tx1"/>
                </a:solidFill>
                <a:latin typeface="+mn-lt"/>
                <a:ea typeface="+mn-ea"/>
                <a:cs typeface="+mn-cs"/>
              </a:rPr>
              <a:t> is the note time and </a:t>
            </a:r>
            <a:r>
              <a:rPr lang="en-US" sz="1200" b="0" i="0" u="none" strike="noStrike" kern="1200" baseline="0" err="1">
                <a:solidFill>
                  <a:schemeClr val="tx1"/>
                </a:solidFill>
                <a:latin typeface="+mn-lt"/>
                <a:ea typeface="+mn-ea"/>
                <a:cs typeface="+mn-cs"/>
              </a:rPr>
              <a:t>sj</a:t>
            </a:r>
            <a:endParaRPr lang="en-US" sz="1200" b="0" i="0" u="none" strike="noStrike" kern="1200" baseline="0">
              <a:solidFill>
                <a:schemeClr val="tx1"/>
              </a:solidFill>
              <a:latin typeface="+mn-lt"/>
              <a:ea typeface="+mn-ea"/>
              <a:cs typeface="+mn-cs"/>
            </a:endParaRPr>
          </a:p>
          <a:p>
            <a:r>
              <a:rPr lang="en-US" sz="1200" b="0" i="0" u="none" strike="noStrike" kern="1200" baseline="0">
                <a:solidFill>
                  <a:schemeClr val="tx1"/>
                </a:solidFill>
                <a:latin typeface="+mn-lt"/>
                <a:ea typeface="+mn-ea"/>
                <a:cs typeface="+mn-cs"/>
              </a:rPr>
              <a:t>is either raw text or a precomputed text embedding. In the original forecasting</a:t>
            </a:r>
          </a:p>
          <a:p>
            <a:r>
              <a:rPr lang="en-US" sz="1200" b="0" i="0" u="none" strike="noStrike" kern="1200" baseline="0">
                <a:solidFill>
                  <a:schemeClr val="tx1"/>
                </a:solidFill>
                <a:latin typeface="+mn-lt"/>
                <a:ea typeface="+mn-ea"/>
                <a:cs typeface="+mn-cs"/>
              </a:rPr>
              <a:t>formulation, the model learns a function</a:t>
            </a:r>
          </a:p>
          <a:p>
            <a:r>
              <a:rPr lang="es-ES" sz="1200" b="0" i="0" u="none" strike="noStrike" kern="1200" baseline="0" err="1">
                <a:solidFill>
                  <a:schemeClr val="tx1"/>
                </a:solidFill>
                <a:latin typeface="+mn-lt"/>
                <a:ea typeface="+mn-ea"/>
                <a:cs typeface="+mn-cs"/>
              </a:rPr>
              <a:t>gθ</a:t>
            </a:r>
            <a:r>
              <a:rPr lang="es-ES" sz="1200" b="0" i="0" u="none" strike="noStrike" kern="1200" baseline="0">
                <a:solidFill>
                  <a:schemeClr val="tx1"/>
                </a:solidFill>
                <a:latin typeface="+mn-lt"/>
                <a:ea typeface="+mn-ea"/>
                <a:cs typeface="+mn-cs"/>
              </a:rPr>
              <a:t>(X, S,Q) → Y,</a:t>
            </a:r>
          </a:p>
          <a:p>
            <a:r>
              <a:rPr lang="en-US" sz="1200" b="0" i="0" u="none" strike="noStrike" kern="1200" baseline="0">
                <a:solidFill>
                  <a:schemeClr val="tx1"/>
                </a:solidFill>
                <a:latin typeface="+mn-lt"/>
                <a:ea typeface="+mn-ea"/>
                <a:cs typeface="+mn-cs"/>
              </a:rPr>
              <a:t>where Q denotes forecast query times and Y denotes future target values. In</a:t>
            </a:r>
          </a:p>
          <a:p>
            <a:r>
              <a:rPr lang="en-US" sz="1200" b="0" i="0" u="none" strike="noStrike" kern="1200" baseline="0">
                <a:solidFill>
                  <a:schemeClr val="tx1"/>
                </a:solidFill>
                <a:latin typeface="+mn-lt"/>
                <a:ea typeface="+mn-ea"/>
                <a:cs typeface="+mn-cs"/>
              </a:rPr>
              <a:t>the proposed classification extension, the forecasting target is replaced with a</a:t>
            </a:r>
          </a:p>
          <a:p>
            <a:r>
              <a:rPr lang="en-US" sz="1200" b="0" i="0" u="none" strike="noStrike" kern="1200" baseline="0">
                <a:solidFill>
                  <a:schemeClr val="tx1"/>
                </a:solidFill>
                <a:latin typeface="+mn-lt"/>
                <a:ea typeface="+mn-ea"/>
                <a:cs typeface="+mn-cs"/>
              </a:rPr>
              <a:t>binary readmission indicator:</a:t>
            </a:r>
          </a:p>
          <a:p>
            <a:r>
              <a:rPr lang="pt-BR" sz="1200" b="0" i="0" u="none" strike="noStrike" kern="1200" baseline="0">
                <a:solidFill>
                  <a:schemeClr val="tx1"/>
                </a:solidFill>
                <a:latin typeface="+mn-lt"/>
                <a:ea typeface="+mn-ea"/>
                <a:cs typeface="+mn-cs"/>
              </a:rPr>
              <a:t>hθ(X, S,Z) → r, r ∈ {0, 1},</a:t>
            </a:r>
          </a:p>
          <a:p>
            <a:r>
              <a:rPr lang="en-US" sz="1200" b="0" i="0" u="none" strike="noStrike" kern="1200" baseline="0">
                <a:solidFill>
                  <a:schemeClr val="tx1"/>
                </a:solidFill>
                <a:latin typeface="+mn-lt"/>
                <a:ea typeface="+mn-ea"/>
                <a:cs typeface="+mn-cs"/>
              </a:rPr>
              <a:t>where Z denotes optional static covariates and r is the ICU readmission label.</a:t>
            </a:r>
            <a:endParaRPr lang="en-US"/>
          </a:p>
        </p:txBody>
      </p:sp>
    </p:spTree>
    <p:extLst>
      <p:ext uri="{BB962C8B-B14F-4D97-AF65-F5344CB8AC3E}">
        <p14:creationId xmlns:p14="http://schemas.microsoft.com/office/powerpoint/2010/main" val="807265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4099" name="Notes Placeholder 2"/>
          <p:cNvSpPr>
            <a:spLocks noGrp="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4100"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sz="5400" b="1">
                <a:solidFill>
                  <a:schemeClr val="tx1"/>
                </a:solidFill>
                <a:latin typeface="Times New Roman" pitchFamily="18" charset="0"/>
              </a:defRPr>
            </a:lvl1pPr>
            <a:lvl2pPr marL="742950" indent="-285750">
              <a:defRPr sz="5400" b="1">
                <a:solidFill>
                  <a:schemeClr val="tx1"/>
                </a:solidFill>
                <a:latin typeface="Times New Roman" pitchFamily="18" charset="0"/>
              </a:defRPr>
            </a:lvl2pPr>
            <a:lvl3pPr marL="1143000" indent="-228600">
              <a:defRPr sz="5400" b="1">
                <a:solidFill>
                  <a:schemeClr val="tx1"/>
                </a:solidFill>
                <a:latin typeface="Times New Roman" pitchFamily="18" charset="0"/>
              </a:defRPr>
            </a:lvl3pPr>
            <a:lvl4pPr marL="1600200" indent="-228600">
              <a:defRPr sz="5400" b="1">
                <a:solidFill>
                  <a:schemeClr val="tx1"/>
                </a:solidFill>
                <a:latin typeface="Times New Roman" pitchFamily="18" charset="0"/>
              </a:defRPr>
            </a:lvl4pPr>
            <a:lvl5pPr marL="2057400" indent="-228600">
              <a:defRPr sz="5400" b="1">
                <a:solidFill>
                  <a:schemeClr val="tx1"/>
                </a:solidFill>
                <a:latin typeface="Times New Roman" pitchFamily="18" charset="0"/>
              </a:defRPr>
            </a:lvl5pPr>
            <a:lvl6pPr marL="2514600" indent="-228600" algn="ctr"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eaLnBrk="0" fontAlgn="base" hangingPunct="0">
              <a:lnSpc>
                <a:spcPct val="65000"/>
              </a:lnSpc>
              <a:spcBef>
                <a:spcPct val="50000"/>
              </a:spcBef>
              <a:spcAft>
                <a:spcPct val="0"/>
              </a:spcAft>
              <a:defRPr sz="5400" b="1">
                <a:solidFill>
                  <a:schemeClr val="tx1"/>
                </a:solidFill>
                <a:latin typeface="Times New Roman" pitchFamily="18" charset="0"/>
              </a:defRPr>
            </a:lvl9pPr>
          </a:lstStyle>
          <a:p>
            <a:pPr marL="0" marR="0" lvl="0" indent="0" algn="r" defTabSz="914400" rtl="0" eaLnBrk="0" fontAlgn="base" latinLnBrk="0" hangingPunct="0">
              <a:lnSpc>
                <a:spcPct val="65000"/>
              </a:lnSpc>
              <a:spcBef>
                <a:spcPct val="50000"/>
              </a:spcBef>
              <a:spcAft>
                <a:spcPct val="0"/>
              </a:spcAft>
              <a:buClrTx/>
              <a:buSzTx/>
              <a:buFontTx/>
              <a:buNone/>
              <a:tabLst/>
              <a:defRPr/>
            </a:pPr>
            <a:fld id="{7350F54E-324E-4420-A58C-1451A26E1E91}" type="slidenum">
              <a:rPr kumimoji="0" lang="en-US" sz="300" b="1" i="0" u="none" strike="noStrike" kern="1200" cap="none" spc="0" normalizeH="0" baseline="0" noProof="0" smtClean="0">
                <a:ln>
                  <a:noFill/>
                </a:ln>
                <a:solidFill>
                  <a:prstClr val="black"/>
                </a:solidFill>
                <a:effectLst/>
                <a:uLnTx/>
                <a:uFillTx/>
                <a:latin typeface="Times New Roman" pitchFamily="18" charset="0"/>
                <a:ea typeface="+mn-ea"/>
                <a:cs typeface="+mn-cs"/>
              </a:rPr>
              <a:pPr marL="0" marR="0" lvl="0" indent="0" algn="r" defTabSz="914400" rtl="0" eaLnBrk="0" fontAlgn="base" latinLnBrk="0" hangingPunct="0">
                <a:lnSpc>
                  <a:spcPct val="65000"/>
                </a:lnSpc>
                <a:spcBef>
                  <a:spcPct val="50000"/>
                </a:spcBef>
                <a:spcAft>
                  <a:spcPct val="0"/>
                </a:spcAft>
                <a:buClrTx/>
                <a:buSzTx/>
                <a:buFontTx/>
                <a:buNone/>
                <a:tabLst/>
                <a:defRPr/>
              </a:pPr>
              <a:t>20</a:t>
            </a:fld>
            <a:endParaRPr kumimoji="0" lang="en-US" sz="300" b="1" i="0" u="none" strike="noStrike" kern="1200" cap="none" spc="0" normalizeH="0" baseline="0" noProof="0">
              <a:ln>
                <a:noFill/>
              </a:ln>
              <a:solidFill>
                <a:prstClr val="black"/>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565885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1263F"/>
          </a:solidFill>
          <a:ln w="12700">
            <a:solidFill>
              <a:srgbClr val="11263F"/>
            </a:solidFill>
            <a:prstDash val="solid"/>
          </a:ln>
        </p:spPr>
        <p:txBody>
          <a:bodyPr/>
          <a:lstStyle/>
          <a:p>
            <a:endParaRPr lang="en-US"/>
          </a:p>
        </p:txBody>
      </p:sp>
      <p:sp>
        <p:nvSpPr>
          <p:cNvPr id="3" name="Text 1"/>
          <p:cNvSpPr/>
          <p:nvPr/>
        </p:nvSpPr>
        <p:spPr>
          <a:xfrm>
            <a:off x="411480" y="82296"/>
            <a:ext cx="3657600" cy="146304"/>
          </a:xfrm>
          <a:prstGeom prst="rect">
            <a:avLst/>
          </a:prstGeom>
          <a:noFill/>
          <a:ln/>
        </p:spPr>
        <p:txBody>
          <a:bodyPr wrap="square" lIns="0" tIns="0" rIns="0" bIns="0" rtlCol="0" anchor="ctr"/>
          <a:lstStyle/>
          <a:p>
            <a:pPr marL="0" indent="0">
              <a:buNone/>
            </a:pPr>
            <a:r>
              <a:rPr lang="en-US" sz="1000">
                <a:solidFill>
                  <a:srgbClr val="E6EDF5"/>
                </a:solidFill>
                <a:latin typeface="Aptos" pitchFamily="34" charset="0"/>
                <a:ea typeface="Aptos" pitchFamily="34" charset="-122"/>
                <a:cs typeface="Aptos" pitchFamily="34" charset="-120"/>
              </a:rPr>
              <a:t>TIME-IMM proposal</a:t>
            </a:r>
            <a:endParaRPr lang="en-US" sz="1000"/>
          </a:p>
        </p:txBody>
      </p:sp>
      <p:sp>
        <p:nvSpPr>
          <p:cNvPr id="4" name="Text 2"/>
          <p:cNvSpPr/>
          <p:nvPr/>
        </p:nvSpPr>
        <p:spPr>
          <a:xfrm>
            <a:off x="8412480" y="82296"/>
            <a:ext cx="3383280" cy="146304"/>
          </a:xfrm>
          <a:prstGeom prst="rect">
            <a:avLst/>
          </a:prstGeom>
          <a:noFill/>
          <a:ln/>
        </p:spPr>
        <p:txBody>
          <a:bodyPr wrap="square" lIns="0" tIns="0" rIns="0" bIns="0" rtlCol="0" anchor="ctr"/>
          <a:lstStyle/>
          <a:p>
            <a:pPr marL="0" indent="0" algn="r">
              <a:buNone/>
            </a:pPr>
            <a:r>
              <a:rPr lang="en-US" sz="1000">
                <a:solidFill>
                  <a:srgbClr val="E6EDF5"/>
                </a:solidFill>
                <a:latin typeface="Aptos" pitchFamily="34" charset="0"/>
                <a:ea typeface="Aptos" pitchFamily="34" charset="-122"/>
                <a:cs typeface="Aptos" pitchFamily="34" charset="-120"/>
              </a:rPr>
              <a:t>STAT 8240 • Data Mining II</a:t>
            </a:r>
            <a:endParaRPr lang="en-US" sz="1000"/>
          </a:p>
        </p:txBody>
      </p:sp>
      <p:sp>
        <p:nvSpPr>
          <p:cNvPr id="5" name="Shape 3"/>
          <p:cNvSpPr/>
          <p:nvPr/>
        </p:nvSpPr>
        <p:spPr>
          <a:xfrm>
            <a:off x="411480" y="6419088"/>
            <a:ext cx="11338560" cy="0"/>
          </a:xfrm>
          <a:prstGeom prst="line">
            <a:avLst/>
          </a:prstGeom>
          <a:noFill/>
          <a:ln w="12700">
            <a:solidFill>
              <a:srgbClr val="D7D0C7"/>
            </a:solidFill>
            <a:prstDash val="solid"/>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577" y="2130558"/>
            <a:ext cx="10362847" cy="1469760"/>
          </a:xfrm>
        </p:spPr>
        <p:txBody>
          <a:bodyPr/>
          <a:lstStyle/>
          <a:p>
            <a:r>
              <a:rPr lang="en-US"/>
              <a:t>Click to edit Master title style</a:t>
            </a:r>
          </a:p>
        </p:txBody>
      </p:sp>
      <p:sp>
        <p:nvSpPr>
          <p:cNvPr id="3" name="Subtitle 2"/>
          <p:cNvSpPr>
            <a:spLocks noGrp="1"/>
          </p:cNvSpPr>
          <p:nvPr>
            <p:ph type="subTitle" idx="1"/>
          </p:nvPr>
        </p:nvSpPr>
        <p:spPr>
          <a:xfrm>
            <a:off x="1828712" y="3886068"/>
            <a:ext cx="8534576" cy="1752865"/>
          </a:xfrm>
        </p:spPr>
        <p:txBody>
          <a:bodyPr/>
          <a:lstStyle>
            <a:lvl1pPr marL="0" indent="0" algn="ctr">
              <a:buNone/>
              <a:defRPr/>
            </a:lvl1pPr>
            <a:lvl2pPr marL="95235" indent="0" algn="ctr">
              <a:buNone/>
              <a:defRPr/>
            </a:lvl2pPr>
            <a:lvl3pPr marL="190470" indent="0" algn="ctr">
              <a:buNone/>
              <a:defRPr/>
            </a:lvl3pPr>
            <a:lvl4pPr marL="285704" indent="0" algn="ctr">
              <a:buNone/>
              <a:defRPr/>
            </a:lvl4pPr>
            <a:lvl5pPr marL="380939" indent="0" algn="ctr">
              <a:buNone/>
              <a:defRPr/>
            </a:lvl5pPr>
            <a:lvl6pPr marL="476174" indent="0" algn="ctr">
              <a:buNone/>
              <a:defRPr/>
            </a:lvl6pPr>
            <a:lvl7pPr marL="571409" indent="0" algn="ctr">
              <a:buNone/>
              <a:defRPr/>
            </a:lvl7pPr>
            <a:lvl8pPr marL="666643" indent="0" algn="ctr">
              <a:buNone/>
              <a:defRPr/>
            </a:lvl8pPr>
            <a:lvl9pPr marL="761878"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8CE9746-3E67-4984-B2FE-1AF1BA16340E}" type="slidenum">
              <a:rPr lang="en-US"/>
              <a:pPr>
                <a:defRPr/>
              </a:pPr>
              <a:t>‹#›</a:t>
            </a:fld>
            <a:endParaRPr lang="en-US"/>
          </a:p>
        </p:txBody>
      </p:sp>
    </p:spTree>
    <p:extLst>
      <p:ext uri="{BB962C8B-B14F-4D97-AF65-F5344CB8AC3E}">
        <p14:creationId xmlns:p14="http://schemas.microsoft.com/office/powerpoint/2010/main" val="2663172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1E4A587-5FAF-42E6-BE45-17C25F99A991}" type="slidenum">
              <a:rPr lang="en-US"/>
              <a:pPr>
                <a:defRPr/>
              </a:pPr>
              <a:t>‹#›</a:t>
            </a:fld>
            <a:endParaRPr lang="en-US"/>
          </a:p>
        </p:txBody>
      </p:sp>
    </p:spTree>
    <p:extLst>
      <p:ext uri="{BB962C8B-B14F-4D97-AF65-F5344CB8AC3E}">
        <p14:creationId xmlns:p14="http://schemas.microsoft.com/office/powerpoint/2010/main" val="2765176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3" y="4406966"/>
            <a:ext cx="10363288" cy="1361943"/>
          </a:xfrm>
        </p:spPr>
        <p:txBody>
          <a:bodyPr anchor="t"/>
          <a:lstStyle>
            <a:lvl1pPr algn="l">
              <a:defRPr sz="833" b="1" cap="all"/>
            </a:lvl1pPr>
          </a:lstStyle>
          <a:p>
            <a:r>
              <a:rPr lang="en-US"/>
              <a:t>Click to edit Master title style</a:t>
            </a:r>
          </a:p>
        </p:txBody>
      </p:sp>
      <p:sp>
        <p:nvSpPr>
          <p:cNvPr id="3" name="Text Placeholder 2"/>
          <p:cNvSpPr>
            <a:spLocks noGrp="1"/>
          </p:cNvSpPr>
          <p:nvPr>
            <p:ph type="body" idx="1"/>
          </p:nvPr>
        </p:nvSpPr>
        <p:spPr>
          <a:xfrm>
            <a:off x="963083" y="2906779"/>
            <a:ext cx="10363288" cy="1500188"/>
          </a:xfrm>
        </p:spPr>
        <p:txBody>
          <a:bodyPr anchor="b"/>
          <a:lstStyle>
            <a:lvl1pPr marL="0" indent="0">
              <a:buNone/>
              <a:defRPr sz="417"/>
            </a:lvl1pPr>
            <a:lvl2pPr marL="95235" indent="0">
              <a:buNone/>
              <a:defRPr sz="375"/>
            </a:lvl2pPr>
            <a:lvl3pPr marL="190470" indent="0">
              <a:buNone/>
              <a:defRPr sz="333"/>
            </a:lvl3pPr>
            <a:lvl4pPr marL="285704" indent="0">
              <a:buNone/>
              <a:defRPr sz="292"/>
            </a:lvl4pPr>
            <a:lvl5pPr marL="380939" indent="0">
              <a:buNone/>
              <a:defRPr sz="292"/>
            </a:lvl5pPr>
            <a:lvl6pPr marL="476174" indent="0">
              <a:buNone/>
              <a:defRPr sz="292"/>
            </a:lvl6pPr>
            <a:lvl7pPr marL="571409" indent="0">
              <a:buNone/>
              <a:defRPr sz="292"/>
            </a:lvl7pPr>
            <a:lvl8pPr marL="666643" indent="0">
              <a:buNone/>
              <a:defRPr sz="292"/>
            </a:lvl8pPr>
            <a:lvl9pPr marL="761878" indent="0">
              <a:buNone/>
              <a:defRPr sz="292"/>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188EA6C-4A5C-449A-8168-A4D2F9419EE9}" type="slidenum">
              <a:rPr lang="en-US"/>
              <a:pPr>
                <a:defRPr/>
              </a:pPr>
              <a:t>‹#›</a:t>
            </a:fld>
            <a:endParaRPr lang="en-US"/>
          </a:p>
        </p:txBody>
      </p:sp>
    </p:spTree>
    <p:extLst>
      <p:ext uri="{BB962C8B-B14F-4D97-AF65-F5344CB8AC3E}">
        <p14:creationId xmlns:p14="http://schemas.microsoft.com/office/powerpoint/2010/main" val="3323772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135" y="1981399"/>
            <a:ext cx="5160698" cy="4114601"/>
          </a:xfrm>
        </p:spPr>
        <p:txBody>
          <a:bodyPr/>
          <a:lstStyle>
            <a:lvl1pPr>
              <a:defRPr sz="583"/>
            </a:lvl1pPr>
            <a:lvl2pPr>
              <a:defRPr sz="500"/>
            </a:lvl2pPr>
            <a:lvl3pPr>
              <a:defRPr sz="417"/>
            </a:lvl3pPr>
            <a:lvl4pPr>
              <a:defRPr sz="375"/>
            </a:lvl4pPr>
            <a:lvl5pPr>
              <a:defRPr sz="375"/>
            </a:lvl5pPr>
            <a:lvl6pPr>
              <a:defRPr sz="375"/>
            </a:lvl6pPr>
            <a:lvl7pPr>
              <a:defRPr sz="375"/>
            </a:lvl7pPr>
            <a:lvl8pPr>
              <a:defRPr sz="375"/>
            </a:lvl8pPr>
            <a:lvl9pPr>
              <a:defRPr sz="3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17167" y="1981399"/>
            <a:ext cx="5160698" cy="4114601"/>
          </a:xfrm>
        </p:spPr>
        <p:txBody>
          <a:bodyPr/>
          <a:lstStyle>
            <a:lvl1pPr>
              <a:defRPr sz="583"/>
            </a:lvl1pPr>
            <a:lvl2pPr>
              <a:defRPr sz="500"/>
            </a:lvl2pPr>
            <a:lvl3pPr>
              <a:defRPr sz="417"/>
            </a:lvl3pPr>
            <a:lvl4pPr>
              <a:defRPr sz="375"/>
            </a:lvl4pPr>
            <a:lvl5pPr>
              <a:defRPr sz="375"/>
            </a:lvl5pPr>
            <a:lvl6pPr>
              <a:defRPr sz="375"/>
            </a:lvl6pPr>
            <a:lvl7pPr>
              <a:defRPr sz="375"/>
            </a:lvl7pPr>
            <a:lvl8pPr>
              <a:defRPr sz="375"/>
            </a:lvl8pPr>
            <a:lvl9pPr>
              <a:defRPr sz="3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EB4A3CC-8336-4978-A66C-FB77D18E1F46}" type="slidenum">
              <a:rPr lang="en-US"/>
              <a:pPr>
                <a:defRPr/>
              </a:pPr>
              <a:t>‹#›</a:t>
            </a:fld>
            <a:endParaRPr lang="en-US"/>
          </a:p>
        </p:txBody>
      </p:sp>
    </p:spTree>
    <p:extLst>
      <p:ext uri="{BB962C8B-B14F-4D97-AF65-F5344CB8AC3E}">
        <p14:creationId xmlns:p14="http://schemas.microsoft.com/office/powerpoint/2010/main" val="343876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24" y="274505"/>
            <a:ext cx="10973153"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23" y="1535245"/>
            <a:ext cx="5386917" cy="639630"/>
          </a:xfrm>
        </p:spPr>
        <p:txBody>
          <a:bodyPr anchor="b"/>
          <a:lstStyle>
            <a:lvl1pPr marL="0" indent="0">
              <a:buNone/>
              <a:defRPr sz="500" b="1"/>
            </a:lvl1pPr>
            <a:lvl2pPr marL="95235" indent="0">
              <a:buNone/>
              <a:defRPr sz="417" b="1"/>
            </a:lvl2pPr>
            <a:lvl3pPr marL="190470" indent="0">
              <a:buNone/>
              <a:defRPr sz="375" b="1"/>
            </a:lvl3pPr>
            <a:lvl4pPr marL="285704" indent="0">
              <a:buNone/>
              <a:defRPr sz="333" b="1"/>
            </a:lvl4pPr>
            <a:lvl5pPr marL="380939" indent="0">
              <a:buNone/>
              <a:defRPr sz="333" b="1"/>
            </a:lvl5pPr>
            <a:lvl6pPr marL="476174" indent="0">
              <a:buNone/>
              <a:defRPr sz="333" b="1"/>
            </a:lvl6pPr>
            <a:lvl7pPr marL="571409" indent="0">
              <a:buNone/>
              <a:defRPr sz="333" b="1"/>
            </a:lvl7pPr>
            <a:lvl8pPr marL="666643" indent="0">
              <a:buNone/>
              <a:defRPr sz="333" b="1"/>
            </a:lvl8pPr>
            <a:lvl9pPr marL="761878" indent="0">
              <a:buNone/>
              <a:defRPr sz="333" b="1"/>
            </a:lvl9pPr>
          </a:lstStyle>
          <a:p>
            <a:pPr lvl="0"/>
            <a:r>
              <a:rPr lang="en-US"/>
              <a:t>Click to edit Master text styles</a:t>
            </a:r>
          </a:p>
        </p:txBody>
      </p:sp>
      <p:sp>
        <p:nvSpPr>
          <p:cNvPr id="4" name="Content Placeholder 3"/>
          <p:cNvSpPr>
            <a:spLocks noGrp="1"/>
          </p:cNvSpPr>
          <p:nvPr>
            <p:ph sz="half" idx="2"/>
          </p:nvPr>
        </p:nvSpPr>
        <p:spPr>
          <a:xfrm>
            <a:off x="609423" y="2174875"/>
            <a:ext cx="5386917" cy="3951221"/>
          </a:xfrm>
        </p:spPr>
        <p:txBody>
          <a:bodyPr/>
          <a:lstStyle>
            <a:lvl1pPr>
              <a:defRPr sz="500"/>
            </a:lvl1pPr>
            <a:lvl2pPr>
              <a:defRPr sz="417"/>
            </a:lvl2pPr>
            <a:lvl3pPr>
              <a:defRPr sz="375"/>
            </a:lvl3pPr>
            <a:lvl4pPr>
              <a:defRPr sz="333"/>
            </a:lvl4pPr>
            <a:lvl5pPr>
              <a:defRPr sz="333"/>
            </a:lvl5pPr>
            <a:lvl6pPr>
              <a:defRPr sz="333"/>
            </a:lvl6pPr>
            <a:lvl7pPr>
              <a:defRPr sz="333"/>
            </a:lvl7pPr>
            <a:lvl8pPr>
              <a:defRPr sz="333"/>
            </a:lvl8pPr>
            <a:lvl9pPr>
              <a:defRPr sz="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455" y="1535245"/>
            <a:ext cx="5389121" cy="639630"/>
          </a:xfrm>
        </p:spPr>
        <p:txBody>
          <a:bodyPr anchor="b"/>
          <a:lstStyle>
            <a:lvl1pPr marL="0" indent="0">
              <a:buNone/>
              <a:defRPr sz="500" b="1"/>
            </a:lvl1pPr>
            <a:lvl2pPr marL="95235" indent="0">
              <a:buNone/>
              <a:defRPr sz="417" b="1"/>
            </a:lvl2pPr>
            <a:lvl3pPr marL="190470" indent="0">
              <a:buNone/>
              <a:defRPr sz="375" b="1"/>
            </a:lvl3pPr>
            <a:lvl4pPr marL="285704" indent="0">
              <a:buNone/>
              <a:defRPr sz="333" b="1"/>
            </a:lvl4pPr>
            <a:lvl5pPr marL="380939" indent="0">
              <a:buNone/>
              <a:defRPr sz="333" b="1"/>
            </a:lvl5pPr>
            <a:lvl6pPr marL="476174" indent="0">
              <a:buNone/>
              <a:defRPr sz="333" b="1"/>
            </a:lvl6pPr>
            <a:lvl7pPr marL="571409" indent="0">
              <a:buNone/>
              <a:defRPr sz="333" b="1"/>
            </a:lvl7pPr>
            <a:lvl8pPr marL="666643" indent="0">
              <a:buNone/>
              <a:defRPr sz="333" b="1"/>
            </a:lvl8pPr>
            <a:lvl9pPr marL="761878" indent="0">
              <a:buNone/>
              <a:defRPr sz="333" b="1"/>
            </a:lvl9pPr>
          </a:lstStyle>
          <a:p>
            <a:pPr lvl="0"/>
            <a:r>
              <a:rPr lang="en-US"/>
              <a:t>Click to edit Master text styles</a:t>
            </a:r>
          </a:p>
        </p:txBody>
      </p:sp>
      <p:sp>
        <p:nvSpPr>
          <p:cNvPr id="6" name="Content Placeholder 5"/>
          <p:cNvSpPr>
            <a:spLocks noGrp="1"/>
          </p:cNvSpPr>
          <p:nvPr>
            <p:ph sz="quarter" idx="4"/>
          </p:nvPr>
        </p:nvSpPr>
        <p:spPr>
          <a:xfrm>
            <a:off x="6193455" y="2174875"/>
            <a:ext cx="5389121" cy="3951221"/>
          </a:xfrm>
        </p:spPr>
        <p:txBody>
          <a:bodyPr/>
          <a:lstStyle>
            <a:lvl1pPr>
              <a:defRPr sz="500"/>
            </a:lvl1pPr>
            <a:lvl2pPr>
              <a:defRPr sz="417"/>
            </a:lvl2pPr>
            <a:lvl3pPr>
              <a:defRPr sz="375"/>
            </a:lvl3pPr>
            <a:lvl4pPr>
              <a:defRPr sz="333"/>
            </a:lvl4pPr>
            <a:lvl5pPr>
              <a:defRPr sz="333"/>
            </a:lvl5pPr>
            <a:lvl6pPr>
              <a:defRPr sz="333"/>
            </a:lvl6pPr>
            <a:lvl7pPr>
              <a:defRPr sz="333"/>
            </a:lvl7pPr>
            <a:lvl8pPr>
              <a:defRPr sz="333"/>
            </a:lvl8pPr>
            <a:lvl9pPr>
              <a:defRPr sz="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008A453-5BDB-4A82-A97B-AE3AC9DF93EA}" type="slidenum">
              <a:rPr lang="en-US"/>
              <a:pPr>
                <a:defRPr/>
              </a:pPr>
              <a:t>‹#›</a:t>
            </a:fld>
            <a:endParaRPr lang="en-US"/>
          </a:p>
        </p:txBody>
      </p:sp>
    </p:spTree>
    <p:extLst>
      <p:ext uri="{BB962C8B-B14F-4D97-AF65-F5344CB8AC3E}">
        <p14:creationId xmlns:p14="http://schemas.microsoft.com/office/powerpoint/2010/main" val="34652424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AE6625C-FC05-44C9-AD1B-5BE1C448AF41}" type="slidenum">
              <a:rPr lang="en-US"/>
              <a:pPr>
                <a:defRPr/>
              </a:pPr>
              <a:t>‹#›</a:t>
            </a:fld>
            <a:endParaRPr lang="en-US"/>
          </a:p>
        </p:txBody>
      </p:sp>
    </p:spTree>
    <p:extLst>
      <p:ext uri="{BB962C8B-B14F-4D97-AF65-F5344CB8AC3E}">
        <p14:creationId xmlns:p14="http://schemas.microsoft.com/office/powerpoint/2010/main" val="2987690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D0A2B76-BBD0-4131-9F1A-F9B85BA33A5C}" type="slidenum">
              <a:rPr lang="en-US"/>
              <a:pPr>
                <a:defRPr/>
              </a:pPr>
              <a:t>‹#›</a:t>
            </a:fld>
            <a:endParaRPr lang="en-US"/>
          </a:p>
        </p:txBody>
      </p:sp>
    </p:spTree>
    <p:extLst>
      <p:ext uri="{BB962C8B-B14F-4D97-AF65-F5344CB8AC3E}">
        <p14:creationId xmlns:p14="http://schemas.microsoft.com/office/powerpoint/2010/main" val="2724394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24" y="273182"/>
            <a:ext cx="4011083" cy="1161852"/>
          </a:xfrm>
        </p:spPr>
        <p:txBody>
          <a:bodyPr anchor="b"/>
          <a:lstStyle>
            <a:lvl1pPr algn="l">
              <a:defRPr sz="417" b="1"/>
            </a:lvl1pPr>
          </a:lstStyle>
          <a:p>
            <a:r>
              <a:rPr lang="en-US"/>
              <a:t>Click to edit Master title style</a:t>
            </a:r>
          </a:p>
        </p:txBody>
      </p:sp>
      <p:sp>
        <p:nvSpPr>
          <p:cNvPr id="3" name="Content Placeholder 2"/>
          <p:cNvSpPr>
            <a:spLocks noGrp="1"/>
          </p:cNvSpPr>
          <p:nvPr>
            <p:ph idx="1"/>
          </p:nvPr>
        </p:nvSpPr>
        <p:spPr>
          <a:xfrm>
            <a:off x="4766910" y="273182"/>
            <a:ext cx="6815667" cy="5852914"/>
          </a:xfrm>
        </p:spPr>
        <p:txBody>
          <a:bodyPr/>
          <a:lstStyle>
            <a:lvl1pPr>
              <a:defRPr sz="667"/>
            </a:lvl1pPr>
            <a:lvl2pPr>
              <a:defRPr sz="583"/>
            </a:lvl2pPr>
            <a:lvl3pPr>
              <a:defRPr sz="500"/>
            </a:lvl3pPr>
            <a:lvl4pPr>
              <a:defRPr sz="417"/>
            </a:lvl4pPr>
            <a:lvl5pPr>
              <a:defRPr sz="417"/>
            </a:lvl5pPr>
            <a:lvl6pPr>
              <a:defRPr sz="417"/>
            </a:lvl6pPr>
            <a:lvl7pPr>
              <a:defRPr sz="417"/>
            </a:lvl7pPr>
            <a:lvl8pPr>
              <a:defRPr sz="417"/>
            </a:lvl8pPr>
            <a:lvl9pPr>
              <a:defRPr sz="41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24" y="1435034"/>
            <a:ext cx="4011083" cy="4691063"/>
          </a:xfrm>
        </p:spPr>
        <p:txBody>
          <a:bodyPr/>
          <a:lstStyle>
            <a:lvl1pPr marL="0" indent="0">
              <a:buNone/>
              <a:defRPr sz="292"/>
            </a:lvl1pPr>
            <a:lvl2pPr marL="95235" indent="0">
              <a:buNone/>
              <a:defRPr sz="250"/>
            </a:lvl2pPr>
            <a:lvl3pPr marL="190470" indent="0">
              <a:buNone/>
              <a:defRPr sz="208"/>
            </a:lvl3pPr>
            <a:lvl4pPr marL="285704" indent="0">
              <a:buNone/>
              <a:defRPr sz="187"/>
            </a:lvl4pPr>
            <a:lvl5pPr marL="380939" indent="0">
              <a:buNone/>
              <a:defRPr sz="187"/>
            </a:lvl5pPr>
            <a:lvl6pPr marL="476174" indent="0">
              <a:buNone/>
              <a:defRPr sz="187"/>
            </a:lvl6pPr>
            <a:lvl7pPr marL="571409" indent="0">
              <a:buNone/>
              <a:defRPr sz="187"/>
            </a:lvl7pPr>
            <a:lvl8pPr marL="666643" indent="0">
              <a:buNone/>
              <a:defRPr sz="187"/>
            </a:lvl8pPr>
            <a:lvl9pPr marL="761878" indent="0">
              <a:buNone/>
              <a:defRPr sz="187"/>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080D8EB-A991-429A-9F15-1E5050711380}" type="slidenum">
              <a:rPr lang="en-US"/>
              <a:pPr>
                <a:defRPr/>
              </a:pPr>
              <a:t>‹#›</a:t>
            </a:fld>
            <a:endParaRPr lang="en-US"/>
          </a:p>
        </p:txBody>
      </p:sp>
    </p:spTree>
    <p:extLst>
      <p:ext uri="{BB962C8B-B14F-4D97-AF65-F5344CB8AC3E}">
        <p14:creationId xmlns:p14="http://schemas.microsoft.com/office/powerpoint/2010/main" val="64027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29" y="4800534"/>
            <a:ext cx="7315288" cy="566870"/>
          </a:xfrm>
        </p:spPr>
        <p:txBody>
          <a:bodyPr anchor="b"/>
          <a:lstStyle>
            <a:lvl1pPr algn="l">
              <a:defRPr sz="417" b="1"/>
            </a:lvl1pPr>
          </a:lstStyle>
          <a:p>
            <a:r>
              <a:rPr lang="en-US"/>
              <a:t>Click to edit Master title style</a:t>
            </a:r>
          </a:p>
        </p:txBody>
      </p:sp>
      <p:sp>
        <p:nvSpPr>
          <p:cNvPr id="3" name="Picture Placeholder 2"/>
          <p:cNvSpPr>
            <a:spLocks noGrp="1"/>
          </p:cNvSpPr>
          <p:nvPr>
            <p:ph type="pic" idx="1"/>
          </p:nvPr>
        </p:nvSpPr>
        <p:spPr>
          <a:xfrm>
            <a:off x="2389629" y="612842"/>
            <a:ext cx="7315288" cy="4114601"/>
          </a:xfrm>
        </p:spPr>
        <p:txBody>
          <a:bodyPr/>
          <a:lstStyle>
            <a:lvl1pPr marL="0" indent="0">
              <a:buNone/>
              <a:defRPr sz="667"/>
            </a:lvl1pPr>
            <a:lvl2pPr marL="95235" indent="0">
              <a:buNone/>
              <a:defRPr sz="583"/>
            </a:lvl2pPr>
            <a:lvl3pPr marL="190470" indent="0">
              <a:buNone/>
              <a:defRPr sz="500"/>
            </a:lvl3pPr>
            <a:lvl4pPr marL="285704" indent="0">
              <a:buNone/>
              <a:defRPr sz="417"/>
            </a:lvl4pPr>
            <a:lvl5pPr marL="380939" indent="0">
              <a:buNone/>
              <a:defRPr sz="417"/>
            </a:lvl5pPr>
            <a:lvl6pPr marL="476174" indent="0">
              <a:buNone/>
              <a:defRPr sz="417"/>
            </a:lvl6pPr>
            <a:lvl7pPr marL="571409" indent="0">
              <a:buNone/>
              <a:defRPr sz="417"/>
            </a:lvl7pPr>
            <a:lvl8pPr marL="666643" indent="0">
              <a:buNone/>
              <a:defRPr sz="417"/>
            </a:lvl8pPr>
            <a:lvl9pPr marL="761878" indent="0">
              <a:buNone/>
              <a:defRPr sz="417"/>
            </a:lvl9pPr>
          </a:lstStyle>
          <a:p>
            <a:pPr lvl="0"/>
            <a:endParaRPr lang="en-US" noProof="0"/>
          </a:p>
        </p:txBody>
      </p:sp>
      <p:sp>
        <p:nvSpPr>
          <p:cNvPr id="4" name="Text Placeholder 3"/>
          <p:cNvSpPr>
            <a:spLocks noGrp="1"/>
          </p:cNvSpPr>
          <p:nvPr>
            <p:ph type="body" sz="half" idx="2"/>
          </p:nvPr>
        </p:nvSpPr>
        <p:spPr>
          <a:xfrm>
            <a:off x="2389629" y="5367404"/>
            <a:ext cx="7315288" cy="804664"/>
          </a:xfrm>
        </p:spPr>
        <p:txBody>
          <a:bodyPr/>
          <a:lstStyle>
            <a:lvl1pPr marL="0" indent="0">
              <a:buNone/>
              <a:defRPr sz="292"/>
            </a:lvl1pPr>
            <a:lvl2pPr marL="95235" indent="0">
              <a:buNone/>
              <a:defRPr sz="250"/>
            </a:lvl2pPr>
            <a:lvl3pPr marL="190470" indent="0">
              <a:buNone/>
              <a:defRPr sz="208"/>
            </a:lvl3pPr>
            <a:lvl4pPr marL="285704" indent="0">
              <a:buNone/>
              <a:defRPr sz="187"/>
            </a:lvl4pPr>
            <a:lvl5pPr marL="380939" indent="0">
              <a:buNone/>
              <a:defRPr sz="187"/>
            </a:lvl5pPr>
            <a:lvl6pPr marL="476174" indent="0">
              <a:buNone/>
              <a:defRPr sz="187"/>
            </a:lvl6pPr>
            <a:lvl7pPr marL="571409" indent="0">
              <a:buNone/>
              <a:defRPr sz="187"/>
            </a:lvl7pPr>
            <a:lvl8pPr marL="666643" indent="0">
              <a:buNone/>
              <a:defRPr sz="187"/>
            </a:lvl8pPr>
            <a:lvl9pPr marL="761878" indent="0">
              <a:buNone/>
              <a:defRPr sz="187"/>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66D1F85-FC8E-4B63-A86C-FC56C2C366AD}" type="slidenum">
              <a:rPr lang="en-US"/>
              <a:pPr>
                <a:defRPr/>
              </a:pPr>
              <a:t>‹#›</a:t>
            </a:fld>
            <a:endParaRPr lang="en-US"/>
          </a:p>
        </p:txBody>
      </p:sp>
    </p:spTree>
    <p:extLst>
      <p:ext uri="{BB962C8B-B14F-4D97-AF65-F5344CB8AC3E}">
        <p14:creationId xmlns:p14="http://schemas.microsoft.com/office/powerpoint/2010/main" val="3512629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F46AF8-960E-4160-8BB5-686F276EDF71}" type="slidenum">
              <a:rPr lang="en-US"/>
              <a:pPr>
                <a:defRPr/>
              </a:pPr>
              <a:t>‹#›</a:t>
            </a:fld>
            <a:endParaRPr lang="en-US"/>
          </a:p>
        </p:txBody>
      </p:sp>
    </p:spTree>
    <p:extLst>
      <p:ext uri="{BB962C8B-B14F-4D97-AF65-F5344CB8AC3E}">
        <p14:creationId xmlns:p14="http://schemas.microsoft.com/office/powerpoint/2010/main" val="777554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7153" y="609203"/>
            <a:ext cx="2590712" cy="548679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136" y="609203"/>
            <a:ext cx="7730684" cy="54867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2589B9D-719E-42D8-8020-085B69862EA7}" type="slidenum">
              <a:rPr lang="en-US"/>
              <a:pPr>
                <a:defRPr/>
              </a:pPr>
              <a:t>‹#›</a:t>
            </a:fld>
            <a:endParaRPr lang="en-US"/>
          </a:p>
        </p:txBody>
      </p:sp>
    </p:spTree>
    <p:extLst>
      <p:ext uri="{BB962C8B-B14F-4D97-AF65-F5344CB8AC3E}">
        <p14:creationId xmlns:p14="http://schemas.microsoft.com/office/powerpoint/2010/main" val="8564503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914136" y="609203"/>
            <a:ext cx="10363729"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914136" y="1981399"/>
            <a:ext cx="10363729" cy="411460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438884" tIns="219442" rIns="438884" bIns="21944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914136" y="6248797"/>
            <a:ext cx="2540000" cy="456406"/>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l">
              <a:lnSpc>
                <a:spcPct val="100000"/>
              </a:lnSpc>
              <a:spcBef>
                <a:spcPct val="0"/>
              </a:spcBef>
              <a:defRPr sz="1396" b="0"/>
            </a:lvl1pPr>
          </a:lstStyle>
          <a:p>
            <a:pPr>
              <a:defRPr/>
            </a:pPr>
            <a:endParaRPr lang="en-US"/>
          </a:p>
        </p:txBody>
      </p:sp>
      <p:sp>
        <p:nvSpPr>
          <p:cNvPr id="1029" name="Rectangle 5"/>
          <p:cNvSpPr>
            <a:spLocks noGrp="1" noChangeArrowheads="1"/>
          </p:cNvSpPr>
          <p:nvPr>
            <p:ph type="ftr" sz="quarter" idx="3"/>
          </p:nvPr>
        </p:nvSpPr>
        <p:spPr bwMode="auto">
          <a:xfrm>
            <a:off x="4165865" y="6248797"/>
            <a:ext cx="3860271" cy="456406"/>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nSpc>
                <a:spcPct val="100000"/>
              </a:lnSpc>
              <a:spcBef>
                <a:spcPct val="0"/>
              </a:spcBef>
              <a:defRPr sz="1396" b="0"/>
            </a:lvl1pPr>
          </a:lstStyle>
          <a:p>
            <a:pPr>
              <a:defRPr/>
            </a:pPr>
            <a:endParaRPr lang="en-US"/>
          </a:p>
        </p:txBody>
      </p:sp>
      <p:sp>
        <p:nvSpPr>
          <p:cNvPr id="1030" name="Rectangle 6"/>
          <p:cNvSpPr>
            <a:spLocks noGrp="1" noChangeArrowheads="1"/>
          </p:cNvSpPr>
          <p:nvPr>
            <p:ph type="sldNum" sz="quarter" idx="4"/>
          </p:nvPr>
        </p:nvSpPr>
        <p:spPr bwMode="auto">
          <a:xfrm>
            <a:off x="8737865" y="6248797"/>
            <a:ext cx="2540000" cy="456406"/>
          </a:xfrm>
          <a:prstGeom prst="rect">
            <a:avLst/>
          </a:prstGeom>
          <a:noFill/>
          <a:ln w="9525">
            <a:noFill/>
            <a:miter lim="800000"/>
            <a:headEnd/>
            <a:tailEnd/>
          </a:ln>
          <a:effectLst/>
        </p:spPr>
        <p:txBody>
          <a:bodyPr vert="horz" wrap="square" lIns="438884" tIns="219442" rIns="438884" bIns="219442" numCol="1" anchor="t" anchorCtr="0" compatLnSpc="1">
            <a:prstTxWarp prst="textNoShape">
              <a:avLst/>
            </a:prstTxWarp>
          </a:bodyPr>
          <a:lstStyle>
            <a:lvl1pPr algn="r">
              <a:lnSpc>
                <a:spcPct val="100000"/>
              </a:lnSpc>
              <a:spcBef>
                <a:spcPct val="0"/>
              </a:spcBef>
              <a:defRPr sz="1396" b="0"/>
            </a:lvl1pPr>
          </a:lstStyle>
          <a:p>
            <a:pPr>
              <a:defRPr/>
            </a:pPr>
            <a:fld id="{3288BF25-8EA1-41D0-B1F3-352926037513}" type="slidenum">
              <a:rPr lang="en-US"/>
              <a:pPr>
                <a:defRPr/>
              </a:pPr>
              <a:t>‹#›</a:t>
            </a:fld>
            <a:endParaRPr lang="en-US"/>
          </a:p>
        </p:txBody>
      </p:sp>
    </p:spTree>
    <p:extLst>
      <p:ext uri="{BB962C8B-B14F-4D97-AF65-F5344CB8AC3E}">
        <p14:creationId xmlns:p14="http://schemas.microsoft.com/office/powerpoint/2010/main" val="3677479084"/>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txStyles>
    <p:titleStyle>
      <a:lvl1pPr algn="ctr" defTabSz="913989" rtl="0" eaLnBrk="0" fontAlgn="base" hangingPunct="0">
        <a:spcBef>
          <a:spcPct val="0"/>
        </a:spcBef>
        <a:spcAft>
          <a:spcPct val="0"/>
        </a:spcAft>
        <a:defRPr sz="4374">
          <a:solidFill>
            <a:schemeClr val="tx2"/>
          </a:solidFill>
          <a:latin typeface="+mj-lt"/>
          <a:ea typeface="+mj-ea"/>
          <a:cs typeface="+mj-cs"/>
        </a:defRPr>
      </a:lvl1pPr>
      <a:lvl2pPr algn="ctr" defTabSz="913989" rtl="0" eaLnBrk="0" fontAlgn="base" hangingPunct="0">
        <a:spcBef>
          <a:spcPct val="0"/>
        </a:spcBef>
        <a:spcAft>
          <a:spcPct val="0"/>
        </a:spcAft>
        <a:defRPr sz="4374">
          <a:solidFill>
            <a:schemeClr val="tx2"/>
          </a:solidFill>
          <a:latin typeface="Times New Roman" pitchFamily="18" charset="0"/>
        </a:defRPr>
      </a:lvl2pPr>
      <a:lvl3pPr algn="ctr" defTabSz="913989" rtl="0" eaLnBrk="0" fontAlgn="base" hangingPunct="0">
        <a:spcBef>
          <a:spcPct val="0"/>
        </a:spcBef>
        <a:spcAft>
          <a:spcPct val="0"/>
        </a:spcAft>
        <a:defRPr sz="4374">
          <a:solidFill>
            <a:schemeClr val="tx2"/>
          </a:solidFill>
          <a:latin typeface="Times New Roman" pitchFamily="18" charset="0"/>
        </a:defRPr>
      </a:lvl3pPr>
      <a:lvl4pPr algn="ctr" defTabSz="913989" rtl="0" eaLnBrk="0" fontAlgn="base" hangingPunct="0">
        <a:spcBef>
          <a:spcPct val="0"/>
        </a:spcBef>
        <a:spcAft>
          <a:spcPct val="0"/>
        </a:spcAft>
        <a:defRPr sz="4374">
          <a:solidFill>
            <a:schemeClr val="tx2"/>
          </a:solidFill>
          <a:latin typeface="Times New Roman" pitchFamily="18" charset="0"/>
        </a:defRPr>
      </a:lvl4pPr>
      <a:lvl5pPr algn="ctr" defTabSz="913989" rtl="0" eaLnBrk="0" fontAlgn="base" hangingPunct="0">
        <a:spcBef>
          <a:spcPct val="0"/>
        </a:spcBef>
        <a:spcAft>
          <a:spcPct val="0"/>
        </a:spcAft>
        <a:defRPr sz="4374">
          <a:solidFill>
            <a:schemeClr val="tx2"/>
          </a:solidFill>
          <a:latin typeface="Times New Roman" pitchFamily="18" charset="0"/>
        </a:defRPr>
      </a:lvl5pPr>
      <a:lvl6pPr marL="95235" algn="ctr" defTabSz="913989" rtl="0" eaLnBrk="0" fontAlgn="base" hangingPunct="0">
        <a:spcBef>
          <a:spcPct val="0"/>
        </a:spcBef>
        <a:spcAft>
          <a:spcPct val="0"/>
        </a:spcAft>
        <a:defRPr sz="4374">
          <a:solidFill>
            <a:schemeClr val="tx2"/>
          </a:solidFill>
          <a:latin typeface="Times New Roman" pitchFamily="18" charset="0"/>
        </a:defRPr>
      </a:lvl6pPr>
      <a:lvl7pPr marL="190470" algn="ctr" defTabSz="913989" rtl="0" eaLnBrk="0" fontAlgn="base" hangingPunct="0">
        <a:spcBef>
          <a:spcPct val="0"/>
        </a:spcBef>
        <a:spcAft>
          <a:spcPct val="0"/>
        </a:spcAft>
        <a:defRPr sz="4374">
          <a:solidFill>
            <a:schemeClr val="tx2"/>
          </a:solidFill>
          <a:latin typeface="Times New Roman" pitchFamily="18" charset="0"/>
        </a:defRPr>
      </a:lvl7pPr>
      <a:lvl8pPr marL="285704" algn="ctr" defTabSz="913989" rtl="0" eaLnBrk="0" fontAlgn="base" hangingPunct="0">
        <a:spcBef>
          <a:spcPct val="0"/>
        </a:spcBef>
        <a:spcAft>
          <a:spcPct val="0"/>
        </a:spcAft>
        <a:defRPr sz="4374">
          <a:solidFill>
            <a:schemeClr val="tx2"/>
          </a:solidFill>
          <a:latin typeface="Times New Roman" pitchFamily="18" charset="0"/>
        </a:defRPr>
      </a:lvl8pPr>
      <a:lvl9pPr marL="380939" algn="ctr" defTabSz="913989" rtl="0" eaLnBrk="0" fontAlgn="base" hangingPunct="0">
        <a:spcBef>
          <a:spcPct val="0"/>
        </a:spcBef>
        <a:spcAft>
          <a:spcPct val="0"/>
        </a:spcAft>
        <a:defRPr sz="4374">
          <a:solidFill>
            <a:schemeClr val="tx2"/>
          </a:solidFill>
          <a:latin typeface="Times New Roman" pitchFamily="18" charset="0"/>
        </a:defRPr>
      </a:lvl9pPr>
    </p:titleStyle>
    <p:bodyStyle>
      <a:lvl1pPr marL="343242" indent="-343242" algn="l" defTabSz="913989" rtl="0" eaLnBrk="0" fontAlgn="base" hangingPunct="0">
        <a:spcBef>
          <a:spcPct val="20000"/>
        </a:spcBef>
        <a:spcAft>
          <a:spcPct val="0"/>
        </a:spcAft>
        <a:buChar char="•"/>
        <a:defRPr sz="3187">
          <a:solidFill>
            <a:schemeClr val="tx1"/>
          </a:solidFill>
          <a:latin typeface="+mn-lt"/>
          <a:ea typeface="+mn-ea"/>
          <a:cs typeface="+mn-cs"/>
        </a:defRPr>
      </a:lvl1pPr>
      <a:lvl2pPr marL="742699" indent="-285374" algn="l" defTabSz="913989" rtl="0" eaLnBrk="0" fontAlgn="base" hangingPunct="0">
        <a:spcBef>
          <a:spcPct val="20000"/>
        </a:spcBef>
        <a:spcAft>
          <a:spcPct val="0"/>
        </a:spcAft>
        <a:buChar char="–"/>
        <a:defRPr sz="2770">
          <a:solidFill>
            <a:schemeClr val="tx1"/>
          </a:solidFill>
          <a:latin typeface="+mn-lt"/>
        </a:defRPr>
      </a:lvl2pPr>
      <a:lvl3pPr marL="1142817" indent="-228828" algn="l" defTabSz="913989" rtl="0" eaLnBrk="0" fontAlgn="base" hangingPunct="0">
        <a:spcBef>
          <a:spcPct val="20000"/>
        </a:spcBef>
        <a:spcAft>
          <a:spcPct val="0"/>
        </a:spcAft>
        <a:buChar char="•"/>
        <a:defRPr sz="2416">
          <a:solidFill>
            <a:schemeClr val="tx1"/>
          </a:solidFill>
          <a:latin typeface="+mn-lt"/>
        </a:defRPr>
      </a:lvl3pPr>
      <a:lvl4pPr marL="1599481" indent="-227836" algn="l" defTabSz="913989" rtl="0" eaLnBrk="0" fontAlgn="base" hangingPunct="0">
        <a:spcBef>
          <a:spcPct val="20000"/>
        </a:spcBef>
        <a:spcAft>
          <a:spcPct val="0"/>
        </a:spcAft>
        <a:buChar char="–"/>
        <a:defRPr sz="2000">
          <a:solidFill>
            <a:schemeClr val="tx1"/>
          </a:solidFill>
          <a:latin typeface="+mn-lt"/>
        </a:defRPr>
      </a:lvl4pPr>
      <a:lvl5pPr marL="2057137" indent="-228828" algn="l" defTabSz="913989" rtl="0" eaLnBrk="0" fontAlgn="base" hangingPunct="0">
        <a:spcBef>
          <a:spcPct val="20000"/>
        </a:spcBef>
        <a:spcAft>
          <a:spcPct val="0"/>
        </a:spcAft>
        <a:buChar char="»"/>
        <a:defRPr sz="2000">
          <a:solidFill>
            <a:schemeClr val="tx1"/>
          </a:solidFill>
          <a:latin typeface="+mn-lt"/>
        </a:defRPr>
      </a:lvl5pPr>
      <a:lvl6pPr marL="2152372" indent="-228828" algn="l" defTabSz="913989" rtl="0" eaLnBrk="0" fontAlgn="base" hangingPunct="0">
        <a:spcBef>
          <a:spcPct val="20000"/>
        </a:spcBef>
        <a:spcAft>
          <a:spcPct val="0"/>
        </a:spcAft>
        <a:buChar char="»"/>
        <a:defRPr sz="2000">
          <a:solidFill>
            <a:schemeClr val="tx1"/>
          </a:solidFill>
          <a:latin typeface="+mn-lt"/>
        </a:defRPr>
      </a:lvl6pPr>
      <a:lvl7pPr marL="2247607" indent="-228828" algn="l" defTabSz="913989" rtl="0" eaLnBrk="0" fontAlgn="base" hangingPunct="0">
        <a:spcBef>
          <a:spcPct val="20000"/>
        </a:spcBef>
        <a:spcAft>
          <a:spcPct val="0"/>
        </a:spcAft>
        <a:buChar char="»"/>
        <a:defRPr sz="2000">
          <a:solidFill>
            <a:schemeClr val="tx1"/>
          </a:solidFill>
          <a:latin typeface="+mn-lt"/>
        </a:defRPr>
      </a:lvl7pPr>
      <a:lvl8pPr marL="2342841" indent="-228828" algn="l" defTabSz="913989" rtl="0" eaLnBrk="0" fontAlgn="base" hangingPunct="0">
        <a:spcBef>
          <a:spcPct val="20000"/>
        </a:spcBef>
        <a:spcAft>
          <a:spcPct val="0"/>
        </a:spcAft>
        <a:buChar char="»"/>
        <a:defRPr sz="2000">
          <a:solidFill>
            <a:schemeClr val="tx1"/>
          </a:solidFill>
          <a:latin typeface="+mn-lt"/>
        </a:defRPr>
      </a:lvl8pPr>
      <a:lvl9pPr marL="2438076" indent="-228828" algn="l" defTabSz="913989"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190470" rtl="0" eaLnBrk="1" latinLnBrk="0" hangingPunct="1">
        <a:defRPr sz="375" kern="1200">
          <a:solidFill>
            <a:schemeClr val="tx1"/>
          </a:solidFill>
          <a:latin typeface="+mn-lt"/>
          <a:ea typeface="+mn-ea"/>
          <a:cs typeface="+mn-cs"/>
        </a:defRPr>
      </a:lvl1pPr>
      <a:lvl2pPr marL="95235" algn="l" defTabSz="190470" rtl="0" eaLnBrk="1" latinLnBrk="0" hangingPunct="1">
        <a:defRPr sz="375" kern="1200">
          <a:solidFill>
            <a:schemeClr val="tx1"/>
          </a:solidFill>
          <a:latin typeface="+mn-lt"/>
          <a:ea typeface="+mn-ea"/>
          <a:cs typeface="+mn-cs"/>
        </a:defRPr>
      </a:lvl2pPr>
      <a:lvl3pPr marL="190470" algn="l" defTabSz="190470" rtl="0" eaLnBrk="1" latinLnBrk="0" hangingPunct="1">
        <a:defRPr sz="375" kern="1200">
          <a:solidFill>
            <a:schemeClr val="tx1"/>
          </a:solidFill>
          <a:latin typeface="+mn-lt"/>
          <a:ea typeface="+mn-ea"/>
          <a:cs typeface="+mn-cs"/>
        </a:defRPr>
      </a:lvl3pPr>
      <a:lvl4pPr marL="285704" algn="l" defTabSz="190470" rtl="0" eaLnBrk="1" latinLnBrk="0" hangingPunct="1">
        <a:defRPr sz="375" kern="1200">
          <a:solidFill>
            <a:schemeClr val="tx1"/>
          </a:solidFill>
          <a:latin typeface="+mn-lt"/>
          <a:ea typeface="+mn-ea"/>
          <a:cs typeface="+mn-cs"/>
        </a:defRPr>
      </a:lvl4pPr>
      <a:lvl5pPr marL="380939" algn="l" defTabSz="190470" rtl="0" eaLnBrk="1" latinLnBrk="0" hangingPunct="1">
        <a:defRPr sz="375" kern="1200">
          <a:solidFill>
            <a:schemeClr val="tx1"/>
          </a:solidFill>
          <a:latin typeface="+mn-lt"/>
          <a:ea typeface="+mn-ea"/>
          <a:cs typeface="+mn-cs"/>
        </a:defRPr>
      </a:lvl5pPr>
      <a:lvl6pPr marL="476174" algn="l" defTabSz="190470" rtl="0" eaLnBrk="1" latinLnBrk="0" hangingPunct="1">
        <a:defRPr sz="375" kern="1200">
          <a:solidFill>
            <a:schemeClr val="tx1"/>
          </a:solidFill>
          <a:latin typeface="+mn-lt"/>
          <a:ea typeface="+mn-ea"/>
          <a:cs typeface="+mn-cs"/>
        </a:defRPr>
      </a:lvl6pPr>
      <a:lvl7pPr marL="571409" algn="l" defTabSz="190470" rtl="0" eaLnBrk="1" latinLnBrk="0" hangingPunct="1">
        <a:defRPr sz="375" kern="1200">
          <a:solidFill>
            <a:schemeClr val="tx1"/>
          </a:solidFill>
          <a:latin typeface="+mn-lt"/>
          <a:ea typeface="+mn-ea"/>
          <a:cs typeface="+mn-cs"/>
        </a:defRPr>
      </a:lvl7pPr>
      <a:lvl8pPr marL="666643" algn="l" defTabSz="190470" rtl="0" eaLnBrk="1" latinLnBrk="0" hangingPunct="1">
        <a:defRPr sz="375" kern="1200">
          <a:solidFill>
            <a:schemeClr val="tx1"/>
          </a:solidFill>
          <a:latin typeface="+mn-lt"/>
          <a:ea typeface="+mn-ea"/>
          <a:cs typeface="+mn-cs"/>
        </a:defRPr>
      </a:lvl8pPr>
      <a:lvl9pPr marL="761878" algn="l" defTabSz="190470" rtl="0" eaLnBrk="1" latinLnBrk="0" hangingPunct="1">
        <a:defRPr sz="3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4.png"/><Relationship Id="rId7"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9.xml"/><Relationship Id="rId5" Type="http://schemas.openxmlformats.org/officeDocument/2006/relationships/image" Target="../media/image37.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package" Target="../embeddings/Microsoft_Excel_Worksheet.xlsx"/><Relationship Id="rId13" Type="http://schemas.openxmlformats.org/officeDocument/2006/relationships/image" Target="../media/image52.emf"/><Relationship Id="rId3" Type="http://schemas.openxmlformats.org/officeDocument/2006/relationships/image" Target="../media/image46.png"/><Relationship Id="rId7" Type="http://schemas.openxmlformats.org/officeDocument/2006/relationships/image" Target="../media/image27.png"/><Relationship Id="rId12" Type="http://schemas.openxmlformats.org/officeDocument/2006/relationships/package" Target="../embeddings/Microsoft_Excel_Worksheet2.xlsx"/><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49.png"/><Relationship Id="rId11" Type="http://schemas.openxmlformats.org/officeDocument/2006/relationships/image" Target="../media/image51.emf"/><Relationship Id="rId5" Type="http://schemas.openxmlformats.org/officeDocument/2006/relationships/image" Target="../media/image48.png"/><Relationship Id="rId10" Type="http://schemas.openxmlformats.org/officeDocument/2006/relationships/package" Target="../embeddings/Microsoft_Excel_Worksheet1.xlsx"/><Relationship Id="rId4" Type="http://schemas.openxmlformats.org/officeDocument/2006/relationships/image" Target="../media/image47.png"/><Relationship Id="rId9" Type="http://schemas.openxmlformats.org/officeDocument/2006/relationships/image" Target="../media/image50.emf"/></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46888" y="402628"/>
            <a:ext cx="6309360" cy="502920"/>
          </a:xfrm>
          <a:prstGeom prst="rect">
            <a:avLst/>
          </a:prstGeom>
          <a:noFill/>
          <a:ln/>
        </p:spPr>
        <p:txBody>
          <a:bodyPr wrap="square" lIns="0" tIns="0" rIns="0" bIns="0" rtlCol="0" anchor="ctr"/>
          <a:lstStyle/>
          <a:p>
            <a:pPr marL="0" indent="0">
              <a:buNone/>
            </a:pPr>
            <a:r>
              <a:rPr lang="en-US" sz="4000" b="1">
                <a:solidFill>
                  <a:srgbClr val="11263F"/>
                </a:solidFill>
                <a:latin typeface="Aptos Display" pitchFamily="34" charset="0"/>
                <a:ea typeface="Aptos Display" pitchFamily="34" charset="-122"/>
                <a:cs typeface="Aptos Display" pitchFamily="34" charset="-120"/>
              </a:rPr>
              <a:t>TIME-IMM Project Proposal</a:t>
            </a:r>
            <a:endParaRPr lang="en-US" sz="4000"/>
          </a:p>
        </p:txBody>
      </p:sp>
      <p:sp>
        <p:nvSpPr>
          <p:cNvPr id="3" name="Text 1"/>
          <p:cNvSpPr/>
          <p:nvPr/>
        </p:nvSpPr>
        <p:spPr>
          <a:xfrm>
            <a:off x="340650" y="956823"/>
            <a:ext cx="6217920" cy="566928"/>
          </a:xfrm>
          <a:prstGeom prst="rect">
            <a:avLst/>
          </a:prstGeom>
          <a:noFill/>
          <a:ln/>
        </p:spPr>
        <p:txBody>
          <a:bodyPr wrap="square" lIns="0" tIns="0" rIns="0" bIns="0" rtlCol="0" anchor="ctr"/>
          <a:lstStyle/>
          <a:p>
            <a:pPr marL="0" indent="0">
              <a:buNone/>
            </a:pPr>
            <a:r>
              <a:rPr lang="en-US" b="1">
                <a:solidFill>
                  <a:srgbClr val="6B7785"/>
                </a:solidFill>
                <a:latin typeface="Aptos" pitchFamily="34" charset="0"/>
                <a:ea typeface="Aptos" pitchFamily="34" charset="-122"/>
                <a:cs typeface="Aptos" pitchFamily="34" charset="-120"/>
              </a:rPr>
              <a:t>Brandi Jones</a:t>
            </a:r>
          </a:p>
          <a:p>
            <a:pPr marL="0" indent="0">
              <a:buNone/>
            </a:pPr>
            <a:r>
              <a:rPr lang="en-US" b="1">
                <a:solidFill>
                  <a:srgbClr val="6B7785"/>
                </a:solidFill>
                <a:latin typeface="Aptos" pitchFamily="34" charset="0"/>
              </a:rPr>
              <a:t>Chad Bishop</a:t>
            </a:r>
          </a:p>
          <a:p>
            <a:pPr marL="0" indent="0">
              <a:buNone/>
            </a:pPr>
            <a:r>
              <a:rPr lang="en-US" b="1">
                <a:solidFill>
                  <a:srgbClr val="6B7785"/>
                </a:solidFill>
                <a:latin typeface="Aptos" pitchFamily="34" charset="0"/>
              </a:rPr>
              <a:t>Nnenna Ifeanyi</a:t>
            </a:r>
            <a:endParaRPr lang="en-US" b="1"/>
          </a:p>
        </p:txBody>
      </p:sp>
      <p:sp>
        <p:nvSpPr>
          <p:cNvPr id="4" name="Text 2"/>
          <p:cNvSpPr/>
          <p:nvPr/>
        </p:nvSpPr>
        <p:spPr>
          <a:xfrm>
            <a:off x="548640" y="1815271"/>
            <a:ext cx="2011680" cy="219456"/>
          </a:xfrm>
          <a:prstGeom prst="rect">
            <a:avLst/>
          </a:prstGeom>
          <a:noFill/>
          <a:ln/>
        </p:spPr>
        <p:txBody>
          <a:bodyPr wrap="square" lIns="0" tIns="0" rIns="0" bIns="0" rtlCol="0" anchor="ctr"/>
          <a:lstStyle/>
          <a:p>
            <a:pPr marL="0" indent="0">
              <a:buNone/>
            </a:pPr>
            <a:r>
              <a:rPr lang="en-US" sz="1400" b="1">
                <a:solidFill>
                  <a:srgbClr val="5D89B3"/>
                </a:solidFill>
                <a:latin typeface="Aptos" pitchFamily="34" charset="0"/>
                <a:ea typeface="Aptos" pitchFamily="34" charset="-122"/>
                <a:cs typeface="Aptos" pitchFamily="34" charset="-120"/>
              </a:rPr>
              <a:t>Problem framing</a:t>
            </a:r>
            <a:endParaRPr lang="en-US" sz="1400"/>
          </a:p>
        </p:txBody>
      </p:sp>
      <p:sp>
        <p:nvSpPr>
          <p:cNvPr id="5" name="Text 3"/>
          <p:cNvSpPr/>
          <p:nvPr/>
        </p:nvSpPr>
        <p:spPr>
          <a:xfrm>
            <a:off x="566928" y="1997769"/>
            <a:ext cx="6381224" cy="1078992"/>
          </a:xfrm>
          <a:prstGeom prst="rect">
            <a:avLst/>
          </a:prstGeom>
          <a:noFill/>
          <a:ln/>
        </p:spPr>
        <p:txBody>
          <a:bodyPr wrap="square" lIns="254" tIns="254" rIns="254" bIns="254" rtlCol="0" anchor="t"/>
          <a:lstStyle/>
          <a:p>
            <a:pPr marL="0" indent="0">
              <a:buNone/>
            </a:pPr>
            <a:r>
              <a:rPr lang="en-US" sz="1720" b="1">
                <a:solidFill>
                  <a:srgbClr val="C39A57"/>
                </a:solidFill>
                <a:latin typeface="Aptos" pitchFamily="34" charset="0"/>
                <a:ea typeface="Aptos" pitchFamily="34" charset="-122"/>
                <a:cs typeface="Aptos" pitchFamily="34" charset="-120"/>
              </a:rPr>
              <a:t>• </a:t>
            </a:r>
            <a:r>
              <a:rPr lang="en-US" sz="1720">
                <a:solidFill>
                  <a:srgbClr val="22313F"/>
                </a:solidFill>
                <a:latin typeface="Aptos" pitchFamily="34" charset="0"/>
                <a:ea typeface="Aptos" pitchFamily="34" charset="-122"/>
                <a:cs typeface="Aptos" pitchFamily="34" charset="-120"/>
              </a:rPr>
              <a:t>Real-world time series are irregular, asynchronous,  </a:t>
            </a:r>
          </a:p>
          <a:p>
            <a:pPr marL="0" indent="0">
              <a:buNone/>
            </a:pPr>
            <a:r>
              <a:rPr lang="en-US" sz="1720">
                <a:solidFill>
                  <a:srgbClr val="22313F"/>
                </a:solidFill>
                <a:latin typeface="Aptos" pitchFamily="34" charset="0"/>
                <a:ea typeface="Aptos" pitchFamily="34" charset="-122"/>
                <a:cs typeface="Aptos" pitchFamily="34" charset="-120"/>
              </a:rPr>
              <a:t>    multimodal, and missing-rich.</a:t>
            </a:r>
            <a:endParaRPr lang="en-US" sz="1720"/>
          </a:p>
          <a:p>
            <a:pPr marL="0" indent="0">
              <a:buNone/>
            </a:pPr>
            <a:endParaRPr lang="en-US" sz="1720"/>
          </a:p>
        </p:txBody>
      </p:sp>
      <p:sp>
        <p:nvSpPr>
          <p:cNvPr id="6" name="Shape 4"/>
          <p:cNvSpPr/>
          <p:nvPr/>
        </p:nvSpPr>
        <p:spPr>
          <a:xfrm>
            <a:off x="548640" y="4494979"/>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7" name="Shape 5"/>
          <p:cNvSpPr/>
          <p:nvPr/>
        </p:nvSpPr>
        <p:spPr>
          <a:xfrm>
            <a:off x="713232" y="4365568"/>
            <a:ext cx="822960" cy="256032"/>
          </a:xfrm>
          <a:prstGeom prst="roundRect">
            <a:avLst>
              <a:gd name="adj" fmla="val 28571"/>
            </a:avLst>
          </a:prstGeom>
          <a:solidFill>
            <a:srgbClr val="3B7C8F"/>
          </a:solidFill>
          <a:ln w="12700">
            <a:solidFill>
              <a:srgbClr val="3B7C8F"/>
            </a:solidFill>
            <a:prstDash val="solid"/>
          </a:ln>
        </p:spPr>
        <p:txBody>
          <a:bodyPr/>
          <a:lstStyle/>
          <a:p>
            <a:endParaRPr lang="en-US"/>
          </a:p>
        </p:txBody>
      </p:sp>
      <p:sp>
        <p:nvSpPr>
          <p:cNvPr id="8" name="Text 6"/>
          <p:cNvSpPr/>
          <p:nvPr/>
        </p:nvSpPr>
        <p:spPr>
          <a:xfrm>
            <a:off x="749808" y="4402287"/>
            <a:ext cx="749808" cy="164592"/>
          </a:xfrm>
          <a:prstGeom prst="rect">
            <a:avLst/>
          </a:prstGeom>
          <a:noFill/>
          <a:ln/>
        </p:spPr>
        <p:txBody>
          <a:bodyPr wrap="square" lIns="0" tIns="0" rIns="0" bIns="0" rtlCol="0" anchor="ctr"/>
          <a:lstStyle/>
          <a:p>
            <a:pPr marL="0" indent="0" algn="ctr">
              <a:buNone/>
            </a:pPr>
            <a:r>
              <a:rPr lang="en-US" sz="1400" b="1">
                <a:solidFill>
                  <a:srgbClr val="FFFFFF"/>
                </a:solidFill>
                <a:latin typeface="Aptos" pitchFamily="34" charset="0"/>
                <a:ea typeface="Aptos" pitchFamily="34" charset="-122"/>
                <a:cs typeface="Aptos" pitchFamily="34" charset="-120"/>
              </a:rPr>
              <a:t>A</a:t>
            </a:r>
            <a:endParaRPr lang="en-US" sz="1400"/>
          </a:p>
        </p:txBody>
      </p:sp>
      <p:sp>
        <p:nvSpPr>
          <p:cNvPr id="9" name="Text 7"/>
          <p:cNvSpPr/>
          <p:nvPr/>
        </p:nvSpPr>
        <p:spPr>
          <a:xfrm>
            <a:off x="631966" y="4566879"/>
            <a:ext cx="1545336" cy="384048"/>
          </a:xfrm>
          <a:prstGeom prst="rect">
            <a:avLst/>
          </a:prstGeom>
          <a:noFill/>
          <a:ln/>
        </p:spPr>
        <p:txBody>
          <a:bodyPr wrap="square" lIns="0" tIns="0" rIns="0" bIns="0" rtlCol="0" anchor="ctr"/>
          <a:lstStyle/>
          <a:p>
            <a:pPr marL="0" indent="0">
              <a:buNone/>
            </a:pPr>
            <a:r>
              <a:rPr lang="en-US" sz="1580" b="1">
                <a:solidFill>
                  <a:srgbClr val="11263F"/>
                </a:solidFill>
                <a:latin typeface="Aptos" pitchFamily="34" charset="0"/>
                <a:ea typeface="Aptos" pitchFamily="34" charset="-122"/>
                <a:cs typeface="Aptos" pitchFamily="34" charset="-120"/>
              </a:rPr>
              <a:t>Reproduction</a:t>
            </a:r>
            <a:endParaRPr lang="en-US" sz="1580"/>
          </a:p>
        </p:txBody>
      </p:sp>
      <p:sp>
        <p:nvSpPr>
          <p:cNvPr id="10" name="Text 8"/>
          <p:cNvSpPr/>
          <p:nvPr/>
        </p:nvSpPr>
        <p:spPr>
          <a:xfrm>
            <a:off x="731520" y="4945707"/>
            <a:ext cx="1545336" cy="310896"/>
          </a:xfrm>
          <a:prstGeom prst="rect">
            <a:avLst/>
          </a:prstGeom>
          <a:noFill/>
          <a:ln/>
        </p:spPr>
        <p:txBody>
          <a:bodyPr wrap="square" lIns="254" tIns="254" rIns="254" bIns="254" rtlCol="0" anchor="t"/>
          <a:lstStyle/>
          <a:p>
            <a:pPr marL="0" indent="0">
              <a:buNone/>
            </a:pPr>
            <a:r>
              <a:rPr lang="en-US" sz="1240">
                <a:solidFill>
                  <a:srgbClr val="22313F"/>
                </a:solidFill>
                <a:latin typeface="Aptos" pitchFamily="34" charset="0"/>
                <a:ea typeface="Aptos" pitchFamily="34" charset="-122"/>
                <a:cs typeface="Aptos" pitchFamily="34" charset="-120"/>
              </a:rPr>
              <a:t>Replicate the paper’s IMM-TSF results with released code and matched settings.</a:t>
            </a:r>
            <a:endParaRPr lang="en-US" sz="1240"/>
          </a:p>
        </p:txBody>
      </p:sp>
      <p:sp>
        <p:nvSpPr>
          <p:cNvPr id="11" name="Shape 9"/>
          <p:cNvSpPr/>
          <p:nvPr/>
        </p:nvSpPr>
        <p:spPr>
          <a:xfrm>
            <a:off x="2624328" y="4476692"/>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2" name="Shape 10"/>
          <p:cNvSpPr/>
          <p:nvPr/>
        </p:nvSpPr>
        <p:spPr>
          <a:xfrm>
            <a:off x="2770632" y="4352684"/>
            <a:ext cx="822960" cy="256032"/>
          </a:xfrm>
          <a:prstGeom prst="roundRect">
            <a:avLst>
              <a:gd name="adj" fmla="val 28571"/>
            </a:avLst>
          </a:prstGeom>
          <a:solidFill>
            <a:srgbClr val="C39A57"/>
          </a:solidFill>
          <a:ln w="12700">
            <a:solidFill>
              <a:srgbClr val="C39A57"/>
            </a:solidFill>
            <a:prstDash val="solid"/>
          </a:ln>
        </p:spPr>
        <p:txBody>
          <a:bodyPr/>
          <a:lstStyle/>
          <a:p>
            <a:endParaRPr lang="en-US"/>
          </a:p>
        </p:txBody>
      </p:sp>
      <p:sp>
        <p:nvSpPr>
          <p:cNvPr id="13" name="Text 11"/>
          <p:cNvSpPr/>
          <p:nvPr/>
        </p:nvSpPr>
        <p:spPr>
          <a:xfrm>
            <a:off x="2807208" y="4402287"/>
            <a:ext cx="749808" cy="164592"/>
          </a:xfrm>
          <a:prstGeom prst="rect">
            <a:avLst/>
          </a:prstGeom>
          <a:noFill/>
          <a:ln/>
        </p:spPr>
        <p:txBody>
          <a:bodyPr wrap="square" lIns="0" tIns="0" rIns="0" bIns="0" rtlCol="0" anchor="ctr"/>
          <a:lstStyle/>
          <a:p>
            <a:pPr marL="0" indent="0" algn="ctr">
              <a:buNone/>
            </a:pPr>
            <a:r>
              <a:rPr lang="en-US" sz="1400" b="1">
                <a:solidFill>
                  <a:srgbClr val="FFFFFF"/>
                </a:solidFill>
                <a:latin typeface="Aptos" pitchFamily="34" charset="0"/>
                <a:ea typeface="Aptos" pitchFamily="34" charset="-122"/>
                <a:cs typeface="Aptos" pitchFamily="34" charset="-120"/>
              </a:rPr>
              <a:t>B</a:t>
            </a:r>
            <a:endParaRPr lang="en-US" sz="1400"/>
          </a:p>
        </p:txBody>
      </p:sp>
      <p:sp>
        <p:nvSpPr>
          <p:cNvPr id="14" name="Text 12"/>
          <p:cNvSpPr/>
          <p:nvPr/>
        </p:nvSpPr>
        <p:spPr>
          <a:xfrm>
            <a:off x="2784348" y="4555961"/>
            <a:ext cx="1545336" cy="384048"/>
          </a:xfrm>
          <a:prstGeom prst="rect">
            <a:avLst/>
          </a:prstGeom>
          <a:noFill/>
          <a:ln/>
        </p:spPr>
        <p:txBody>
          <a:bodyPr wrap="square" lIns="0" tIns="0" rIns="0" bIns="0" rtlCol="0" anchor="ctr"/>
          <a:lstStyle/>
          <a:p>
            <a:pPr marL="0" indent="0">
              <a:buNone/>
            </a:pPr>
            <a:r>
              <a:rPr lang="en-US" sz="1580" b="1">
                <a:solidFill>
                  <a:srgbClr val="11263F"/>
                </a:solidFill>
                <a:latin typeface="Aptos" pitchFamily="34" charset="0"/>
                <a:ea typeface="Aptos" pitchFamily="34" charset="-122"/>
                <a:cs typeface="Aptos" pitchFamily="34" charset="-120"/>
              </a:rPr>
              <a:t>Application</a:t>
            </a:r>
            <a:endParaRPr lang="en-US" sz="1580"/>
          </a:p>
        </p:txBody>
      </p:sp>
      <p:sp>
        <p:nvSpPr>
          <p:cNvPr id="15" name="Text 13"/>
          <p:cNvSpPr/>
          <p:nvPr/>
        </p:nvSpPr>
        <p:spPr>
          <a:xfrm>
            <a:off x="2734056" y="4979213"/>
            <a:ext cx="1545336" cy="310896"/>
          </a:xfrm>
          <a:prstGeom prst="rect">
            <a:avLst/>
          </a:prstGeom>
          <a:noFill/>
          <a:ln/>
        </p:spPr>
        <p:txBody>
          <a:bodyPr wrap="square" lIns="254" tIns="254" rIns="254" bIns="254" rtlCol="0" anchor="t"/>
          <a:lstStyle/>
          <a:p>
            <a:pPr marL="0" indent="0">
              <a:buNone/>
            </a:pPr>
            <a:r>
              <a:rPr lang="en-US" sz="1240">
                <a:solidFill>
                  <a:srgbClr val="22313F"/>
                </a:solidFill>
                <a:latin typeface="Aptos" pitchFamily="34" charset="0"/>
                <a:ea typeface="Aptos" pitchFamily="34" charset="-122"/>
                <a:cs typeface="Aptos" pitchFamily="34" charset="-120"/>
              </a:rPr>
              <a:t>Use MIMIC as the healthcare case and analyze when notes help forecasting most.</a:t>
            </a:r>
            <a:endParaRPr lang="en-US" sz="1240"/>
          </a:p>
        </p:txBody>
      </p:sp>
      <p:sp>
        <p:nvSpPr>
          <p:cNvPr id="16" name="Shape 14"/>
          <p:cNvSpPr/>
          <p:nvPr/>
        </p:nvSpPr>
        <p:spPr>
          <a:xfrm>
            <a:off x="4663440" y="4494978"/>
            <a:ext cx="1874520" cy="1528953"/>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7" name="Shape 15"/>
          <p:cNvSpPr/>
          <p:nvPr/>
        </p:nvSpPr>
        <p:spPr>
          <a:xfrm>
            <a:off x="4828032" y="4352684"/>
            <a:ext cx="822960" cy="256032"/>
          </a:xfrm>
          <a:prstGeom prst="roundRect">
            <a:avLst>
              <a:gd name="adj" fmla="val 28571"/>
            </a:avLst>
          </a:prstGeom>
          <a:solidFill>
            <a:srgbClr val="D97B73"/>
          </a:solidFill>
          <a:ln w="12700">
            <a:solidFill>
              <a:srgbClr val="D97B73"/>
            </a:solidFill>
            <a:prstDash val="solid"/>
          </a:ln>
        </p:spPr>
        <p:txBody>
          <a:bodyPr/>
          <a:lstStyle/>
          <a:p>
            <a:endParaRPr lang="en-US"/>
          </a:p>
        </p:txBody>
      </p:sp>
      <p:sp>
        <p:nvSpPr>
          <p:cNvPr id="18" name="Text 16"/>
          <p:cNvSpPr/>
          <p:nvPr/>
        </p:nvSpPr>
        <p:spPr>
          <a:xfrm>
            <a:off x="4864608" y="4402287"/>
            <a:ext cx="749808" cy="164592"/>
          </a:xfrm>
          <a:prstGeom prst="rect">
            <a:avLst/>
          </a:prstGeom>
          <a:noFill/>
          <a:ln/>
        </p:spPr>
        <p:txBody>
          <a:bodyPr wrap="square" lIns="0" tIns="0" rIns="0" bIns="0" rtlCol="0" anchor="ctr"/>
          <a:lstStyle/>
          <a:p>
            <a:pPr marL="0" indent="0" algn="ctr">
              <a:buNone/>
            </a:pPr>
            <a:r>
              <a:rPr lang="en-US" sz="1400" b="1">
                <a:solidFill>
                  <a:srgbClr val="FFFFFF"/>
                </a:solidFill>
                <a:latin typeface="Aptos" pitchFamily="34" charset="0"/>
                <a:ea typeface="Aptos" pitchFamily="34" charset="-122"/>
                <a:cs typeface="Aptos" pitchFamily="34" charset="-120"/>
              </a:rPr>
              <a:t>C</a:t>
            </a:r>
            <a:endParaRPr lang="en-US" sz="1400"/>
          </a:p>
        </p:txBody>
      </p:sp>
      <p:sp>
        <p:nvSpPr>
          <p:cNvPr id="19" name="Text 17"/>
          <p:cNvSpPr/>
          <p:nvPr/>
        </p:nvSpPr>
        <p:spPr>
          <a:xfrm>
            <a:off x="4863449" y="4566879"/>
            <a:ext cx="1545336" cy="384048"/>
          </a:xfrm>
          <a:prstGeom prst="rect">
            <a:avLst/>
          </a:prstGeom>
          <a:noFill/>
          <a:ln/>
        </p:spPr>
        <p:txBody>
          <a:bodyPr wrap="square" lIns="0" tIns="0" rIns="0" bIns="0" rtlCol="0" anchor="ctr"/>
          <a:lstStyle/>
          <a:p>
            <a:pPr marL="0" indent="0">
              <a:buNone/>
            </a:pPr>
            <a:r>
              <a:rPr lang="en-US" sz="1580" b="1">
                <a:solidFill>
                  <a:srgbClr val="11263F"/>
                </a:solidFill>
                <a:latin typeface="Aptos" pitchFamily="34" charset="0"/>
                <a:ea typeface="Aptos" pitchFamily="34" charset="-122"/>
                <a:cs typeface="Aptos" pitchFamily="34" charset="-120"/>
              </a:rPr>
              <a:t>Extension</a:t>
            </a:r>
            <a:endParaRPr lang="en-US" sz="1580"/>
          </a:p>
        </p:txBody>
      </p:sp>
      <p:sp>
        <p:nvSpPr>
          <p:cNvPr id="20" name="Text 18"/>
          <p:cNvSpPr/>
          <p:nvPr/>
        </p:nvSpPr>
        <p:spPr>
          <a:xfrm>
            <a:off x="4838468" y="4901942"/>
            <a:ext cx="1720102" cy="310896"/>
          </a:xfrm>
          <a:prstGeom prst="rect">
            <a:avLst/>
          </a:prstGeom>
          <a:noFill/>
          <a:ln/>
        </p:spPr>
        <p:txBody>
          <a:bodyPr wrap="square" lIns="254" tIns="254" rIns="254" bIns="254" rtlCol="0" anchor="t"/>
          <a:lstStyle/>
          <a:p>
            <a:pPr marL="0" indent="0">
              <a:buNone/>
            </a:pPr>
            <a:r>
              <a:rPr lang="en-US" sz="1240">
                <a:solidFill>
                  <a:srgbClr val="22313F"/>
                </a:solidFill>
                <a:latin typeface="Aptos" pitchFamily="34" charset="0"/>
                <a:ea typeface="Aptos" pitchFamily="34" charset="-122"/>
                <a:cs typeface="Aptos" pitchFamily="34" charset="-120"/>
              </a:rPr>
              <a:t>Add a reliability-aware gate so text changes the forecast only when it is useful. Extend to classification: ICU Readmission</a:t>
            </a:r>
            <a:endParaRPr lang="en-US" sz="1240"/>
          </a:p>
        </p:txBody>
      </p:sp>
      <p:sp>
        <p:nvSpPr>
          <p:cNvPr id="21" name="Shape 19"/>
          <p:cNvSpPr/>
          <p:nvPr/>
        </p:nvSpPr>
        <p:spPr>
          <a:xfrm>
            <a:off x="566928" y="2807612"/>
            <a:ext cx="5989320" cy="658368"/>
          </a:xfrm>
          <a:prstGeom prst="roundRect">
            <a:avLst>
              <a:gd name="adj" fmla="val 11111"/>
            </a:avLst>
          </a:prstGeom>
          <a:solidFill>
            <a:srgbClr val="11263F"/>
          </a:solidFill>
          <a:ln w="12700">
            <a:solidFill>
              <a:srgbClr val="11263F"/>
            </a:solidFill>
            <a:prstDash val="solid"/>
          </a:ln>
        </p:spPr>
        <p:txBody>
          <a:bodyPr/>
          <a:lstStyle/>
          <a:p>
            <a:endParaRPr lang="en-US"/>
          </a:p>
        </p:txBody>
      </p:sp>
      <p:sp>
        <p:nvSpPr>
          <p:cNvPr id="22" name="Text 20"/>
          <p:cNvSpPr/>
          <p:nvPr/>
        </p:nvSpPr>
        <p:spPr>
          <a:xfrm>
            <a:off x="749808" y="2972204"/>
            <a:ext cx="5577840" cy="310896"/>
          </a:xfrm>
          <a:prstGeom prst="rect">
            <a:avLst/>
          </a:prstGeom>
          <a:noFill/>
          <a:ln/>
        </p:spPr>
        <p:txBody>
          <a:bodyPr wrap="square" lIns="0" tIns="0" rIns="0" bIns="0" rtlCol="0" anchor="ctr"/>
          <a:lstStyle/>
          <a:p>
            <a:pPr marL="0" indent="0">
              <a:buNone/>
            </a:pPr>
            <a:r>
              <a:rPr lang="en-US" sz="1400" b="1">
                <a:solidFill>
                  <a:srgbClr val="FFFFFF"/>
                </a:solidFill>
                <a:latin typeface="Aptos" pitchFamily="34" charset="0"/>
              </a:rPr>
              <a:t>Original Paper Goal: Build deep learning architectures that can handle complex temporal dynamics and multimodal interactions</a:t>
            </a:r>
            <a:endParaRPr lang="en-US" sz="1400"/>
          </a:p>
        </p:txBody>
      </p:sp>
      <p:sp>
        <p:nvSpPr>
          <p:cNvPr id="23" name="Shape 21"/>
          <p:cNvSpPr/>
          <p:nvPr/>
        </p:nvSpPr>
        <p:spPr>
          <a:xfrm>
            <a:off x="6995160" y="749808"/>
            <a:ext cx="4645152" cy="5358384"/>
          </a:xfrm>
          <a:prstGeom prst="roundRect">
            <a:avLst>
              <a:gd name="adj" fmla="val 1575"/>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pic>
        <p:nvPicPr>
          <p:cNvPr id="26" name="Image 0" descr="/mnt/data/page3_tax2.png"/>
          <p:cNvPicPr>
            <a:picLocks noChangeAspect="1"/>
          </p:cNvPicPr>
          <p:nvPr/>
        </p:nvPicPr>
        <p:blipFill>
          <a:blip r:embed="rId3"/>
          <a:srcRect l="14683"/>
          <a:stretch>
            <a:fillRect/>
          </a:stretch>
        </p:blipFill>
        <p:spPr>
          <a:xfrm>
            <a:off x="7368033" y="946581"/>
            <a:ext cx="3741928" cy="3957998"/>
          </a:xfrm>
          <a:prstGeom prst="rect">
            <a:avLst/>
          </a:prstGeom>
        </p:spPr>
      </p:pic>
      <p:sp>
        <p:nvSpPr>
          <p:cNvPr id="25" name="Text 23"/>
          <p:cNvSpPr/>
          <p:nvPr/>
        </p:nvSpPr>
        <p:spPr>
          <a:xfrm>
            <a:off x="7296912" y="1424788"/>
            <a:ext cx="4069080" cy="384048"/>
          </a:xfrm>
          <a:prstGeom prst="rect">
            <a:avLst/>
          </a:prstGeom>
          <a:noFill/>
          <a:ln/>
        </p:spPr>
        <p:txBody>
          <a:bodyPr wrap="square" lIns="0" tIns="0" rIns="0" bIns="0" rtlCol="0" anchor="ctr"/>
          <a:lstStyle/>
          <a:p>
            <a:pPr marL="0" indent="0">
              <a:buNone/>
            </a:pPr>
            <a:r>
              <a:rPr lang="en-US" sz="1360">
                <a:solidFill>
                  <a:srgbClr val="6B7785"/>
                </a:solidFill>
                <a:latin typeface="Aptos" pitchFamily="34" charset="0"/>
                <a:ea typeface="Aptos" pitchFamily="34" charset="-122"/>
                <a:cs typeface="Aptos" pitchFamily="34" charset="-120"/>
              </a:rPr>
              <a:t>Introduces TIME-IMM, a dataset designed to reflect realistic multimodal multivariate time series data, and IMM-TSF, a benchmark library for forecasting </a:t>
            </a:r>
            <a:endParaRPr lang="en-US" sz="1360"/>
          </a:p>
        </p:txBody>
      </p:sp>
      <p:sp>
        <p:nvSpPr>
          <p:cNvPr id="27" name="Text 24"/>
          <p:cNvSpPr/>
          <p:nvPr/>
        </p:nvSpPr>
        <p:spPr>
          <a:xfrm>
            <a:off x="7296912" y="4961310"/>
            <a:ext cx="4041648" cy="475488"/>
          </a:xfrm>
          <a:prstGeom prst="rect">
            <a:avLst/>
          </a:prstGeom>
          <a:noFill/>
          <a:ln/>
        </p:spPr>
        <p:txBody>
          <a:bodyPr wrap="square" lIns="0" tIns="0" rIns="0" bIns="0" rtlCol="0" anchor="ctr"/>
          <a:lstStyle/>
          <a:p>
            <a:pPr marL="0" indent="0">
              <a:buNone/>
            </a:pPr>
            <a:r>
              <a:rPr lang="en-US" sz="1360" i="1">
                <a:solidFill>
                  <a:srgbClr val="22313F"/>
                </a:solidFill>
                <a:latin typeface="Aptos" pitchFamily="34" charset="0"/>
                <a:ea typeface="Aptos" pitchFamily="34" charset="-122"/>
                <a:cs typeface="Aptos" pitchFamily="34" charset="-120"/>
              </a:rPr>
              <a:t>TIME-IMM taxonomy: 9 datasets across trigger-based, constraint-based, and artifact-based irregularity.</a:t>
            </a:r>
            <a:endParaRPr lang="en-US" sz="1360"/>
          </a:p>
        </p:txBody>
      </p:sp>
      <p:sp>
        <p:nvSpPr>
          <p:cNvPr id="28" name="Shape 25"/>
          <p:cNvSpPr/>
          <p:nvPr/>
        </p:nvSpPr>
        <p:spPr>
          <a:xfrm>
            <a:off x="7269480" y="5596128"/>
            <a:ext cx="3977640" cy="384048"/>
          </a:xfrm>
          <a:prstGeom prst="roundRect">
            <a:avLst>
              <a:gd name="adj" fmla="val 14286"/>
            </a:avLst>
          </a:prstGeom>
          <a:solidFill>
            <a:srgbClr val="EAF1F8"/>
          </a:solidFill>
          <a:ln w="12700">
            <a:solidFill>
              <a:srgbClr val="5D89B3"/>
            </a:solidFill>
            <a:prstDash val="solid"/>
          </a:ln>
        </p:spPr>
        <p:txBody>
          <a:bodyPr/>
          <a:lstStyle/>
          <a:p>
            <a:endParaRPr lang="en-US"/>
          </a:p>
        </p:txBody>
      </p:sp>
      <p:sp>
        <p:nvSpPr>
          <p:cNvPr id="29" name="Text 26"/>
          <p:cNvSpPr/>
          <p:nvPr/>
        </p:nvSpPr>
        <p:spPr>
          <a:xfrm>
            <a:off x="7387349" y="5646420"/>
            <a:ext cx="4361688" cy="283464"/>
          </a:xfrm>
          <a:prstGeom prst="rect">
            <a:avLst/>
          </a:prstGeom>
          <a:noFill/>
          <a:ln/>
        </p:spPr>
        <p:txBody>
          <a:bodyPr wrap="square" lIns="0" tIns="0" rIns="0" bIns="0" rtlCol="0" anchor="ctr"/>
          <a:lstStyle/>
          <a:p>
            <a:pPr marL="0" indent="0">
              <a:buNone/>
            </a:pPr>
            <a:r>
              <a:rPr lang="en-US" sz="1100" b="1">
                <a:solidFill>
                  <a:srgbClr val="11263F"/>
                </a:solidFill>
                <a:latin typeface="Aptos" pitchFamily="34" charset="0"/>
                <a:ea typeface="Aptos" pitchFamily="34" charset="-122"/>
                <a:cs typeface="Aptos" pitchFamily="34" charset="-120"/>
              </a:rPr>
              <a:t>Code: github.com/blacksnail789521/Time-IMM + IMM-TSF</a:t>
            </a:r>
            <a:endParaRPr lang="en-US" sz="1100"/>
          </a:p>
        </p:txBody>
      </p:sp>
      <p:sp>
        <p:nvSpPr>
          <p:cNvPr id="24" name="Text 22"/>
          <p:cNvSpPr/>
          <p:nvPr/>
        </p:nvSpPr>
        <p:spPr>
          <a:xfrm>
            <a:off x="7269480" y="934364"/>
            <a:ext cx="3200400" cy="457200"/>
          </a:xfrm>
          <a:prstGeom prst="rect">
            <a:avLst/>
          </a:prstGeom>
          <a:noFill/>
          <a:ln/>
        </p:spPr>
        <p:txBody>
          <a:bodyPr wrap="square" lIns="0" tIns="0" rIns="0" bIns="0" rtlCol="0" anchor="ctr"/>
          <a:lstStyle/>
          <a:p>
            <a:pPr marL="0" indent="0">
              <a:buNone/>
            </a:pPr>
            <a:r>
              <a:rPr lang="en-US" sz="1850" b="1">
                <a:solidFill>
                  <a:srgbClr val="11263F"/>
                </a:solidFill>
                <a:latin typeface="Aptos" pitchFamily="34" charset="0"/>
                <a:ea typeface="Aptos" pitchFamily="34" charset="-122"/>
                <a:cs typeface="Aptos" pitchFamily="34" charset="-120"/>
              </a:rPr>
              <a:t>Motivating</a:t>
            </a:r>
            <a:r>
              <a:rPr lang="en-US" sz="1850"/>
              <a:t> </a:t>
            </a:r>
            <a:r>
              <a:rPr lang="en-US" sz="1850" b="1">
                <a:solidFill>
                  <a:srgbClr val="11263F"/>
                </a:solidFill>
                <a:latin typeface="Aptos" pitchFamily="34" charset="0"/>
                <a:ea typeface="Aptos" pitchFamily="34" charset="-122"/>
                <a:cs typeface="Aptos" pitchFamily="34" charset="-120"/>
              </a:rPr>
              <a:t>paper:</a:t>
            </a:r>
            <a:endParaRPr lang="en-US" sz="1850"/>
          </a:p>
        </p:txBody>
      </p:sp>
      <p:cxnSp>
        <p:nvCxnSpPr>
          <p:cNvPr id="31" name="Straight Arrow Connector 30">
            <a:extLst>
              <a:ext uri="{FF2B5EF4-FFF2-40B4-BE49-F238E27FC236}">
                <a16:creationId xmlns:a16="http://schemas.microsoft.com/office/drawing/2014/main" id="{FA6500BD-7203-6D08-D373-1D9B50F38581}"/>
              </a:ext>
            </a:extLst>
          </p:cNvPr>
          <p:cNvCxnSpPr>
            <a:cxnSpLocks/>
            <a:endCxn id="12" idx="1"/>
          </p:cNvCxnSpPr>
          <p:nvPr/>
        </p:nvCxnSpPr>
        <p:spPr>
          <a:xfrm>
            <a:off x="1536192" y="4480700"/>
            <a:ext cx="1271016" cy="388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388A391E-029F-FE72-6DC0-5F791308312C}"/>
              </a:ext>
            </a:extLst>
          </p:cNvPr>
          <p:cNvCxnSpPr/>
          <p:nvPr/>
        </p:nvCxnSpPr>
        <p:spPr>
          <a:xfrm>
            <a:off x="3575304" y="4485177"/>
            <a:ext cx="1271016" cy="3883"/>
          </a:xfrm>
          <a:prstGeom prst="straightConnector1">
            <a:avLst/>
          </a:prstGeom>
          <a:ln w="57150">
            <a:solidFill>
              <a:srgbClr val="70AD47"/>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63C8DC85-97A1-2DAF-7433-F66CC6BBE930}"/>
              </a:ext>
            </a:extLst>
          </p:cNvPr>
          <p:cNvSpPr/>
          <p:nvPr/>
        </p:nvSpPr>
        <p:spPr>
          <a:xfrm>
            <a:off x="1899312" y="3812670"/>
            <a:ext cx="2878428" cy="425333"/>
          </a:xfrm>
          <a:prstGeom prst="roundRect">
            <a:avLst/>
          </a:prstGeom>
          <a:solidFill>
            <a:schemeClr val="accent6">
              <a:lumMod val="40000"/>
              <a:lumOff val="60000"/>
            </a:schemeClr>
          </a:solidFill>
          <a:ln>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11BF277-91AF-C25A-CA53-D6CFABFF3635}"/>
              </a:ext>
            </a:extLst>
          </p:cNvPr>
          <p:cNvSpPr txBox="1"/>
          <p:nvPr/>
        </p:nvSpPr>
        <p:spPr>
          <a:xfrm>
            <a:off x="2427732" y="3851823"/>
            <a:ext cx="2258632" cy="369332"/>
          </a:xfrm>
          <a:prstGeom prst="rect">
            <a:avLst/>
          </a:prstGeom>
          <a:noFill/>
        </p:spPr>
        <p:txBody>
          <a:bodyPr wrap="square" rtlCol="0">
            <a:spAutoFit/>
          </a:bodyPr>
          <a:lstStyle/>
          <a:p>
            <a:r>
              <a:rPr lang="en-US" b="1">
                <a:solidFill>
                  <a:schemeClr val="tx2">
                    <a:lumMod val="75000"/>
                  </a:schemeClr>
                </a:solidFill>
              </a:rPr>
              <a:t>Our Project Goal: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66928"/>
            <a:ext cx="6766560" cy="438912"/>
          </a:xfrm>
          <a:prstGeom prst="rect">
            <a:avLst/>
          </a:prstGeom>
          <a:noFill/>
          <a:ln/>
        </p:spPr>
        <p:txBody>
          <a:bodyPr wrap="square" lIns="0" tIns="0" rIns="0" bIns="0" rtlCol="0" anchor="ctr"/>
          <a:lstStyle/>
          <a:p>
            <a:pPr marL="0" indent="0">
              <a:buNone/>
            </a:pPr>
            <a:r>
              <a:rPr lang="en-US" sz="2800" b="1">
                <a:solidFill>
                  <a:srgbClr val="11263F"/>
                </a:solidFill>
                <a:latin typeface="Aptos Display" pitchFamily="34" charset="0"/>
                <a:ea typeface="Aptos Display" pitchFamily="34" charset="-122"/>
                <a:cs typeface="Aptos Display" pitchFamily="34" charset="-120"/>
              </a:rPr>
              <a:t>Data, methods, and execution plan</a:t>
            </a:r>
            <a:endParaRPr lang="en-US" sz="2800"/>
          </a:p>
        </p:txBody>
      </p:sp>
      <p:sp>
        <p:nvSpPr>
          <p:cNvPr id="3" name="Text 1"/>
          <p:cNvSpPr/>
          <p:nvPr/>
        </p:nvSpPr>
        <p:spPr>
          <a:xfrm>
            <a:off x="530351" y="1088518"/>
            <a:ext cx="11305333" cy="318204"/>
          </a:xfrm>
          <a:prstGeom prst="rect">
            <a:avLst/>
          </a:prstGeom>
          <a:noFill/>
          <a:ln/>
        </p:spPr>
        <p:txBody>
          <a:bodyPr wrap="square" lIns="0" tIns="0" rIns="0" bIns="0" rtlCol="0" anchor="ctr"/>
          <a:lstStyle/>
          <a:p>
            <a:pPr marL="0" indent="0">
              <a:buNone/>
            </a:pPr>
            <a:r>
              <a:rPr lang="en-US" sz="1750">
                <a:solidFill>
                  <a:srgbClr val="6B7785"/>
                </a:solidFill>
                <a:latin typeface="Aptos" pitchFamily="34" charset="0"/>
                <a:ea typeface="Aptos" pitchFamily="34" charset="-122"/>
                <a:cs typeface="Aptos" pitchFamily="34" charset="-120"/>
              </a:rPr>
              <a:t>Replicate the paper first, then address a realistic healthcare research question through one architectural innovation.</a:t>
            </a:r>
            <a:endParaRPr lang="en-US" sz="1750"/>
          </a:p>
        </p:txBody>
      </p:sp>
      <p:sp>
        <p:nvSpPr>
          <p:cNvPr id="4" name="Shape 2"/>
          <p:cNvSpPr/>
          <p:nvPr/>
        </p:nvSpPr>
        <p:spPr>
          <a:xfrm>
            <a:off x="548640" y="1600200"/>
            <a:ext cx="4343400" cy="4639614"/>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5" name="Text 3"/>
          <p:cNvSpPr/>
          <p:nvPr/>
        </p:nvSpPr>
        <p:spPr>
          <a:xfrm>
            <a:off x="678787" y="1752069"/>
            <a:ext cx="3611880" cy="237744"/>
          </a:xfrm>
          <a:prstGeom prst="rect">
            <a:avLst/>
          </a:prstGeom>
          <a:noFill/>
          <a:ln/>
        </p:spPr>
        <p:txBody>
          <a:bodyPr wrap="square" lIns="0" tIns="0" rIns="0" bIns="0" rtlCol="0" anchor="ctr"/>
          <a:lstStyle/>
          <a:p>
            <a:pPr marL="0" indent="0">
              <a:buNone/>
            </a:pPr>
            <a:r>
              <a:rPr lang="en-US" b="1">
                <a:solidFill>
                  <a:srgbClr val="11263F"/>
                </a:solidFill>
                <a:latin typeface="Aptos" pitchFamily="34" charset="0"/>
                <a:ea typeface="Aptos" pitchFamily="34" charset="-122"/>
                <a:cs typeface="Aptos" pitchFamily="34" charset="-120"/>
              </a:rPr>
              <a:t>Replication + healthcare use case</a:t>
            </a:r>
            <a:endParaRPr lang="en-US"/>
          </a:p>
        </p:txBody>
      </p:sp>
      <p:sp>
        <p:nvSpPr>
          <p:cNvPr id="6" name="Text 4"/>
          <p:cNvSpPr/>
          <p:nvPr/>
        </p:nvSpPr>
        <p:spPr>
          <a:xfrm>
            <a:off x="790272" y="2184964"/>
            <a:ext cx="3593592" cy="127798"/>
          </a:xfrm>
          <a:prstGeom prst="rect">
            <a:avLst/>
          </a:prstGeom>
          <a:noFill/>
          <a:ln/>
        </p:spPr>
        <p:txBody>
          <a:bodyPr wrap="square" lIns="0" tIns="0" rIns="0" bIns="0" rtlCol="0" anchor="ctr"/>
          <a:lstStyle/>
          <a:p>
            <a:pPr marL="0" indent="0">
              <a:buNone/>
            </a:pPr>
            <a:r>
              <a:rPr lang="en-US" sz="1360" b="1">
                <a:solidFill>
                  <a:srgbClr val="6B7785"/>
                </a:solidFill>
                <a:latin typeface="Aptos" pitchFamily="34" charset="0"/>
                <a:ea typeface="Aptos" pitchFamily="34" charset="-122"/>
                <a:cs typeface="Aptos" pitchFamily="34" charset="-120"/>
              </a:rPr>
              <a:t>Reproduce and Expand Time-IMM + IMM-TSF</a:t>
            </a:r>
            <a:endParaRPr lang="en-US" sz="1360"/>
          </a:p>
        </p:txBody>
      </p:sp>
      <p:sp>
        <p:nvSpPr>
          <p:cNvPr id="9" name="Shape 7"/>
          <p:cNvSpPr/>
          <p:nvPr/>
        </p:nvSpPr>
        <p:spPr>
          <a:xfrm>
            <a:off x="638541" y="2635273"/>
            <a:ext cx="107899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10" name="Text 8"/>
          <p:cNvSpPr/>
          <p:nvPr/>
        </p:nvSpPr>
        <p:spPr>
          <a:xfrm>
            <a:off x="670545" y="2723715"/>
            <a:ext cx="101498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ClusterTrace</a:t>
            </a:r>
            <a:endParaRPr lang="en-US" sz="1170"/>
          </a:p>
        </p:txBody>
      </p:sp>
      <p:sp>
        <p:nvSpPr>
          <p:cNvPr id="11" name="Shape 9"/>
          <p:cNvSpPr/>
          <p:nvPr/>
        </p:nvSpPr>
        <p:spPr>
          <a:xfrm>
            <a:off x="1128568" y="2970115"/>
            <a:ext cx="8686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12" name="Text 10"/>
          <p:cNvSpPr/>
          <p:nvPr/>
        </p:nvSpPr>
        <p:spPr>
          <a:xfrm>
            <a:off x="923375" y="3057351"/>
            <a:ext cx="128930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FNSPID</a:t>
            </a:r>
            <a:endParaRPr lang="en-US" sz="1170"/>
          </a:p>
        </p:txBody>
      </p:sp>
      <p:sp>
        <p:nvSpPr>
          <p:cNvPr id="13" name="Text 11"/>
          <p:cNvSpPr/>
          <p:nvPr/>
        </p:nvSpPr>
        <p:spPr>
          <a:xfrm>
            <a:off x="846400" y="3832325"/>
            <a:ext cx="3799902" cy="1060704"/>
          </a:xfrm>
          <a:prstGeom prst="rect">
            <a:avLst/>
          </a:prstGeom>
          <a:noFill/>
          <a:ln/>
        </p:spPr>
        <p:txBody>
          <a:bodyPr wrap="square" lIns="254" tIns="254" rIns="254" bIns="254" rtlCol="0" anchor="ctr"/>
          <a:lstStyle/>
          <a:p>
            <a:pPr marL="0" indent="0">
              <a:buNone/>
            </a:pPr>
            <a:r>
              <a:rPr lang="en-US" sz="1480" b="1">
                <a:solidFill>
                  <a:srgbClr val="C39A57"/>
                </a:solidFill>
                <a:latin typeface="Aptos" pitchFamily="34" charset="0"/>
                <a:ea typeface="Aptos" pitchFamily="34" charset="-122"/>
                <a:cs typeface="Aptos" pitchFamily="34" charset="-120"/>
              </a:rPr>
              <a:t>• </a:t>
            </a:r>
            <a:r>
              <a:rPr lang="en-US" sz="1480">
                <a:solidFill>
                  <a:srgbClr val="22313F"/>
                </a:solidFill>
                <a:latin typeface="Aptos" pitchFamily="34" charset="0"/>
                <a:ea typeface="Aptos" pitchFamily="34" charset="-122"/>
                <a:cs typeface="Aptos" pitchFamily="34" charset="-120"/>
              </a:rPr>
              <a:t>Reproduce benchmark results with a subset </a:t>
            </a:r>
          </a:p>
          <a:p>
            <a:pPr marL="0" indent="0">
              <a:buNone/>
            </a:pPr>
            <a:r>
              <a:rPr lang="en-US" sz="1480">
                <a:solidFill>
                  <a:srgbClr val="22313F"/>
                </a:solidFill>
                <a:latin typeface="Aptos" pitchFamily="34" charset="0"/>
                <a:ea typeface="Aptos" pitchFamily="34" charset="-122"/>
                <a:cs typeface="Aptos" pitchFamily="34" charset="-120"/>
              </a:rPr>
              <a:t>   of datasets from the original 9, using the </a:t>
            </a:r>
          </a:p>
          <a:p>
            <a:pPr marL="0" indent="0">
              <a:buNone/>
            </a:pPr>
            <a:r>
              <a:rPr lang="en-US" sz="1480">
                <a:solidFill>
                  <a:srgbClr val="22313F"/>
                </a:solidFill>
                <a:latin typeface="Aptos" pitchFamily="34" charset="0"/>
                <a:ea typeface="Aptos" pitchFamily="34" charset="-122"/>
                <a:cs typeface="Aptos" pitchFamily="34" charset="-120"/>
              </a:rPr>
              <a:t>   paper’s chronological 60/20/20 split, sliding </a:t>
            </a:r>
          </a:p>
          <a:p>
            <a:pPr marL="0" indent="0">
              <a:buNone/>
            </a:pPr>
            <a:r>
              <a:rPr lang="en-US" sz="1480">
                <a:solidFill>
                  <a:srgbClr val="22313F"/>
                </a:solidFill>
                <a:latin typeface="Aptos" pitchFamily="34" charset="0"/>
                <a:ea typeface="Aptos" pitchFamily="34" charset="-122"/>
                <a:cs typeface="Aptos" pitchFamily="34" charset="-120"/>
              </a:rPr>
              <a:t>   windows, and MSE.</a:t>
            </a:r>
            <a:endParaRPr lang="en-US" sz="1480"/>
          </a:p>
          <a:p>
            <a:pPr marL="0" indent="0">
              <a:buNone/>
            </a:pPr>
            <a:r>
              <a:rPr lang="en-US" sz="1480" b="1">
                <a:solidFill>
                  <a:srgbClr val="C39A57"/>
                </a:solidFill>
                <a:latin typeface="Aptos" pitchFamily="34" charset="0"/>
                <a:ea typeface="Aptos" pitchFamily="34" charset="-122"/>
                <a:cs typeface="Aptos" pitchFamily="34" charset="-120"/>
              </a:rPr>
              <a:t>• </a:t>
            </a:r>
            <a:r>
              <a:rPr lang="en-US" sz="1480">
                <a:solidFill>
                  <a:srgbClr val="22313F"/>
                </a:solidFill>
                <a:latin typeface="Aptos" pitchFamily="34" charset="0"/>
                <a:ea typeface="Aptos" pitchFamily="34" charset="-122"/>
                <a:cs typeface="Aptos" pitchFamily="34" charset="-120"/>
              </a:rPr>
              <a:t>Healthcare application: test when clinical </a:t>
            </a:r>
          </a:p>
          <a:p>
            <a:pPr marL="0" indent="0">
              <a:buNone/>
            </a:pPr>
            <a:r>
              <a:rPr lang="en-US" sz="1480">
                <a:solidFill>
                  <a:srgbClr val="22313F"/>
                </a:solidFill>
                <a:latin typeface="Aptos" pitchFamily="34" charset="0"/>
                <a:ea typeface="Aptos" pitchFamily="34" charset="-122"/>
                <a:cs typeface="Aptos" pitchFamily="34" charset="-120"/>
              </a:rPr>
              <a:t>   text helps most in MIMIC by note density,</a:t>
            </a:r>
          </a:p>
          <a:p>
            <a:pPr marL="0" indent="0">
              <a:buNone/>
            </a:pPr>
            <a:r>
              <a:rPr lang="en-US" sz="1480">
                <a:solidFill>
                  <a:srgbClr val="22313F"/>
                </a:solidFill>
                <a:latin typeface="Aptos" pitchFamily="34" charset="0"/>
                <a:ea typeface="Aptos" pitchFamily="34" charset="-122"/>
                <a:cs typeface="Aptos" pitchFamily="34" charset="-120"/>
              </a:rPr>
              <a:t>   forecast horizon, and missingness.</a:t>
            </a:r>
            <a:endParaRPr lang="en-US" sz="1480"/>
          </a:p>
        </p:txBody>
      </p:sp>
      <p:sp>
        <p:nvSpPr>
          <p:cNvPr id="14" name="Shape 12"/>
          <p:cNvSpPr/>
          <p:nvPr/>
        </p:nvSpPr>
        <p:spPr>
          <a:xfrm>
            <a:off x="841248" y="5448396"/>
            <a:ext cx="3611880" cy="658368"/>
          </a:xfrm>
          <a:prstGeom prst="roundRect">
            <a:avLst>
              <a:gd name="adj" fmla="val 8333"/>
            </a:avLst>
          </a:prstGeom>
          <a:solidFill>
            <a:srgbClr val="F7E8E6"/>
          </a:solidFill>
          <a:ln w="12700">
            <a:solidFill>
              <a:srgbClr val="D97B73"/>
            </a:solidFill>
            <a:prstDash val="solid"/>
          </a:ln>
        </p:spPr>
        <p:txBody>
          <a:bodyPr/>
          <a:lstStyle/>
          <a:p>
            <a:endParaRPr lang="en-US"/>
          </a:p>
        </p:txBody>
      </p:sp>
      <p:sp>
        <p:nvSpPr>
          <p:cNvPr id="15" name="Text 13"/>
          <p:cNvSpPr/>
          <p:nvPr/>
        </p:nvSpPr>
        <p:spPr>
          <a:xfrm>
            <a:off x="987552" y="5612988"/>
            <a:ext cx="3291840" cy="310896"/>
          </a:xfrm>
          <a:prstGeom prst="rect">
            <a:avLst/>
          </a:prstGeom>
          <a:noFill/>
          <a:ln/>
        </p:spPr>
        <p:txBody>
          <a:bodyPr wrap="square" lIns="0" tIns="0" rIns="0" bIns="0" rtlCol="0" anchor="ctr"/>
          <a:lstStyle/>
          <a:p>
            <a:pPr marL="0" indent="0" algn="ctr">
              <a:buNone/>
            </a:pPr>
            <a:r>
              <a:rPr lang="en-US" sz="1310" b="1">
                <a:solidFill>
                  <a:srgbClr val="11263F"/>
                </a:solidFill>
                <a:latin typeface="Aptos" pitchFamily="34" charset="0"/>
                <a:ea typeface="Aptos" pitchFamily="34" charset="-122"/>
                <a:cs typeface="Aptos" pitchFamily="34" charset="-120"/>
              </a:rPr>
              <a:t>Replicate RecAvg, T2V-XAttn, GR-Add, and XAttn-Add, using TSF backbones including the t-</a:t>
            </a:r>
            <a:r>
              <a:rPr lang="en-US" sz="1310" b="1" err="1">
                <a:solidFill>
                  <a:srgbClr val="11263F"/>
                </a:solidFill>
                <a:latin typeface="Aptos" pitchFamily="34" charset="0"/>
                <a:ea typeface="Aptos" pitchFamily="34" charset="-122"/>
                <a:cs typeface="Aptos" pitchFamily="34" charset="-120"/>
              </a:rPr>
              <a:t>PatchGNN</a:t>
            </a:r>
            <a:r>
              <a:rPr lang="en-US" sz="1310" b="1">
                <a:solidFill>
                  <a:srgbClr val="11263F"/>
                </a:solidFill>
                <a:latin typeface="Aptos" pitchFamily="34" charset="0"/>
                <a:ea typeface="Aptos" pitchFamily="34" charset="-122"/>
                <a:cs typeface="Aptos" pitchFamily="34" charset="-120"/>
              </a:rPr>
              <a:t> as in the original paper.</a:t>
            </a:r>
            <a:endParaRPr lang="en-US" sz="1310"/>
          </a:p>
        </p:txBody>
      </p:sp>
      <p:sp>
        <p:nvSpPr>
          <p:cNvPr id="16" name="Shape 14"/>
          <p:cNvSpPr/>
          <p:nvPr/>
        </p:nvSpPr>
        <p:spPr>
          <a:xfrm>
            <a:off x="5105400" y="1600200"/>
            <a:ext cx="6537960" cy="4639614"/>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22" name="Shape 19"/>
          <p:cNvSpPr/>
          <p:nvPr/>
        </p:nvSpPr>
        <p:spPr>
          <a:xfrm>
            <a:off x="9674352" y="3865776"/>
            <a:ext cx="135331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23" name="Text 20"/>
          <p:cNvSpPr/>
          <p:nvPr/>
        </p:nvSpPr>
        <p:spPr>
          <a:xfrm>
            <a:off x="9738360" y="3970595"/>
            <a:ext cx="1225296"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Note density</a:t>
            </a:r>
            <a:endParaRPr lang="en-US" sz="1170"/>
          </a:p>
        </p:txBody>
      </p:sp>
      <p:sp>
        <p:nvSpPr>
          <p:cNvPr id="26" name="Shape 23"/>
          <p:cNvSpPr/>
          <p:nvPr/>
        </p:nvSpPr>
        <p:spPr>
          <a:xfrm>
            <a:off x="9857232" y="4249824"/>
            <a:ext cx="1234440" cy="292608"/>
          </a:xfrm>
          <a:prstGeom prst="roundRect">
            <a:avLst>
              <a:gd name="adj" fmla="val 18750"/>
            </a:avLst>
          </a:prstGeom>
          <a:solidFill>
            <a:srgbClr val="F7E8E6"/>
          </a:solidFill>
          <a:ln w="12700">
            <a:solidFill>
              <a:srgbClr val="D97B73"/>
            </a:solidFill>
            <a:prstDash val="solid"/>
          </a:ln>
        </p:spPr>
        <p:txBody>
          <a:bodyPr/>
          <a:lstStyle/>
          <a:p>
            <a:endParaRPr lang="en-US"/>
          </a:p>
        </p:txBody>
      </p:sp>
      <p:sp>
        <p:nvSpPr>
          <p:cNvPr id="27" name="Text 24"/>
          <p:cNvSpPr/>
          <p:nvPr/>
        </p:nvSpPr>
        <p:spPr>
          <a:xfrm>
            <a:off x="9829800" y="4311686"/>
            <a:ext cx="1280160" cy="160463"/>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TS-text alignment</a:t>
            </a:r>
            <a:endParaRPr lang="en-US" sz="1170"/>
          </a:p>
        </p:txBody>
      </p:sp>
      <p:sp>
        <p:nvSpPr>
          <p:cNvPr id="28" name="Text 25"/>
          <p:cNvSpPr/>
          <p:nvPr/>
        </p:nvSpPr>
        <p:spPr>
          <a:xfrm>
            <a:off x="5580888" y="4978486"/>
            <a:ext cx="5623560" cy="914400"/>
          </a:xfrm>
          <a:prstGeom prst="rect">
            <a:avLst/>
          </a:prstGeom>
          <a:noFill/>
          <a:ln/>
        </p:spPr>
        <p:txBody>
          <a:bodyPr wrap="square" lIns="254" tIns="254" rIns="254" bIns="254" rtlCol="0" anchor="ctr"/>
          <a:lstStyle/>
          <a:p>
            <a:pPr marL="0" indent="0">
              <a:buNone/>
            </a:pPr>
            <a:r>
              <a:rPr lang="en-US" sz="1460" b="1">
                <a:solidFill>
                  <a:srgbClr val="D97B73"/>
                </a:solidFill>
                <a:latin typeface="Aptos" pitchFamily="34" charset="0"/>
                <a:ea typeface="Aptos" pitchFamily="34" charset="-122"/>
                <a:cs typeface="Aptos" pitchFamily="34" charset="-120"/>
              </a:rPr>
              <a:t>• </a:t>
            </a:r>
            <a:r>
              <a:rPr lang="en-US" sz="1460">
                <a:solidFill>
                  <a:srgbClr val="22313F"/>
                </a:solidFill>
                <a:latin typeface="Aptos" pitchFamily="34" charset="0"/>
                <a:ea typeface="Aptos" pitchFamily="34" charset="-122"/>
                <a:cs typeface="Aptos" pitchFamily="34" charset="-120"/>
              </a:rPr>
              <a:t>Goal: improve over GR-Add and XAttn-Add by using text selectively.</a:t>
            </a:r>
            <a:endParaRPr lang="en-US" sz="1460"/>
          </a:p>
          <a:p>
            <a:pPr marL="0" indent="0">
              <a:buNone/>
            </a:pPr>
            <a:r>
              <a:rPr lang="en-US" sz="1460" b="1">
                <a:solidFill>
                  <a:srgbClr val="D97B73"/>
                </a:solidFill>
                <a:latin typeface="Aptos" pitchFamily="34" charset="0"/>
                <a:ea typeface="Aptos" pitchFamily="34" charset="-122"/>
                <a:cs typeface="Aptos" pitchFamily="34" charset="-120"/>
              </a:rPr>
              <a:t>• </a:t>
            </a:r>
            <a:r>
              <a:rPr lang="en-US" sz="1460">
                <a:solidFill>
                  <a:srgbClr val="22313F"/>
                </a:solidFill>
                <a:latin typeface="Aptos" pitchFamily="34" charset="0"/>
                <a:ea typeface="Aptos" pitchFamily="34" charset="-122"/>
                <a:cs typeface="Aptos" pitchFamily="34" charset="-120"/>
              </a:rPr>
              <a:t>Evaluation: MSE, MAE, reproduced-vs-reported trends, and full  </a:t>
            </a:r>
          </a:p>
          <a:p>
            <a:pPr marL="0" indent="0">
              <a:buNone/>
            </a:pPr>
            <a:r>
              <a:rPr lang="en-US" sz="1460">
                <a:solidFill>
                  <a:srgbClr val="22313F"/>
                </a:solidFill>
                <a:latin typeface="Aptos" pitchFamily="34" charset="0"/>
                <a:ea typeface="Aptos" pitchFamily="34" charset="-122"/>
                <a:cs typeface="Aptos" pitchFamily="34" charset="-120"/>
              </a:rPr>
              <a:t>    ablation study.</a:t>
            </a:r>
            <a:endParaRPr lang="en-US" sz="1460"/>
          </a:p>
          <a:p>
            <a:pPr marL="0" indent="0">
              <a:buNone/>
            </a:pPr>
            <a:r>
              <a:rPr lang="en-US" sz="1460" b="1">
                <a:solidFill>
                  <a:srgbClr val="D97B73"/>
                </a:solidFill>
                <a:latin typeface="Aptos" pitchFamily="34" charset="0"/>
                <a:ea typeface="Aptos" pitchFamily="34" charset="-122"/>
                <a:cs typeface="Aptos" pitchFamily="34" charset="-120"/>
              </a:rPr>
              <a:t>• </a:t>
            </a:r>
            <a:r>
              <a:rPr lang="en-US" sz="1460">
                <a:solidFill>
                  <a:srgbClr val="22313F"/>
                </a:solidFill>
                <a:latin typeface="Aptos" pitchFamily="34" charset="0"/>
                <a:ea typeface="Aptos" pitchFamily="34" charset="-122"/>
                <a:cs typeface="Aptos" pitchFamily="34" charset="-120"/>
              </a:rPr>
              <a:t>Ablation ladder: recency only → +note density → +missingness → full </a:t>
            </a:r>
          </a:p>
          <a:p>
            <a:pPr marL="0" indent="0">
              <a:buNone/>
            </a:pPr>
            <a:r>
              <a:rPr lang="en-US" sz="1460">
                <a:solidFill>
                  <a:srgbClr val="22313F"/>
                </a:solidFill>
                <a:latin typeface="Aptos" pitchFamily="34" charset="0"/>
                <a:ea typeface="Aptos" pitchFamily="34" charset="-122"/>
                <a:cs typeface="Aptos" pitchFamily="34" charset="-120"/>
              </a:rPr>
              <a:t>   reliability gate.</a:t>
            </a:r>
            <a:endParaRPr lang="en-US" sz="1460"/>
          </a:p>
        </p:txBody>
      </p:sp>
      <p:pic>
        <p:nvPicPr>
          <p:cNvPr id="44" name="Picture 43">
            <a:extLst>
              <a:ext uri="{FF2B5EF4-FFF2-40B4-BE49-F238E27FC236}">
                <a16:creationId xmlns:a16="http://schemas.microsoft.com/office/drawing/2014/main" id="{11A63813-F542-59E0-DF3D-7E5AA15D55B1}"/>
              </a:ext>
            </a:extLst>
          </p:cNvPr>
          <p:cNvPicPr>
            <a:picLocks noChangeAspect="1"/>
          </p:cNvPicPr>
          <p:nvPr/>
        </p:nvPicPr>
        <p:blipFill>
          <a:blip r:embed="rId3"/>
          <a:stretch>
            <a:fillRect/>
          </a:stretch>
        </p:blipFill>
        <p:spPr>
          <a:xfrm>
            <a:off x="5303287" y="2263131"/>
            <a:ext cx="3408261" cy="2031414"/>
          </a:xfrm>
          <a:prstGeom prst="rect">
            <a:avLst/>
          </a:prstGeom>
        </p:spPr>
      </p:pic>
      <p:sp>
        <p:nvSpPr>
          <p:cNvPr id="17" name="Text 15"/>
          <p:cNvSpPr/>
          <p:nvPr/>
        </p:nvSpPr>
        <p:spPr>
          <a:xfrm>
            <a:off x="5279057" y="1607890"/>
            <a:ext cx="6202466" cy="458654"/>
          </a:xfrm>
          <a:prstGeom prst="rect">
            <a:avLst/>
          </a:prstGeom>
          <a:noFill/>
          <a:ln/>
        </p:spPr>
        <p:txBody>
          <a:bodyPr wrap="square" lIns="0" tIns="0" rIns="0" bIns="0" rtlCol="0" anchor="ctr"/>
          <a:lstStyle/>
          <a:p>
            <a:pPr marL="0" indent="0">
              <a:buNone/>
            </a:pPr>
            <a:r>
              <a:rPr lang="en-US" sz="1900" b="1">
                <a:solidFill>
                  <a:srgbClr val="11263F"/>
                </a:solidFill>
                <a:latin typeface="Aptos" pitchFamily="34" charset="0"/>
                <a:ea typeface="Aptos" pitchFamily="34" charset="-122"/>
                <a:cs typeface="Aptos" pitchFamily="34" charset="-120"/>
              </a:rPr>
              <a:t>Method extension: Reliability-Aware GR-Add (RA-</a:t>
            </a:r>
            <a:r>
              <a:rPr lang="en-US" sz="1900" b="1" err="1">
                <a:solidFill>
                  <a:srgbClr val="11263F"/>
                </a:solidFill>
                <a:latin typeface="Aptos" pitchFamily="34" charset="0"/>
                <a:ea typeface="Aptos" pitchFamily="34" charset="-122"/>
                <a:cs typeface="Aptos" pitchFamily="34" charset="-120"/>
              </a:rPr>
              <a:t>GRAdd</a:t>
            </a:r>
            <a:r>
              <a:rPr lang="en-US" sz="1900" b="1">
                <a:solidFill>
                  <a:srgbClr val="11263F"/>
                </a:solidFill>
                <a:latin typeface="Aptos" pitchFamily="34" charset="0"/>
                <a:ea typeface="Aptos" pitchFamily="34" charset="-122"/>
                <a:cs typeface="Aptos" pitchFamily="34" charset="-120"/>
              </a:rPr>
              <a:t>)</a:t>
            </a:r>
            <a:endParaRPr lang="en-US" sz="1900"/>
          </a:p>
        </p:txBody>
      </p:sp>
      <p:sp>
        <p:nvSpPr>
          <p:cNvPr id="48" name="Star: 6 Points 47">
            <a:extLst>
              <a:ext uri="{FF2B5EF4-FFF2-40B4-BE49-F238E27FC236}">
                <a16:creationId xmlns:a16="http://schemas.microsoft.com/office/drawing/2014/main" id="{E2266050-D5FE-6BB3-BB60-A580ACBFABDF}"/>
              </a:ext>
            </a:extLst>
          </p:cNvPr>
          <p:cNvSpPr/>
          <p:nvPr/>
        </p:nvSpPr>
        <p:spPr>
          <a:xfrm rot="1011515">
            <a:off x="3762523" y="2528422"/>
            <a:ext cx="934945" cy="693491"/>
          </a:xfrm>
          <a:prstGeom prst="star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hape 5">
            <a:extLst>
              <a:ext uri="{FF2B5EF4-FFF2-40B4-BE49-F238E27FC236}">
                <a16:creationId xmlns:a16="http://schemas.microsoft.com/office/drawing/2014/main" id="{12691C4B-0A69-3603-5869-74061BD6E71C}"/>
              </a:ext>
            </a:extLst>
          </p:cNvPr>
          <p:cNvSpPr/>
          <p:nvPr/>
        </p:nvSpPr>
        <p:spPr>
          <a:xfrm>
            <a:off x="2070020" y="2973494"/>
            <a:ext cx="868680" cy="292608"/>
          </a:xfrm>
          <a:prstGeom prst="roundRect">
            <a:avLst>
              <a:gd name="adj" fmla="val 18750"/>
            </a:avLst>
          </a:prstGeom>
          <a:solidFill>
            <a:schemeClr val="accent2">
              <a:lumMod val="20000"/>
              <a:lumOff val="80000"/>
            </a:schemeClr>
          </a:solidFill>
          <a:ln w="12700">
            <a:solidFill>
              <a:schemeClr val="accent2">
                <a:lumMod val="60000"/>
                <a:lumOff val="40000"/>
              </a:schemeClr>
            </a:solidFill>
            <a:prstDash val="solid"/>
          </a:ln>
        </p:spPr>
        <p:txBody>
          <a:bodyPr/>
          <a:lstStyle/>
          <a:p>
            <a:endParaRPr lang="en-US"/>
          </a:p>
        </p:txBody>
      </p:sp>
      <p:sp>
        <p:nvSpPr>
          <p:cNvPr id="43" name="Text 6">
            <a:extLst>
              <a:ext uri="{FF2B5EF4-FFF2-40B4-BE49-F238E27FC236}">
                <a16:creationId xmlns:a16="http://schemas.microsoft.com/office/drawing/2014/main" id="{974EB6E6-652B-58AC-00D8-7C221930C4C4}"/>
              </a:ext>
            </a:extLst>
          </p:cNvPr>
          <p:cNvSpPr/>
          <p:nvPr/>
        </p:nvSpPr>
        <p:spPr>
          <a:xfrm>
            <a:off x="2124458" y="3064737"/>
            <a:ext cx="74066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GEDT</a:t>
            </a:r>
            <a:endParaRPr lang="en-US" sz="1170"/>
          </a:p>
        </p:txBody>
      </p:sp>
      <p:sp>
        <p:nvSpPr>
          <p:cNvPr id="49" name="Star: 6 Points 48">
            <a:extLst>
              <a:ext uri="{FF2B5EF4-FFF2-40B4-BE49-F238E27FC236}">
                <a16:creationId xmlns:a16="http://schemas.microsoft.com/office/drawing/2014/main" id="{FBF48A1B-B4F9-E362-A43C-D4088591B61D}"/>
              </a:ext>
            </a:extLst>
          </p:cNvPr>
          <p:cNvSpPr/>
          <p:nvPr/>
        </p:nvSpPr>
        <p:spPr>
          <a:xfrm rot="20272137">
            <a:off x="3742405" y="2520777"/>
            <a:ext cx="934945" cy="693491"/>
          </a:xfrm>
          <a:prstGeom prst="star6">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hape 5"/>
          <p:cNvSpPr/>
          <p:nvPr/>
        </p:nvSpPr>
        <p:spPr>
          <a:xfrm>
            <a:off x="3777622" y="2731862"/>
            <a:ext cx="868680"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8" name="Text 6"/>
          <p:cNvSpPr/>
          <p:nvPr/>
        </p:nvSpPr>
        <p:spPr>
          <a:xfrm>
            <a:off x="3841630" y="2805014"/>
            <a:ext cx="74066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MIMIC</a:t>
            </a:r>
            <a:endParaRPr lang="en-US" sz="1170"/>
          </a:p>
        </p:txBody>
      </p:sp>
      <p:sp>
        <p:nvSpPr>
          <p:cNvPr id="19" name="Text 16"/>
          <p:cNvSpPr/>
          <p:nvPr/>
        </p:nvSpPr>
        <p:spPr>
          <a:xfrm>
            <a:off x="8909435" y="2547544"/>
            <a:ext cx="2685927" cy="694944"/>
          </a:xfrm>
          <a:prstGeom prst="rect">
            <a:avLst/>
          </a:prstGeom>
          <a:noFill/>
          <a:ln/>
        </p:spPr>
        <p:txBody>
          <a:bodyPr wrap="square" lIns="0" tIns="0" rIns="0" bIns="0" rtlCol="0" anchor="ctr"/>
          <a:lstStyle/>
          <a:p>
            <a:pPr marL="0" indent="0">
              <a:buNone/>
            </a:pPr>
            <a:r>
              <a:rPr lang="en-US" sz="1460">
                <a:solidFill>
                  <a:srgbClr val="22313F"/>
                </a:solidFill>
                <a:latin typeface="Aptos" pitchFamily="34" charset="0"/>
                <a:ea typeface="Aptos" pitchFamily="34" charset="-122"/>
                <a:cs typeface="Aptos" pitchFamily="34" charset="-120"/>
              </a:rPr>
              <a:t>Keep the paper’s IMM-TSF pipeline but replace the final fusion step with a smarter gate that decides when text should change the forecast.</a:t>
            </a:r>
            <a:endParaRPr lang="en-US" sz="1460"/>
          </a:p>
        </p:txBody>
      </p:sp>
      <p:sp>
        <p:nvSpPr>
          <p:cNvPr id="20" name="Shape 17"/>
          <p:cNvSpPr/>
          <p:nvPr/>
        </p:nvSpPr>
        <p:spPr>
          <a:xfrm>
            <a:off x="8485632" y="3865776"/>
            <a:ext cx="10972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21" name="Text 18"/>
          <p:cNvSpPr/>
          <p:nvPr/>
        </p:nvSpPr>
        <p:spPr>
          <a:xfrm>
            <a:off x="8549640" y="3958245"/>
            <a:ext cx="96926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Recency</a:t>
            </a:r>
            <a:endParaRPr lang="en-US" sz="1170"/>
          </a:p>
        </p:txBody>
      </p:sp>
      <p:sp>
        <p:nvSpPr>
          <p:cNvPr id="24" name="Shape 21"/>
          <p:cNvSpPr/>
          <p:nvPr/>
        </p:nvSpPr>
        <p:spPr>
          <a:xfrm>
            <a:off x="8485632" y="4249824"/>
            <a:ext cx="1261872"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25" name="Text 22"/>
          <p:cNvSpPr/>
          <p:nvPr/>
        </p:nvSpPr>
        <p:spPr>
          <a:xfrm>
            <a:off x="8549640" y="4335854"/>
            <a:ext cx="1133856"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Missingness</a:t>
            </a:r>
            <a:endParaRPr lang="en-US" sz="1170"/>
          </a:p>
        </p:txBody>
      </p:sp>
      <p:sp>
        <p:nvSpPr>
          <p:cNvPr id="50" name="Shape 5">
            <a:extLst>
              <a:ext uri="{FF2B5EF4-FFF2-40B4-BE49-F238E27FC236}">
                <a16:creationId xmlns:a16="http://schemas.microsoft.com/office/drawing/2014/main" id="{A16B8715-4CF3-E7C5-30CB-523DDB90BA5A}"/>
              </a:ext>
            </a:extLst>
          </p:cNvPr>
          <p:cNvSpPr/>
          <p:nvPr/>
        </p:nvSpPr>
        <p:spPr>
          <a:xfrm>
            <a:off x="1796473" y="2649431"/>
            <a:ext cx="868680" cy="292608"/>
          </a:xfrm>
          <a:prstGeom prst="roundRect">
            <a:avLst>
              <a:gd name="adj" fmla="val 18750"/>
            </a:avLst>
          </a:prstGeom>
          <a:solidFill>
            <a:srgbClr val="DED5E5"/>
          </a:solidFill>
          <a:ln w="12700">
            <a:solidFill>
              <a:srgbClr val="7030A0"/>
            </a:solidFill>
            <a:prstDash val="solid"/>
          </a:ln>
        </p:spPr>
        <p:txBody>
          <a:bodyPr/>
          <a:lstStyle/>
          <a:p>
            <a:endParaRPr lang="en-US"/>
          </a:p>
        </p:txBody>
      </p:sp>
      <p:sp>
        <p:nvSpPr>
          <p:cNvPr id="51" name="Text 6">
            <a:extLst>
              <a:ext uri="{FF2B5EF4-FFF2-40B4-BE49-F238E27FC236}">
                <a16:creationId xmlns:a16="http://schemas.microsoft.com/office/drawing/2014/main" id="{8D9D0614-FD3C-BB8B-C18F-27A81E5D7AF6}"/>
              </a:ext>
            </a:extLst>
          </p:cNvPr>
          <p:cNvSpPr/>
          <p:nvPr/>
        </p:nvSpPr>
        <p:spPr>
          <a:xfrm>
            <a:off x="1850911" y="2740674"/>
            <a:ext cx="74066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CESNET</a:t>
            </a:r>
            <a:endParaRPr lang="en-US" sz="1170"/>
          </a:p>
        </p:txBody>
      </p:sp>
      <p:cxnSp>
        <p:nvCxnSpPr>
          <p:cNvPr id="53" name="Straight Arrow Connector 52">
            <a:extLst>
              <a:ext uri="{FF2B5EF4-FFF2-40B4-BE49-F238E27FC236}">
                <a16:creationId xmlns:a16="http://schemas.microsoft.com/office/drawing/2014/main" id="{779806EE-DB61-4278-11AC-4D104D543FFC}"/>
              </a:ext>
            </a:extLst>
          </p:cNvPr>
          <p:cNvCxnSpPr/>
          <p:nvPr/>
        </p:nvCxnSpPr>
        <p:spPr>
          <a:xfrm>
            <a:off x="2865122" y="2805014"/>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1E2A4CB-DD82-C8D0-B687-2AC436B8031E}"/>
              </a:ext>
            </a:extLst>
          </p:cNvPr>
          <p:cNvCxnSpPr/>
          <p:nvPr/>
        </p:nvCxnSpPr>
        <p:spPr>
          <a:xfrm flipV="1">
            <a:off x="3065172" y="3018716"/>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6FDB958-34C1-2F6F-5ECB-BEB37A2B676A}"/>
              </a:ext>
            </a:extLst>
          </p:cNvPr>
          <p:cNvCxnSpPr/>
          <p:nvPr/>
        </p:nvCxnSpPr>
        <p:spPr>
          <a:xfrm>
            <a:off x="2727005" y="2887006"/>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845E82B-F8CD-3C21-E35E-BEC65E0FF38F}"/>
              </a:ext>
            </a:extLst>
          </p:cNvPr>
          <p:cNvCxnSpPr/>
          <p:nvPr/>
        </p:nvCxnSpPr>
        <p:spPr>
          <a:xfrm flipV="1">
            <a:off x="2968677" y="3112691"/>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D1E35F-DA6A-8100-88F2-8334558F0B77}"/>
              </a:ext>
            </a:extLst>
          </p:cNvPr>
          <p:cNvSpPr txBox="1"/>
          <p:nvPr/>
        </p:nvSpPr>
        <p:spPr>
          <a:xfrm>
            <a:off x="473647" y="1537582"/>
            <a:ext cx="11485916" cy="4021998"/>
          </a:xfrm>
          <a:prstGeom prst="rect">
            <a:avLst/>
          </a:prstGeom>
          <a:noFill/>
        </p:spPr>
        <p:txBody>
          <a:bodyPr wrap="square">
            <a:spAutoFit/>
          </a:bodyPr>
          <a:lstStyle/>
          <a:p>
            <a:pPr algn="l">
              <a:lnSpc>
                <a:spcPct val="200000"/>
              </a:lnSpc>
            </a:pPr>
            <a:r>
              <a:rPr lang="en-US" sz="2400" b="1" i="0" u="none" strike="noStrike" baseline="0">
                <a:latin typeface="CMR10"/>
              </a:rPr>
              <a:t>First</a:t>
            </a:r>
            <a:r>
              <a:rPr lang="en-US" sz="2400" b="0" i="0" u="none" strike="noStrike" baseline="0">
                <a:latin typeface="CMR10"/>
              </a:rPr>
              <a:t>, </a:t>
            </a:r>
            <a:r>
              <a:rPr lang="en-US" sz="2000" b="0" i="0" u="none" strike="noStrike" baseline="0">
                <a:latin typeface="CMR10"/>
              </a:rPr>
              <a:t>the original TIME-IMM/ IMM-TSF forecasting framework was reproduced</a:t>
            </a:r>
          </a:p>
          <a:p>
            <a:pPr marL="285750" indent="-285750" algn="l">
              <a:lnSpc>
                <a:spcPct val="150000"/>
              </a:lnSpc>
              <a:buFont typeface="Arial" panose="020B0604020202020204" pitchFamily="34" charset="0"/>
              <a:buChar char="•"/>
            </a:pPr>
            <a:r>
              <a:rPr lang="en-US">
                <a:latin typeface="CMR10"/>
              </a:rPr>
              <a:t>U</a:t>
            </a:r>
            <a:r>
              <a:rPr lang="en-US" sz="1800" b="0" i="0" u="none" strike="noStrike" baseline="0">
                <a:latin typeface="CMR10"/>
              </a:rPr>
              <a:t>sing the official repository structure, preserving the modular pipeline consisting of an irregular time-series backbone, a timestamp-to-text fusion module, and a multimodality fusion module. </a:t>
            </a:r>
          </a:p>
          <a:p>
            <a:pPr marL="285750" indent="-285750" algn="l">
              <a:lnSpc>
                <a:spcPct val="150000"/>
              </a:lnSpc>
              <a:buFont typeface="Arial" panose="020B0604020202020204" pitchFamily="34" charset="0"/>
              <a:buChar char="•"/>
            </a:pPr>
            <a:r>
              <a:rPr lang="en-US" sz="1800" b="0" i="0" u="none" strike="noStrike" baseline="0">
                <a:latin typeface="CMR10"/>
              </a:rPr>
              <a:t>The addition of a reliability aware MMF gate, altering the GR-Add gate to make </a:t>
            </a:r>
          </a:p>
          <a:p>
            <a:pPr algn="l">
              <a:lnSpc>
                <a:spcPct val="200000"/>
              </a:lnSpc>
            </a:pPr>
            <a:r>
              <a:rPr lang="en-US" sz="2400" b="1" i="0" u="none" strike="noStrike" baseline="0">
                <a:latin typeface="CMR10"/>
              </a:rPr>
              <a:t>Second, </a:t>
            </a:r>
            <a:r>
              <a:rPr lang="en-US" sz="2000" b="0" i="0" u="none" strike="noStrike" baseline="0">
                <a:latin typeface="CMR10"/>
              </a:rPr>
              <a:t>framework extended from irregular multimodal forecasting to binary ICU readmission classification </a:t>
            </a:r>
          </a:p>
          <a:p>
            <a:pPr marL="285750" indent="-285750" algn="l">
              <a:lnSpc>
                <a:spcPct val="150000"/>
              </a:lnSpc>
              <a:buFont typeface="Arial" panose="020B0604020202020204" pitchFamily="34" charset="0"/>
              <a:buChar char="•"/>
            </a:pPr>
            <a:r>
              <a:rPr lang="en-US" sz="1800" b="0" i="0" u="none" strike="noStrike" baseline="0">
                <a:latin typeface="CMR10"/>
              </a:rPr>
              <a:t>On MIMIC-IV </a:t>
            </a:r>
            <a:r>
              <a:rPr lang="en-US">
                <a:latin typeface="CMR10"/>
              </a:rPr>
              <a:t>(with clinical notes)</a:t>
            </a:r>
          </a:p>
          <a:p>
            <a:pPr marL="285750" indent="-285750" algn="l">
              <a:lnSpc>
                <a:spcPct val="150000"/>
              </a:lnSpc>
              <a:buFont typeface="Arial" panose="020B0604020202020204" pitchFamily="34" charset="0"/>
              <a:buChar char="•"/>
            </a:pPr>
            <a:r>
              <a:rPr lang="en-US">
                <a:latin typeface="CMR10"/>
              </a:rPr>
              <a:t>R</a:t>
            </a:r>
            <a:r>
              <a:rPr lang="en-US" sz="1800" b="0" i="0" u="none" strike="noStrike" baseline="0">
                <a:latin typeface="CMR10"/>
              </a:rPr>
              <a:t>etaining core multimodal learning strategy </a:t>
            </a:r>
          </a:p>
          <a:p>
            <a:pPr marL="285750" indent="-285750" algn="l">
              <a:lnSpc>
                <a:spcPct val="150000"/>
              </a:lnSpc>
              <a:buFont typeface="Arial" panose="020B0604020202020204" pitchFamily="34" charset="0"/>
              <a:buChar char="•"/>
            </a:pPr>
            <a:r>
              <a:rPr lang="en-US">
                <a:latin typeface="CMR10"/>
              </a:rPr>
              <a:t>R</a:t>
            </a:r>
            <a:r>
              <a:rPr lang="en-US" sz="1800" b="0" i="0" u="none" strike="noStrike" baseline="0">
                <a:latin typeface="CMR10"/>
              </a:rPr>
              <a:t>eplacing the forecasting head with a binary classification head.</a:t>
            </a:r>
            <a:endParaRPr lang="en-US"/>
          </a:p>
        </p:txBody>
      </p:sp>
      <p:sp>
        <p:nvSpPr>
          <p:cNvPr id="4" name="Title 1">
            <a:extLst>
              <a:ext uri="{FF2B5EF4-FFF2-40B4-BE49-F238E27FC236}">
                <a16:creationId xmlns:a16="http://schemas.microsoft.com/office/drawing/2014/main" id="{5D778B69-A391-8C79-5641-E1367839B1EC}"/>
              </a:ext>
            </a:extLst>
          </p:cNvPr>
          <p:cNvSpPr txBox="1">
            <a:spLocks/>
          </p:cNvSpPr>
          <p:nvPr/>
        </p:nvSpPr>
        <p:spPr>
          <a:xfrm>
            <a:off x="1646221" y="401721"/>
            <a:ext cx="8333237"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a:t>Our Project Methods Alteration and Extension:</a:t>
            </a:r>
          </a:p>
        </p:txBody>
      </p:sp>
    </p:spTree>
    <p:extLst>
      <p:ext uri="{BB962C8B-B14F-4D97-AF65-F5344CB8AC3E}">
        <p14:creationId xmlns:p14="http://schemas.microsoft.com/office/powerpoint/2010/main" val="52346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4CA866-F518-2120-FB1E-B2B5A68FD386}"/>
              </a:ext>
            </a:extLst>
          </p:cNvPr>
          <p:cNvPicPr>
            <a:picLocks noChangeAspect="1"/>
          </p:cNvPicPr>
          <p:nvPr/>
        </p:nvPicPr>
        <p:blipFill>
          <a:blip r:embed="rId3"/>
          <a:stretch>
            <a:fillRect/>
          </a:stretch>
        </p:blipFill>
        <p:spPr>
          <a:xfrm>
            <a:off x="470155" y="827269"/>
            <a:ext cx="2806844" cy="87634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48B64C2-CF26-ADAC-F8E3-57949EF1F4B6}"/>
              </a:ext>
            </a:extLst>
          </p:cNvPr>
          <p:cNvPicPr>
            <a:picLocks noChangeAspect="1"/>
          </p:cNvPicPr>
          <p:nvPr/>
        </p:nvPicPr>
        <p:blipFill>
          <a:blip r:embed="rId4"/>
          <a:stretch>
            <a:fillRect/>
          </a:stretch>
        </p:blipFill>
        <p:spPr>
          <a:xfrm>
            <a:off x="3878334" y="1172036"/>
            <a:ext cx="1657435" cy="463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2A54A835-22BD-461E-6A55-3D6C5BDFD814}"/>
              </a:ext>
            </a:extLst>
          </p:cNvPr>
          <p:cNvPicPr>
            <a:picLocks noChangeAspect="1"/>
          </p:cNvPicPr>
          <p:nvPr/>
        </p:nvPicPr>
        <p:blipFill>
          <a:blip r:embed="rId5"/>
          <a:stretch>
            <a:fillRect/>
          </a:stretch>
        </p:blipFill>
        <p:spPr>
          <a:xfrm>
            <a:off x="6281271" y="1172036"/>
            <a:ext cx="1625684" cy="46357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8F963A6E-D31A-AAF2-B6B7-A6B3A33DE898}"/>
              </a:ext>
            </a:extLst>
          </p:cNvPr>
          <p:cNvSpPr txBox="1"/>
          <p:nvPr/>
        </p:nvSpPr>
        <p:spPr>
          <a:xfrm>
            <a:off x="77623" y="2545342"/>
            <a:ext cx="11088010" cy="3877985"/>
          </a:xfrm>
          <a:prstGeom prst="rect">
            <a:avLst/>
          </a:prstGeom>
          <a:solidFill>
            <a:srgbClr val="F7F5F0"/>
          </a:solidFill>
        </p:spPr>
        <p:txBody>
          <a:bodyPr wrap="square" rtlCol="0">
            <a:spAutoFit/>
          </a:bodyPr>
          <a:lstStyle/>
          <a:p>
            <a:r>
              <a:rPr lang="en-US" sz="3200" b="1"/>
              <a:t>The </a:t>
            </a:r>
            <a:r>
              <a:rPr lang="en-US" sz="3200" b="1" err="1"/>
              <a:t>github</a:t>
            </a:r>
            <a:r>
              <a:rPr lang="en-US" sz="3200" b="1"/>
              <a:t> based python reproduction workflow is:</a:t>
            </a:r>
          </a:p>
          <a:p>
            <a:pPr>
              <a:spcBef>
                <a:spcPts val="1200"/>
              </a:spcBef>
            </a:pPr>
            <a:r>
              <a:rPr lang="en-US"/>
              <a:t>Define experiment settings with </a:t>
            </a:r>
            <a:r>
              <a:rPr lang="en-US" err="1"/>
              <a:t>ReproRunConfig</a:t>
            </a:r>
            <a:r>
              <a:rPr lang="en-US"/>
              <a:t>. </a:t>
            </a:r>
          </a:p>
          <a:p>
            <a:pPr>
              <a:spcBef>
                <a:spcPts val="1200"/>
              </a:spcBef>
            </a:pPr>
            <a:r>
              <a:rPr lang="en-US"/>
              <a:t>Set filesystem paths with </a:t>
            </a:r>
            <a:r>
              <a:rPr lang="en-US" err="1"/>
              <a:t>RepoPaths</a:t>
            </a:r>
            <a:r>
              <a:rPr lang="en-US"/>
              <a:t>. </a:t>
            </a:r>
          </a:p>
          <a:p>
            <a:pPr>
              <a:spcBef>
                <a:spcPts val="1200"/>
              </a:spcBef>
            </a:pPr>
            <a:r>
              <a:rPr lang="en-US"/>
              <a:t>Build dataset- and model-specific CLI commands.</a:t>
            </a:r>
          </a:p>
          <a:p>
            <a:pPr>
              <a:spcBef>
                <a:spcPts val="1200"/>
              </a:spcBef>
            </a:pPr>
            <a:r>
              <a:rPr lang="en-US"/>
              <a:t>Execute the official forecasting run with </a:t>
            </a:r>
            <a:r>
              <a:rPr lang="en-US" err="1"/>
              <a:t>run_one</a:t>
            </a:r>
            <a:r>
              <a:rPr lang="en-US"/>
              <a:t>(). </a:t>
            </a:r>
          </a:p>
          <a:p>
            <a:pPr>
              <a:spcBef>
                <a:spcPts val="1200"/>
              </a:spcBef>
            </a:pPr>
            <a:r>
              <a:rPr lang="en-US"/>
              <a:t>Parse metrics from logs using </a:t>
            </a:r>
            <a:r>
              <a:rPr lang="en-US" err="1"/>
              <a:t>parse_metrics_from_log</a:t>
            </a:r>
            <a:r>
              <a:rPr lang="en-US"/>
              <a:t>(). </a:t>
            </a:r>
          </a:p>
          <a:p>
            <a:pPr>
              <a:spcBef>
                <a:spcPts val="1200"/>
              </a:spcBef>
            </a:pPr>
            <a:r>
              <a:rPr lang="en-US"/>
              <a:t>Aggregate all runs with </a:t>
            </a:r>
            <a:r>
              <a:rPr lang="en-US" err="1"/>
              <a:t>collect_results</a:t>
            </a:r>
            <a:r>
              <a:rPr lang="en-US"/>
              <a:t>(). </a:t>
            </a:r>
          </a:p>
          <a:p>
            <a:pPr>
              <a:spcBef>
                <a:spcPts val="1200"/>
              </a:spcBef>
            </a:pPr>
            <a:r>
              <a:rPr lang="en-US"/>
              <a:t>Compare MIMIC reproduction outputs against the paper using </a:t>
            </a:r>
            <a:r>
              <a:rPr lang="en-US" err="1"/>
              <a:t>build_mimic_comparison_table</a:t>
            </a:r>
            <a:r>
              <a:rPr lang="en-US"/>
              <a:t>().</a:t>
            </a:r>
          </a:p>
          <a:p>
            <a:endParaRPr lang="en-US"/>
          </a:p>
        </p:txBody>
      </p:sp>
      <p:sp>
        <p:nvSpPr>
          <p:cNvPr id="9" name="TextBox 8">
            <a:extLst>
              <a:ext uri="{FF2B5EF4-FFF2-40B4-BE49-F238E27FC236}">
                <a16:creationId xmlns:a16="http://schemas.microsoft.com/office/drawing/2014/main" id="{7423EFAF-0A11-D985-77EF-66329549F3B4}"/>
              </a:ext>
            </a:extLst>
          </p:cNvPr>
          <p:cNvSpPr txBox="1"/>
          <p:nvPr/>
        </p:nvSpPr>
        <p:spPr>
          <a:xfrm>
            <a:off x="277597" y="315562"/>
            <a:ext cx="2863404" cy="461665"/>
          </a:xfrm>
          <a:prstGeom prst="rect">
            <a:avLst/>
          </a:prstGeom>
          <a:noFill/>
        </p:spPr>
        <p:txBody>
          <a:bodyPr wrap="square" rtlCol="0">
            <a:spAutoFit/>
          </a:bodyPr>
          <a:lstStyle/>
          <a:p>
            <a:r>
              <a:rPr lang="en-US" sz="2400" b="1"/>
              <a:t>Forecasting:</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6EC092C-D3C9-DC7F-6E32-CD765143DBBF}"/>
                  </a:ext>
                </a:extLst>
              </p:cNvPr>
              <p:cNvSpPr txBox="1"/>
              <p:nvPr/>
            </p:nvSpPr>
            <p:spPr>
              <a:xfrm>
                <a:off x="204618" y="1740143"/>
                <a:ext cx="5479259" cy="790473"/>
              </a:xfrm>
              <a:prstGeom prst="rect">
                <a:avLst/>
              </a:prstGeom>
              <a:solidFill>
                <a:srgbClr val="F7F5F0"/>
              </a:solidFill>
            </p:spPr>
            <p:txBody>
              <a:bodyPr wrap="square" rtlCol="0">
                <a:spAutoFit/>
              </a:bodyPr>
              <a:lstStyle/>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𝑥</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r>
                      <a:rPr lang="ar-AE">
                        <a:latin typeface="Cambria Math" panose="02040503050406030204" pitchFamily="18" charset="0"/>
                      </a:rPr>
                      <m:t>∈</m:t>
                    </m:r>
                    <m:r>
                      <a:rPr lang="ar-AE">
                        <a:latin typeface="Cambria Math" panose="02040503050406030204" pitchFamily="18" charset="0"/>
                      </a:rPr>
                      <m:t>ℝ</m:t>
                    </m:r>
                  </m:oMath>
                </a14:m>
                <a:r>
                  <a:rPr lang="en-US"/>
                  <a:t>is the observed value of variable </a:t>
                </a:r>
                <a14:m>
                  <m:oMath xmlns:m="http://schemas.openxmlformats.org/officeDocument/2006/math">
                    <m:r>
                      <a:rPr lang="en-US" i="1">
                        <a:latin typeface="Cambria Math" panose="02040503050406030204" pitchFamily="18" charset="0"/>
                      </a:rPr>
                      <m:t>𝑛</m:t>
                    </m:r>
                  </m:oMath>
                </a14:m>
                <a:r>
                  <a:rPr lang="en-US"/>
                  <a:t> at time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𝑡</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oMath>
                </a14:m>
                <a:r>
                  <a:rPr lang="ar-AE"/>
                  <a:t>,</a:t>
                </a:r>
                <a:r>
                  <a:rPr lang="en-US"/>
                  <a:t>and the observations are irregularly sampled. </a:t>
                </a:r>
              </a:p>
            </p:txBody>
          </p:sp>
        </mc:Choice>
        <mc:Fallback xmlns="">
          <p:sp>
            <p:nvSpPr>
              <p:cNvPr id="10" name="TextBox 9">
                <a:extLst>
                  <a:ext uri="{FF2B5EF4-FFF2-40B4-BE49-F238E27FC236}">
                    <a16:creationId xmlns:a16="http://schemas.microsoft.com/office/drawing/2014/main" id="{86EC092C-D3C9-DC7F-6E32-CD765143DBBF}"/>
                  </a:ext>
                </a:extLst>
              </p:cNvPr>
              <p:cNvSpPr txBox="1">
                <a:spLocks noRot="1" noChangeAspect="1" noMove="1" noResize="1" noEditPoints="1" noAdjustHandles="1" noChangeArrowheads="1" noChangeShapeType="1" noTextEdit="1"/>
              </p:cNvSpPr>
              <p:nvPr/>
            </p:nvSpPr>
            <p:spPr>
              <a:xfrm>
                <a:off x="204618" y="1740143"/>
                <a:ext cx="5479259" cy="790473"/>
              </a:xfrm>
              <a:prstGeom prst="rect">
                <a:avLst/>
              </a:prstGeom>
              <a:blipFill>
                <a:blip r:embed="rId6"/>
                <a:stretch>
                  <a:fillRect b="-10000"/>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DC7EDB6A-41A3-1EC6-C99B-FB10C0F765D5}"/>
              </a:ext>
            </a:extLst>
          </p:cNvPr>
          <p:cNvSpPr txBox="1"/>
          <p:nvPr/>
        </p:nvSpPr>
        <p:spPr>
          <a:xfrm>
            <a:off x="3683358" y="799166"/>
            <a:ext cx="1938270" cy="369332"/>
          </a:xfrm>
          <a:prstGeom prst="rect">
            <a:avLst/>
          </a:prstGeom>
          <a:noFill/>
        </p:spPr>
        <p:txBody>
          <a:bodyPr wrap="square" rtlCol="0">
            <a:spAutoFit/>
          </a:bodyPr>
          <a:lstStyle/>
          <a:p>
            <a:r>
              <a:rPr lang="en-US"/>
              <a:t>Text Stream:</a:t>
            </a:r>
          </a:p>
        </p:txBody>
      </p:sp>
      <p:sp>
        <p:nvSpPr>
          <p:cNvPr id="12" name="TextBox 11">
            <a:extLst>
              <a:ext uri="{FF2B5EF4-FFF2-40B4-BE49-F238E27FC236}">
                <a16:creationId xmlns:a16="http://schemas.microsoft.com/office/drawing/2014/main" id="{15B81A4C-ABAC-96BF-7805-43A23AE6944B}"/>
              </a:ext>
            </a:extLst>
          </p:cNvPr>
          <p:cNvSpPr txBox="1"/>
          <p:nvPr/>
        </p:nvSpPr>
        <p:spPr>
          <a:xfrm>
            <a:off x="5683877" y="784440"/>
            <a:ext cx="3329862" cy="369332"/>
          </a:xfrm>
          <a:prstGeom prst="rect">
            <a:avLst/>
          </a:prstGeom>
          <a:noFill/>
        </p:spPr>
        <p:txBody>
          <a:bodyPr wrap="square" rtlCol="0">
            <a:spAutoFit/>
          </a:bodyPr>
          <a:lstStyle/>
          <a:p>
            <a:r>
              <a:rPr lang="en-US"/>
              <a:t>Original Forecasting Objective:</a:t>
            </a:r>
          </a:p>
        </p:txBody>
      </p:sp>
      <p:pic>
        <p:nvPicPr>
          <p:cNvPr id="4" name="Picture 3">
            <a:extLst>
              <a:ext uri="{FF2B5EF4-FFF2-40B4-BE49-F238E27FC236}">
                <a16:creationId xmlns:a16="http://schemas.microsoft.com/office/drawing/2014/main" id="{DCB78579-DEBC-0679-785A-1CD8754F07B9}"/>
              </a:ext>
            </a:extLst>
          </p:cNvPr>
          <p:cNvPicPr>
            <a:picLocks noChangeAspect="1"/>
          </p:cNvPicPr>
          <p:nvPr/>
        </p:nvPicPr>
        <p:blipFill>
          <a:blip r:embed="rId7"/>
          <a:stretch>
            <a:fillRect/>
          </a:stretch>
        </p:blipFill>
        <p:spPr>
          <a:xfrm>
            <a:off x="5892230" y="3210713"/>
            <a:ext cx="5905241" cy="2361077"/>
          </a:xfrm>
          <a:prstGeom prst="rect">
            <a:avLst/>
          </a:prstGeom>
        </p:spPr>
      </p:pic>
    </p:spTree>
    <p:extLst>
      <p:ext uri="{BB962C8B-B14F-4D97-AF65-F5344CB8AC3E}">
        <p14:creationId xmlns:p14="http://schemas.microsoft.com/office/powerpoint/2010/main" val="1755352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2094A-E1E9-E1A2-2B15-445EDC3F9BFC}"/>
              </a:ext>
            </a:extLst>
          </p:cNvPr>
          <p:cNvSpPr>
            <a:spLocks noGrp="1"/>
          </p:cNvSpPr>
          <p:nvPr>
            <p:ph type="title" idx="4294967295"/>
          </p:nvPr>
        </p:nvSpPr>
        <p:spPr>
          <a:xfrm>
            <a:off x="-904301" y="338499"/>
            <a:ext cx="10515600" cy="1325563"/>
          </a:xfrm>
          <a:prstGeom prst="rect">
            <a:avLst/>
          </a:prstGeom>
        </p:spPr>
        <p:txBody>
          <a:bodyPr/>
          <a:lstStyle/>
          <a:p>
            <a:r>
              <a:rPr lang="en-US"/>
              <a:t>Paper Methods Reproduction: </a:t>
            </a:r>
            <a:r>
              <a:rPr kumimoji="0" lang="en-US" sz="2000" b="1" i="0" u="none" strike="noStrike" kern="1200" cap="none" spc="0" normalizeH="0" baseline="0" noProof="0">
                <a:ln>
                  <a:noFill/>
                </a:ln>
                <a:solidFill>
                  <a:srgbClr val="000000"/>
                </a:solidFill>
                <a:effectLst/>
                <a:uLnTx/>
                <a:uFillTx/>
                <a:latin typeface="Aptos Narrow"/>
                <a:ea typeface="+mn-ea"/>
                <a:cs typeface="+mn-cs"/>
              </a:rPr>
              <a:t>(04/09/2026)</a:t>
            </a:r>
            <a:endParaRPr lang="en-US"/>
          </a:p>
        </p:txBody>
      </p:sp>
      <p:sp>
        <p:nvSpPr>
          <p:cNvPr id="3" name="Content Placeholder 2">
            <a:extLst>
              <a:ext uri="{FF2B5EF4-FFF2-40B4-BE49-F238E27FC236}">
                <a16:creationId xmlns:a16="http://schemas.microsoft.com/office/drawing/2014/main" id="{6C107EEE-F109-3109-99AC-88FD21B0FA19}"/>
              </a:ext>
            </a:extLst>
          </p:cNvPr>
          <p:cNvSpPr>
            <a:spLocks noGrp="1"/>
          </p:cNvSpPr>
          <p:nvPr>
            <p:ph idx="4294967295"/>
          </p:nvPr>
        </p:nvSpPr>
        <p:spPr>
          <a:xfrm>
            <a:off x="592057" y="1238316"/>
            <a:ext cx="10515600" cy="2960687"/>
          </a:xfrm>
          <a:prstGeom prst="rect">
            <a:avLst/>
          </a:prstGeom>
        </p:spPr>
        <p:txBody>
          <a:bodyPr/>
          <a:lstStyle/>
          <a:p>
            <a:r>
              <a:rPr lang="en-US"/>
              <a:t>Reproduced results for 5 datasets covering the 3 types of time-series irregularity identified in the paper</a:t>
            </a:r>
          </a:p>
          <a:p>
            <a:pPr lvl="1"/>
            <a:endParaRPr lang="en-US">
              <a:solidFill>
                <a:schemeClr val="bg1"/>
              </a:solidFill>
            </a:endParaRPr>
          </a:p>
        </p:txBody>
      </p:sp>
      <p:graphicFrame>
        <p:nvGraphicFramePr>
          <p:cNvPr id="6" name="Table 5">
            <a:extLst>
              <a:ext uri="{FF2B5EF4-FFF2-40B4-BE49-F238E27FC236}">
                <a16:creationId xmlns:a16="http://schemas.microsoft.com/office/drawing/2014/main" id="{635B1AC1-CB88-8663-729C-BB26E98E4ADE}"/>
              </a:ext>
            </a:extLst>
          </p:cNvPr>
          <p:cNvGraphicFramePr>
            <a:graphicFrameLocks noGrp="1"/>
          </p:cNvGraphicFramePr>
          <p:nvPr>
            <p:extLst>
              <p:ext uri="{D42A27DB-BD31-4B8C-83A1-F6EECF244321}">
                <p14:modId xmlns:p14="http://schemas.microsoft.com/office/powerpoint/2010/main" val="48423398"/>
              </p:ext>
            </p:extLst>
          </p:nvPr>
        </p:nvGraphicFramePr>
        <p:xfrm>
          <a:off x="1860997" y="2563879"/>
          <a:ext cx="8159419" cy="3900891"/>
        </p:xfrm>
        <a:graphic>
          <a:graphicData uri="http://schemas.openxmlformats.org/drawingml/2006/table">
            <a:tbl>
              <a:tblPr/>
              <a:tblGrid>
                <a:gridCol w="1440197">
                  <a:extLst>
                    <a:ext uri="{9D8B030D-6E8A-4147-A177-3AD203B41FA5}">
                      <a16:colId xmlns:a16="http://schemas.microsoft.com/office/drawing/2014/main" val="347509223"/>
                    </a:ext>
                  </a:extLst>
                </a:gridCol>
                <a:gridCol w="2553098">
                  <a:extLst>
                    <a:ext uri="{9D8B030D-6E8A-4147-A177-3AD203B41FA5}">
                      <a16:colId xmlns:a16="http://schemas.microsoft.com/office/drawing/2014/main" val="3980417026"/>
                    </a:ext>
                  </a:extLst>
                </a:gridCol>
                <a:gridCol w="1041531">
                  <a:extLst>
                    <a:ext uri="{9D8B030D-6E8A-4147-A177-3AD203B41FA5}">
                      <a16:colId xmlns:a16="http://schemas.microsoft.com/office/drawing/2014/main" val="3985619348"/>
                    </a:ext>
                  </a:extLst>
                </a:gridCol>
                <a:gridCol w="1041531">
                  <a:extLst>
                    <a:ext uri="{9D8B030D-6E8A-4147-A177-3AD203B41FA5}">
                      <a16:colId xmlns:a16="http://schemas.microsoft.com/office/drawing/2014/main" val="1945792390"/>
                    </a:ext>
                  </a:extLst>
                </a:gridCol>
                <a:gridCol w="1041531">
                  <a:extLst>
                    <a:ext uri="{9D8B030D-6E8A-4147-A177-3AD203B41FA5}">
                      <a16:colId xmlns:a16="http://schemas.microsoft.com/office/drawing/2014/main" val="403839876"/>
                    </a:ext>
                  </a:extLst>
                </a:gridCol>
                <a:gridCol w="1041531">
                  <a:extLst>
                    <a:ext uri="{9D8B030D-6E8A-4147-A177-3AD203B41FA5}">
                      <a16:colId xmlns:a16="http://schemas.microsoft.com/office/drawing/2014/main" val="2738948510"/>
                    </a:ext>
                  </a:extLst>
                </a:gridCol>
              </a:tblGrid>
              <a:tr h="808987">
                <a:tc gridSpan="2">
                  <a:txBody>
                    <a:bodyPr/>
                    <a:lstStyle/>
                    <a:p>
                      <a:pPr algn="ctr" fontAlgn="t">
                        <a:buNone/>
                      </a:pPr>
                      <a:r>
                        <a:rPr lang="en-US" sz="2000" b="1" i="0" u="none" strike="noStrike">
                          <a:solidFill>
                            <a:srgbClr val="000000"/>
                          </a:solidFill>
                          <a:effectLst/>
                          <a:latin typeface="Aptos Narrow"/>
                        </a:rPr>
                        <a:t>Current Results </a:t>
                      </a:r>
                    </a:p>
                    <a:p>
                      <a:pPr algn="ctr" fontAlgn="t">
                        <a:buNone/>
                      </a:pPr>
                      <a:r>
                        <a:rPr lang="en-US" sz="2000" b="1" i="0" u="none" strike="noStrike">
                          <a:solidFill>
                            <a:srgbClr val="000000"/>
                          </a:solidFill>
                          <a:effectLst/>
                          <a:latin typeface="Aptos Narrow"/>
                        </a:rPr>
                        <a:t>(t-</a:t>
                      </a:r>
                      <a:r>
                        <a:rPr lang="en-US" sz="2000" b="1" i="0" u="none" strike="noStrike" err="1">
                          <a:solidFill>
                            <a:srgbClr val="000000"/>
                          </a:solidFill>
                          <a:effectLst/>
                          <a:latin typeface="Aptos Narrow"/>
                        </a:rPr>
                        <a:t>PatchGNN</a:t>
                      </a:r>
                      <a:r>
                        <a:rPr lang="en-US" sz="2000" b="1" i="0" u="none" strike="noStrike">
                          <a:solidFill>
                            <a:srgbClr val="000000"/>
                          </a:solidFill>
                          <a:effectLst/>
                          <a:latin typeface="Aptos Narrow"/>
                        </a:rPr>
                        <a:t>)</a:t>
                      </a:r>
                    </a:p>
                  </a:txBody>
                  <a:tcPr marL="6350" marR="6350" marT="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a:solidFill>
                            <a:srgbClr val="000000"/>
                          </a:solidFill>
                          <a:effectLst/>
                          <a:latin typeface="Aptos Narrow" panose="020B0004020202020204" pitchFamily="34" charset="0"/>
                        </a:rPr>
                        <a:t>Multimodal MSE</a:t>
                      </a:r>
                    </a:p>
                    <a:p>
                      <a:pPr algn="ctr" fontAlgn="b">
                        <a:buNone/>
                      </a:pPr>
                      <a:r>
                        <a:rPr lang="en-US" sz="1800" b="1" i="0" u="none" strike="noStrike">
                          <a:solidFill>
                            <a:srgbClr val="000000"/>
                          </a:solidFill>
                          <a:effectLst/>
                          <a:latin typeface="Aptos Narrow" panose="020B0004020202020204" pitchFamily="34" charset="0"/>
                        </a:rPr>
                        <a:t>(GPT-2) </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a:solidFill>
                            <a:srgbClr val="000000"/>
                          </a:solidFill>
                          <a:effectLst/>
                          <a:latin typeface="Aptos Narrow" panose="020B0004020202020204" pitchFamily="34" charset="0"/>
                        </a:rPr>
                        <a:t>Unimodal MSE </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extLst>
                  <a:ext uri="{0D108BD9-81ED-4DB2-BD59-A6C34878D82A}">
                    <a16:rowId xmlns:a16="http://schemas.microsoft.com/office/drawing/2014/main" val="3614756834"/>
                  </a:ext>
                </a:extLst>
              </a:tr>
              <a:tr h="435190">
                <a:tc>
                  <a:txBody>
                    <a:bodyPr/>
                    <a:lstStyle/>
                    <a:p>
                      <a:pPr algn="ctr" fontAlgn="b">
                        <a:buNone/>
                      </a:pPr>
                      <a:r>
                        <a:rPr lang="en-US" sz="1400" b="1" i="0" u="none" strike="noStrike">
                          <a:solidFill>
                            <a:srgbClr val="000000"/>
                          </a:solidFill>
                          <a:effectLst/>
                          <a:latin typeface="Aptos Narrow" panose="020B0004020202020204" pitchFamily="34" charset="0"/>
                        </a:rPr>
                        <a:t>Dataset</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1" i="0" u="none" strike="noStrike">
                          <a:solidFill>
                            <a:srgbClr val="000000"/>
                          </a:solidFill>
                          <a:effectLst/>
                          <a:latin typeface="Aptos Narrow" panose="020B0004020202020204" pitchFamily="34" charset="0"/>
                        </a:rPr>
                        <a:t>Irregularity Type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9092460"/>
                  </a:ext>
                </a:extLst>
              </a:tr>
              <a:tr h="521651">
                <a:tc>
                  <a:txBody>
                    <a:bodyPr/>
                    <a:lstStyle/>
                    <a:p>
                      <a:pPr algn="ctr" fontAlgn="b">
                        <a:buNone/>
                      </a:pPr>
                      <a:r>
                        <a:rPr lang="en-US" sz="1400" b="0" i="0" u="none" strike="noStrike">
                          <a:solidFill>
                            <a:srgbClr val="000000"/>
                          </a:solidFill>
                          <a:effectLst/>
                          <a:latin typeface="Aptos Narrow" panose="020B0004020202020204" pitchFamily="34" charset="0"/>
                        </a:rPr>
                        <a:t>GDELT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Trigger-Based</a:t>
                      </a:r>
                    </a:p>
                    <a:p>
                      <a:pPr algn="ctr" fontAlgn="b">
                        <a:buNone/>
                      </a:pPr>
                      <a:r>
                        <a:rPr lang="en-US" sz="1100" b="0" i="0" u="none" strike="noStrike">
                          <a:solidFill>
                            <a:srgbClr val="000000"/>
                          </a:solidFill>
                          <a:effectLst/>
                          <a:latin typeface="Aptos Narrow" panose="020B0004020202020204" pitchFamily="34" charset="0"/>
                        </a:rPr>
                        <a:t> (</a:t>
                      </a:r>
                      <a:r>
                        <a:rPr lang="en-US" sz="1100"/>
                        <a:t>Event-Based Logging</a:t>
                      </a:r>
                      <a:r>
                        <a:rPr lang="en-US" sz="1100" b="0" i="0" u="none" strike="noStrike">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1.02</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1.04</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42921678"/>
                  </a:ext>
                </a:extLst>
              </a:tr>
              <a:tr h="521651">
                <a:tc>
                  <a:txBody>
                    <a:bodyPr/>
                    <a:lstStyle/>
                    <a:p>
                      <a:pPr algn="ctr" fontAlgn="b">
                        <a:buNone/>
                      </a:pPr>
                      <a:r>
                        <a:rPr lang="en-US" sz="1400" b="0" i="0" u="none" strike="noStrike">
                          <a:solidFill>
                            <a:srgbClr val="000000"/>
                          </a:solidFill>
                          <a:effectLst/>
                          <a:latin typeface="Aptos Narrow" panose="020B0004020202020204" pitchFamily="34" charset="0"/>
                        </a:rPr>
                        <a:t>FNSPID</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Artifact-Based </a:t>
                      </a:r>
                    </a:p>
                    <a:p>
                      <a:pPr algn="ctr" fontAlgn="b">
                        <a:buNone/>
                      </a:pPr>
                      <a:r>
                        <a:rPr lang="en-US" sz="1100" b="0" i="0" u="none" strike="noStrike">
                          <a:solidFill>
                            <a:srgbClr val="000000"/>
                          </a:solidFill>
                          <a:effectLst/>
                          <a:latin typeface="Aptos Narrow" panose="020B0004020202020204" pitchFamily="34" charset="0"/>
                        </a:rPr>
                        <a:t>(</a:t>
                      </a:r>
                      <a:r>
                        <a:rPr lang="en-US" sz="1100"/>
                        <a:t>Operational Window Sampling</a:t>
                      </a:r>
                      <a:r>
                        <a:rPr lang="en-US" sz="1100" b="0" i="0" u="none" strike="noStrike">
                          <a:solidFill>
                            <a:srgbClr val="000000"/>
                          </a:solidFill>
                          <a:effectLst/>
                          <a:latin typeface="Aptos Narrow" panose="020B0004020202020204" pitchFamily="34" charset="0"/>
                        </a:rPr>
                        <a:t> )</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83399887"/>
                  </a:ext>
                </a:extLst>
              </a:tr>
              <a:tr h="521651">
                <a:tc>
                  <a:txBody>
                    <a:bodyPr/>
                    <a:lstStyle/>
                    <a:p>
                      <a:pPr algn="ctr" fontAlgn="b">
                        <a:buNone/>
                      </a:pPr>
                      <a:r>
                        <a:rPr lang="en-US" sz="1400" b="0" i="0" u="none" strike="noStrike">
                          <a:solidFill>
                            <a:srgbClr val="000000"/>
                          </a:solidFill>
                          <a:effectLst/>
                          <a:latin typeface="Aptos Narrow" panose="020B0004020202020204" pitchFamily="34" charset="0"/>
                        </a:rPr>
                        <a:t>CLUSTERTRACE</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Artifact-Based </a:t>
                      </a:r>
                    </a:p>
                    <a:p>
                      <a:pPr algn="ctr" fontAlgn="b">
                        <a:buNone/>
                      </a:pPr>
                      <a:r>
                        <a:rPr lang="en-US" sz="1100" b="0" i="0" u="none" strike="noStrike">
                          <a:solidFill>
                            <a:srgbClr val="000000"/>
                          </a:solidFill>
                          <a:effectLst/>
                          <a:latin typeface="Aptos Narrow" panose="020B0004020202020204" pitchFamily="34" charset="0"/>
                        </a:rPr>
                        <a:t>(</a:t>
                      </a:r>
                      <a:r>
                        <a:rPr lang="en-US" sz="1100"/>
                        <a:t>Resource-Aware Collection</a:t>
                      </a:r>
                      <a:r>
                        <a:rPr lang="en-US" sz="1100" b="0" i="0" u="none" strike="noStrike">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0.61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0.85</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0.87</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21850367"/>
                  </a:ext>
                </a:extLst>
              </a:tr>
              <a:tr h="570110">
                <a:tc>
                  <a:txBody>
                    <a:bodyPr/>
                    <a:lstStyle/>
                    <a:p>
                      <a:pPr algn="ctr" fontAlgn="b">
                        <a:buNone/>
                      </a:pPr>
                      <a:r>
                        <a:rPr lang="en-US" sz="1400" b="0" i="0" u="none" strike="noStrike">
                          <a:solidFill>
                            <a:srgbClr val="000000"/>
                          </a:solidFill>
                          <a:effectLst/>
                          <a:latin typeface="Aptos Narrow" panose="020B0004020202020204" pitchFamily="34" charset="0"/>
                        </a:rPr>
                        <a:t>CESNET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Aptos Narrow" panose="020B0004020202020204" pitchFamily="34" charset="0"/>
                        </a:rPr>
                        <a:t>(</a:t>
                      </a:r>
                      <a:r>
                        <a:rPr lang="en-US" sz="1100"/>
                        <a:t>Scheduling Jitter / Delay</a:t>
                      </a:r>
                      <a:r>
                        <a:rPr lang="en-US" sz="1100" b="0" i="0" u="none" strike="noStrike">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0.91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0.96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1.03</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47621506"/>
                  </a:ext>
                </a:extLst>
              </a:tr>
              <a:tr h="521651">
                <a:tc>
                  <a:txBody>
                    <a:bodyPr/>
                    <a:lstStyle/>
                    <a:p>
                      <a:pPr lvl="0" algn="ctr">
                        <a:buNone/>
                      </a:pPr>
                      <a:r>
                        <a:rPr lang="en-US" sz="1400" b="0" i="0" u="none" strike="noStrike">
                          <a:solidFill>
                            <a:srgbClr val="000000"/>
                          </a:solidFill>
                          <a:effectLst/>
                          <a:latin typeface="Aptos Narrow"/>
                        </a:rPr>
                        <a:t>MIMIC</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noProof="0">
                          <a:solidFill>
                            <a:srgbClr val="000000"/>
                          </a:solidFill>
                          <a:effectLst/>
                          <a:latin typeface="Aptos Narrow"/>
                        </a:rPr>
                        <a:t>Trigger-Based</a:t>
                      </a:r>
                    </a:p>
                    <a:p>
                      <a:pPr lvl="0" algn="ctr">
                        <a:buNone/>
                      </a:pPr>
                      <a:r>
                        <a:rPr lang="en-US" sz="1100" b="0" i="0" u="none" strike="noStrike" noProof="0">
                          <a:solidFill>
                            <a:srgbClr val="000000"/>
                          </a:solidFill>
                          <a:effectLst/>
                          <a:latin typeface="Aptos Narrow"/>
                        </a:rPr>
                        <a:t>(</a:t>
                      </a:r>
                      <a:r>
                        <a:rPr lang="en-US" sz="1100" b="0" i="0" u="none" strike="noStrike" noProof="0">
                          <a:solidFill>
                            <a:srgbClr val="000000"/>
                          </a:solidFill>
                          <a:effectLst/>
                          <a:latin typeface="Aptos"/>
                        </a:rPr>
                        <a:t>Event-Based Logging</a:t>
                      </a:r>
                      <a:r>
                        <a:rPr lang="en-US" sz="1100" b="0" i="0" u="none" strike="noStrike" noProof="0">
                          <a:solidFill>
                            <a:srgbClr val="000000"/>
                          </a:solidFill>
                          <a:effectLst/>
                          <a:latin typeface="Aptos Narrow"/>
                        </a:rPr>
                        <a:t>)</a:t>
                      </a:r>
                      <a:endParaRPr lang="en-US"/>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0.77</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0.73</a:t>
                      </a:r>
                    </a:p>
                  </a:txBody>
                  <a:tcPr marL="6350" marR="6350" marT="6350" anchor="b">
                    <a:lnL w="12700">
                      <a:solidFill>
                        <a:srgbClr val="000000"/>
                      </a:solidFill>
                    </a:lnL>
                    <a:lnR w="6350">
                      <a:solidFill>
                        <a:srgbClr val="000000"/>
                      </a:solidFill>
                    </a:lnR>
                    <a:lnT w="12700">
                      <a:solidFill>
                        <a:srgbClr val="000000"/>
                      </a:solidFill>
                    </a:lnT>
                    <a:lnB w="12700">
                      <a:solidFill>
                        <a:srgbClr val="000000"/>
                      </a:solidFill>
                    </a:lnB>
                    <a:solidFill>
                      <a:schemeClr val="bg1"/>
                    </a:solidFill>
                  </a:tcPr>
                </a:tc>
                <a:tc>
                  <a:txBody>
                    <a:bodyPr/>
                    <a:lstStyle/>
                    <a:p>
                      <a:pPr lvl="0" algn="ctr">
                        <a:buNone/>
                      </a:pPr>
                      <a:r>
                        <a:rPr lang="en-US" sz="1100" b="0" i="0" u="none" strike="noStrike">
                          <a:solidFill>
                            <a:srgbClr val="000000"/>
                          </a:solidFill>
                          <a:effectLst/>
                          <a:latin typeface="Aptos Narrow"/>
                        </a:rPr>
                        <a:t>0.74</a:t>
                      </a:r>
                    </a:p>
                  </a:txBody>
                  <a:tcPr marL="6350" marR="6350" marT="6350" anchor="b">
                    <a:lnL w="6350">
                      <a:solidFill>
                        <a:srgbClr val="000000"/>
                      </a:solidFill>
                    </a:lnL>
                    <a:lnR w="12700">
                      <a:solidFill>
                        <a:srgbClr val="000000"/>
                      </a:solidFill>
                    </a:lnR>
                    <a:lnT w="12700">
                      <a:solidFill>
                        <a:srgbClr val="000000"/>
                      </a:solidFill>
                    </a:lnT>
                    <a:lnB w="12700">
                      <a:solidFill>
                        <a:srgbClr val="000000"/>
                      </a:solidFill>
                    </a:lnB>
                    <a:solidFill>
                      <a:schemeClr val="bg1"/>
                    </a:solidFill>
                  </a:tcPr>
                </a:tc>
                <a:extLst>
                  <a:ext uri="{0D108BD9-81ED-4DB2-BD59-A6C34878D82A}">
                    <a16:rowId xmlns:a16="http://schemas.microsoft.com/office/drawing/2014/main" val="2799131304"/>
                  </a:ext>
                </a:extLst>
              </a:tr>
            </a:tbl>
          </a:graphicData>
        </a:graphic>
      </p:graphicFrame>
    </p:spTree>
    <p:extLst>
      <p:ext uri="{BB962C8B-B14F-4D97-AF65-F5344CB8AC3E}">
        <p14:creationId xmlns:p14="http://schemas.microsoft.com/office/powerpoint/2010/main" val="3097449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L-Shape 29">
            <a:extLst>
              <a:ext uri="{FF2B5EF4-FFF2-40B4-BE49-F238E27FC236}">
                <a16:creationId xmlns:a16="http://schemas.microsoft.com/office/drawing/2014/main" id="{D9872412-6A07-AFA5-C2B4-11D58587613A}"/>
              </a:ext>
            </a:extLst>
          </p:cNvPr>
          <p:cNvSpPr/>
          <p:nvPr/>
        </p:nvSpPr>
        <p:spPr>
          <a:xfrm>
            <a:off x="9543245" y="2401560"/>
            <a:ext cx="934875" cy="754615"/>
          </a:xfrm>
          <a:prstGeom prst="corner">
            <a:avLst>
              <a:gd name="adj1" fmla="val 18426"/>
              <a:gd name="adj2" fmla="val 22693"/>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8B13D79-9F0A-CB0C-3A1F-89CB3C760158}"/>
              </a:ext>
            </a:extLst>
          </p:cNvPr>
          <p:cNvSpPr/>
          <p:nvPr/>
        </p:nvSpPr>
        <p:spPr>
          <a:xfrm>
            <a:off x="10464085" y="2009104"/>
            <a:ext cx="1614883" cy="19769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5DC2FB5-CB78-62DF-0E4A-CFD3FE2E445B}"/>
              </a:ext>
            </a:extLst>
          </p:cNvPr>
          <p:cNvPicPr>
            <a:picLocks noChangeAspect="1"/>
          </p:cNvPicPr>
          <p:nvPr/>
        </p:nvPicPr>
        <p:blipFill>
          <a:blip r:embed="rId2"/>
          <a:stretch>
            <a:fillRect/>
          </a:stretch>
        </p:blipFill>
        <p:spPr>
          <a:xfrm>
            <a:off x="3286668" y="2102362"/>
            <a:ext cx="5112910" cy="30474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8D5998D3-8D47-98E1-8192-CF57E5D1C0DA}"/>
              </a:ext>
            </a:extLst>
          </p:cNvPr>
          <p:cNvSpPr txBox="1"/>
          <p:nvPr/>
        </p:nvSpPr>
        <p:spPr>
          <a:xfrm>
            <a:off x="810545" y="5409897"/>
            <a:ext cx="10570909" cy="92333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b="1"/>
              <a:t>GR-Add already learns how to blend text into the forecast, but it does so implicitly from hidden features. Our extension would make that gating decision more explicit by providing the gate with reliability signals that reflect whether the note stream is likely to be useful at that forecast time.</a:t>
            </a:r>
          </a:p>
        </p:txBody>
      </p:sp>
      <p:pic>
        <p:nvPicPr>
          <p:cNvPr id="5" name="Picture 4">
            <a:extLst>
              <a:ext uri="{FF2B5EF4-FFF2-40B4-BE49-F238E27FC236}">
                <a16:creationId xmlns:a16="http://schemas.microsoft.com/office/drawing/2014/main" id="{0435E76A-CBF3-7F9D-7B22-B52F53E66914}"/>
              </a:ext>
            </a:extLst>
          </p:cNvPr>
          <p:cNvPicPr>
            <a:picLocks noChangeAspect="1"/>
          </p:cNvPicPr>
          <p:nvPr/>
        </p:nvPicPr>
        <p:blipFill>
          <a:blip r:embed="rId3"/>
          <a:stretch>
            <a:fillRect/>
          </a:stretch>
        </p:blipFill>
        <p:spPr>
          <a:xfrm>
            <a:off x="267719" y="523555"/>
            <a:ext cx="11656562" cy="1329043"/>
          </a:xfrm>
          <a:prstGeom prst="rect">
            <a:avLst/>
          </a:prstGeom>
          <a:ln>
            <a:noFill/>
          </a:ln>
          <a:effectLst>
            <a:outerShdw blurRad="292100" dist="139700" dir="2700000" algn="tl" rotWithShape="0">
              <a:srgbClr val="333333">
                <a:alpha val="65000"/>
              </a:srgbClr>
            </a:outerShdw>
          </a:effectLst>
        </p:spPr>
      </p:pic>
      <p:sp>
        <p:nvSpPr>
          <p:cNvPr id="6" name="Shape 19">
            <a:extLst>
              <a:ext uri="{FF2B5EF4-FFF2-40B4-BE49-F238E27FC236}">
                <a16:creationId xmlns:a16="http://schemas.microsoft.com/office/drawing/2014/main" id="{0B5B40E0-482B-4057-3933-BB9069DB9492}"/>
              </a:ext>
            </a:extLst>
          </p:cNvPr>
          <p:cNvSpPr/>
          <p:nvPr/>
        </p:nvSpPr>
        <p:spPr>
          <a:xfrm>
            <a:off x="10588365" y="2606426"/>
            <a:ext cx="135331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7" name="Text 20">
            <a:extLst>
              <a:ext uri="{FF2B5EF4-FFF2-40B4-BE49-F238E27FC236}">
                <a16:creationId xmlns:a16="http://schemas.microsoft.com/office/drawing/2014/main" id="{97EECB99-C033-B029-0338-BFA75EF75161}"/>
              </a:ext>
            </a:extLst>
          </p:cNvPr>
          <p:cNvSpPr/>
          <p:nvPr/>
        </p:nvSpPr>
        <p:spPr>
          <a:xfrm>
            <a:off x="10652373" y="2711245"/>
            <a:ext cx="1225296"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Note density</a:t>
            </a:r>
            <a:endParaRPr lang="en-US" sz="1170"/>
          </a:p>
        </p:txBody>
      </p:sp>
      <p:sp>
        <p:nvSpPr>
          <p:cNvPr id="8" name="Shape 23">
            <a:extLst>
              <a:ext uri="{FF2B5EF4-FFF2-40B4-BE49-F238E27FC236}">
                <a16:creationId xmlns:a16="http://schemas.microsoft.com/office/drawing/2014/main" id="{E9F937F8-C6B4-76DA-55F6-5A092452CF05}"/>
              </a:ext>
            </a:extLst>
          </p:cNvPr>
          <p:cNvSpPr/>
          <p:nvPr/>
        </p:nvSpPr>
        <p:spPr>
          <a:xfrm>
            <a:off x="10670275" y="3064342"/>
            <a:ext cx="1234440" cy="292608"/>
          </a:xfrm>
          <a:prstGeom prst="roundRect">
            <a:avLst>
              <a:gd name="adj" fmla="val 18750"/>
            </a:avLst>
          </a:prstGeom>
          <a:solidFill>
            <a:srgbClr val="F7E8E6"/>
          </a:solidFill>
          <a:ln w="12700">
            <a:solidFill>
              <a:srgbClr val="D97B73"/>
            </a:solidFill>
            <a:prstDash val="solid"/>
          </a:ln>
        </p:spPr>
        <p:txBody>
          <a:bodyPr/>
          <a:lstStyle/>
          <a:p>
            <a:endParaRPr lang="en-US"/>
          </a:p>
        </p:txBody>
      </p:sp>
      <p:sp>
        <p:nvSpPr>
          <p:cNvPr id="9" name="Text 24">
            <a:extLst>
              <a:ext uri="{FF2B5EF4-FFF2-40B4-BE49-F238E27FC236}">
                <a16:creationId xmlns:a16="http://schemas.microsoft.com/office/drawing/2014/main" id="{5298884D-E2FB-2E14-E7DB-5E419D3FF037}"/>
              </a:ext>
            </a:extLst>
          </p:cNvPr>
          <p:cNvSpPr/>
          <p:nvPr/>
        </p:nvSpPr>
        <p:spPr>
          <a:xfrm>
            <a:off x="10642843" y="3126204"/>
            <a:ext cx="1280160" cy="160463"/>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TS-text alignment</a:t>
            </a:r>
            <a:endParaRPr lang="en-US" sz="1170"/>
          </a:p>
        </p:txBody>
      </p:sp>
      <p:sp>
        <p:nvSpPr>
          <p:cNvPr id="10" name="Shape 17">
            <a:extLst>
              <a:ext uri="{FF2B5EF4-FFF2-40B4-BE49-F238E27FC236}">
                <a16:creationId xmlns:a16="http://schemas.microsoft.com/office/drawing/2014/main" id="{757B0CFF-B88F-5F72-1D8A-D04AF1937123}"/>
              </a:ext>
            </a:extLst>
          </p:cNvPr>
          <p:cNvSpPr/>
          <p:nvPr/>
        </p:nvSpPr>
        <p:spPr>
          <a:xfrm>
            <a:off x="10652373" y="2163114"/>
            <a:ext cx="10972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11" name="Text 18">
            <a:extLst>
              <a:ext uri="{FF2B5EF4-FFF2-40B4-BE49-F238E27FC236}">
                <a16:creationId xmlns:a16="http://schemas.microsoft.com/office/drawing/2014/main" id="{CD9EECA5-FA33-D691-04AA-BD4FBDF9B83A}"/>
              </a:ext>
            </a:extLst>
          </p:cNvPr>
          <p:cNvSpPr/>
          <p:nvPr/>
        </p:nvSpPr>
        <p:spPr>
          <a:xfrm>
            <a:off x="10716381" y="2255583"/>
            <a:ext cx="969264"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Recency</a:t>
            </a:r>
            <a:endParaRPr lang="en-US" sz="1170"/>
          </a:p>
        </p:txBody>
      </p:sp>
      <p:sp>
        <p:nvSpPr>
          <p:cNvPr id="12" name="Shape 21">
            <a:extLst>
              <a:ext uri="{FF2B5EF4-FFF2-40B4-BE49-F238E27FC236}">
                <a16:creationId xmlns:a16="http://schemas.microsoft.com/office/drawing/2014/main" id="{D5FBB3E3-C77B-66D8-3D4B-0EEB8CAE2E15}"/>
              </a:ext>
            </a:extLst>
          </p:cNvPr>
          <p:cNvSpPr/>
          <p:nvPr/>
        </p:nvSpPr>
        <p:spPr>
          <a:xfrm>
            <a:off x="10662409" y="3540047"/>
            <a:ext cx="1261872"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13" name="Text 22">
            <a:extLst>
              <a:ext uri="{FF2B5EF4-FFF2-40B4-BE49-F238E27FC236}">
                <a16:creationId xmlns:a16="http://schemas.microsoft.com/office/drawing/2014/main" id="{97F50C0D-1A66-9B80-FD03-A7EA287E5806}"/>
              </a:ext>
            </a:extLst>
          </p:cNvPr>
          <p:cNvSpPr/>
          <p:nvPr/>
        </p:nvSpPr>
        <p:spPr>
          <a:xfrm>
            <a:off x="10726417" y="3626077"/>
            <a:ext cx="1133856" cy="109728"/>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Missingness</a:t>
            </a:r>
            <a:endParaRPr lang="en-US" sz="1170"/>
          </a:p>
        </p:txBody>
      </p:sp>
      <p:cxnSp>
        <p:nvCxnSpPr>
          <p:cNvPr id="17" name="Straight Arrow Connector 16">
            <a:extLst>
              <a:ext uri="{FF2B5EF4-FFF2-40B4-BE49-F238E27FC236}">
                <a16:creationId xmlns:a16="http://schemas.microsoft.com/office/drawing/2014/main" id="{67A6BAC5-06C2-0D51-169E-99596DA95552}"/>
              </a:ext>
            </a:extLst>
          </p:cNvPr>
          <p:cNvCxnSpPr>
            <a:cxnSpLocks/>
          </p:cNvCxnSpPr>
          <p:nvPr/>
        </p:nvCxnSpPr>
        <p:spPr>
          <a:xfrm flipH="1">
            <a:off x="6986279" y="2156360"/>
            <a:ext cx="1900144" cy="84119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33266655-C09D-A17F-DA15-5F3DEB57C482}"/>
              </a:ext>
            </a:extLst>
          </p:cNvPr>
          <p:cNvSpPr/>
          <p:nvPr/>
        </p:nvSpPr>
        <p:spPr>
          <a:xfrm>
            <a:off x="8752610" y="2009104"/>
            <a:ext cx="1614883" cy="439864"/>
          </a:xfrm>
          <a:prstGeom prst="roundRect">
            <a:avLst/>
          </a:prstGeom>
          <a:solidFill>
            <a:srgbClr val="DED5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18">
            <a:extLst>
              <a:ext uri="{FF2B5EF4-FFF2-40B4-BE49-F238E27FC236}">
                <a16:creationId xmlns:a16="http://schemas.microsoft.com/office/drawing/2014/main" id="{D6E70895-BB38-9D53-9151-56B0B597E7C2}"/>
              </a:ext>
            </a:extLst>
          </p:cNvPr>
          <p:cNvSpPr/>
          <p:nvPr/>
        </p:nvSpPr>
        <p:spPr>
          <a:xfrm>
            <a:off x="8794724" y="2185222"/>
            <a:ext cx="1507344" cy="110151"/>
          </a:xfrm>
          <a:prstGeom prst="rect">
            <a:avLst/>
          </a:prstGeom>
          <a:noFill/>
          <a:ln/>
        </p:spPr>
        <p:txBody>
          <a:bodyPr wrap="square" lIns="0" tIns="0" rIns="0" bIns="0" rtlCol="0" anchor="ctr"/>
          <a:lstStyle/>
          <a:p>
            <a:pPr marL="0" indent="0" algn="ctr">
              <a:buNone/>
            </a:pPr>
            <a:r>
              <a:rPr lang="en-US" sz="1170" b="1">
                <a:solidFill>
                  <a:srgbClr val="11263F"/>
                </a:solidFill>
                <a:latin typeface="Aptos" pitchFamily="34" charset="0"/>
                <a:ea typeface="Aptos" pitchFamily="34" charset="-122"/>
                <a:cs typeface="Aptos" pitchFamily="34" charset="-120"/>
              </a:rPr>
              <a:t>GR-Add to RA-</a:t>
            </a:r>
            <a:r>
              <a:rPr lang="en-US" sz="1170" b="1" err="1">
                <a:solidFill>
                  <a:srgbClr val="11263F"/>
                </a:solidFill>
                <a:latin typeface="Aptos" pitchFamily="34" charset="0"/>
                <a:ea typeface="Aptos" pitchFamily="34" charset="-122"/>
                <a:cs typeface="Aptos" pitchFamily="34" charset="-120"/>
              </a:rPr>
              <a:t>GRAdd</a:t>
            </a:r>
            <a:r>
              <a:rPr lang="en-US" sz="1170" b="1">
                <a:solidFill>
                  <a:srgbClr val="11263F"/>
                </a:solidFill>
                <a:latin typeface="Aptos" pitchFamily="34" charset="0"/>
                <a:ea typeface="Aptos" pitchFamily="34" charset="-122"/>
                <a:cs typeface="Aptos" pitchFamily="34" charset="-120"/>
              </a:rPr>
              <a:t>:</a:t>
            </a:r>
            <a:endParaRPr lang="en-US" sz="1170"/>
          </a:p>
        </p:txBody>
      </p:sp>
      <p:sp>
        <p:nvSpPr>
          <p:cNvPr id="28" name="Title 1">
            <a:extLst>
              <a:ext uri="{FF2B5EF4-FFF2-40B4-BE49-F238E27FC236}">
                <a16:creationId xmlns:a16="http://schemas.microsoft.com/office/drawing/2014/main" id="{3F80C9EF-D35C-ACC3-7D59-98FC89A88E83}"/>
              </a:ext>
            </a:extLst>
          </p:cNvPr>
          <p:cNvSpPr txBox="1">
            <a:spLocks/>
          </p:cNvSpPr>
          <p:nvPr/>
        </p:nvSpPr>
        <p:spPr>
          <a:xfrm>
            <a:off x="310803" y="2401560"/>
            <a:ext cx="2678481" cy="1325563"/>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Methods Alteration:</a:t>
            </a:r>
          </a:p>
        </p:txBody>
      </p:sp>
    </p:spTree>
    <p:extLst>
      <p:ext uri="{BB962C8B-B14F-4D97-AF65-F5344CB8AC3E}">
        <p14:creationId xmlns:p14="http://schemas.microsoft.com/office/powerpoint/2010/main" val="123059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54AFFC-A9F0-3AEF-DB6B-A6BA6205FC6F}"/>
              </a:ext>
            </a:extLst>
          </p:cNvPr>
          <p:cNvPicPr>
            <a:picLocks noChangeAspect="1"/>
          </p:cNvPicPr>
          <p:nvPr/>
        </p:nvPicPr>
        <p:blipFill>
          <a:blip r:embed="rId2"/>
          <a:srcRect l="5596" r="5569"/>
          <a:stretch>
            <a:fillRect/>
          </a:stretch>
        </p:blipFill>
        <p:spPr>
          <a:xfrm>
            <a:off x="4335653" y="1900622"/>
            <a:ext cx="7418328" cy="4845299"/>
          </a:xfrm>
          <a:prstGeom prst="rect">
            <a:avLst/>
          </a:prstGeom>
        </p:spPr>
      </p:pic>
      <p:sp>
        <p:nvSpPr>
          <p:cNvPr id="3" name="TextBox 2">
            <a:extLst>
              <a:ext uri="{FF2B5EF4-FFF2-40B4-BE49-F238E27FC236}">
                <a16:creationId xmlns:a16="http://schemas.microsoft.com/office/drawing/2014/main" id="{9A55C0C6-6A94-F034-6E16-AAD8F72A25B0}"/>
              </a:ext>
            </a:extLst>
          </p:cNvPr>
          <p:cNvSpPr txBox="1"/>
          <p:nvPr/>
        </p:nvSpPr>
        <p:spPr>
          <a:xfrm>
            <a:off x="185157" y="478200"/>
            <a:ext cx="10696506" cy="2954655"/>
          </a:xfrm>
          <a:prstGeom prst="rect">
            <a:avLst/>
          </a:prstGeom>
          <a:noFill/>
        </p:spPr>
        <p:txBody>
          <a:bodyPr wrap="square">
            <a:spAutoFit/>
          </a:bodyPr>
          <a:lstStyle/>
          <a:p>
            <a:pPr algn="l"/>
            <a:r>
              <a:rPr lang="en-US" sz="2400" b="1" i="0" u="none" strike="noStrike" baseline="0">
                <a:latin typeface="CMR10"/>
              </a:rPr>
              <a:t>The GR-Add module formed a residual update to the structured representation.</a:t>
            </a:r>
          </a:p>
          <a:p>
            <a:pPr algn="l"/>
            <a:endParaRPr lang="en-US" b="1">
              <a:latin typeface="CMR10"/>
            </a:endParaRPr>
          </a:p>
          <a:p>
            <a:pPr algn="l"/>
            <a:r>
              <a:rPr lang="en-US" sz="1800" b="1" i="0" u="none" strike="noStrike" baseline="0">
                <a:latin typeface="CMR10"/>
              </a:rPr>
              <a:t>The pair (</a:t>
            </a:r>
            <a:r>
              <a:rPr lang="en-US" sz="1800" b="1" i="0" u="none" strike="noStrike" baseline="0" err="1">
                <a:latin typeface="CMMI10"/>
              </a:rPr>
              <a:t>h</a:t>
            </a:r>
            <a:r>
              <a:rPr lang="en-US" sz="800" b="1" i="0" u="none" strike="noStrike" baseline="0" err="1">
                <a:latin typeface="CMMI7"/>
              </a:rPr>
              <a:t>ts</a:t>
            </a:r>
            <a:r>
              <a:rPr lang="en-US" sz="1800" b="1" i="0" u="none" strike="noStrike" baseline="0">
                <a:latin typeface="CMMI10"/>
              </a:rPr>
              <a:t>, </a:t>
            </a:r>
            <a:r>
              <a:rPr lang="en-US" sz="1800" b="1" i="0" u="none" strike="noStrike" baseline="0" err="1">
                <a:latin typeface="CMMI10"/>
              </a:rPr>
              <a:t>h</a:t>
            </a:r>
            <a:r>
              <a:rPr lang="en-US" sz="800" b="1" i="0" u="none" strike="noStrike" baseline="0" err="1">
                <a:latin typeface="CMMI7"/>
              </a:rPr>
              <a:t>txt</a:t>
            </a:r>
            <a:r>
              <a:rPr lang="en-US" sz="1800" b="1" i="0" u="none" strike="noStrike" baseline="0">
                <a:latin typeface="CMR10"/>
              </a:rPr>
              <a:t>) was processed sequentially through a recurrent unit:</a:t>
            </a:r>
          </a:p>
          <a:p>
            <a:pPr algn="l"/>
            <a:endParaRPr lang="en-US" sz="1800" b="1" i="0" u="none" strike="noStrike" baseline="0">
              <a:latin typeface="CMR10"/>
            </a:endParaRPr>
          </a:p>
          <a:p>
            <a:pPr algn="l"/>
            <a:endParaRPr lang="en-US">
              <a:latin typeface="CMR10"/>
            </a:endParaRPr>
          </a:p>
          <a:p>
            <a:pPr algn="l"/>
            <a:r>
              <a:rPr lang="en-US" sz="1800" b="1" i="0" u="none" strike="noStrike" baseline="0">
                <a:latin typeface="CMR10"/>
              </a:rPr>
              <a:t>A residual candidate was computed:</a:t>
            </a:r>
          </a:p>
          <a:p>
            <a:pPr algn="l"/>
            <a:endParaRPr lang="en-US" b="1">
              <a:latin typeface="CMR10"/>
            </a:endParaRPr>
          </a:p>
          <a:p>
            <a:pPr algn="l"/>
            <a:endParaRPr lang="en-US" b="1">
              <a:latin typeface="CMR10"/>
            </a:endParaRPr>
          </a:p>
          <a:p>
            <a:r>
              <a:rPr lang="en-US" b="1"/>
              <a:t>A gate learned from the concatenated </a:t>
            </a:r>
          </a:p>
          <a:p>
            <a:r>
              <a:rPr lang="en-US" b="1"/>
              <a:t>modalities:</a:t>
            </a:r>
            <a:endParaRPr lang="en-US" sz="1800" b="1" i="0" u="none" strike="noStrike" baseline="0">
              <a:latin typeface="CMR10"/>
            </a:endParaRPr>
          </a:p>
        </p:txBody>
      </p:sp>
      <p:pic>
        <p:nvPicPr>
          <p:cNvPr id="9" name="Picture 8">
            <a:extLst>
              <a:ext uri="{FF2B5EF4-FFF2-40B4-BE49-F238E27FC236}">
                <a16:creationId xmlns:a16="http://schemas.microsoft.com/office/drawing/2014/main" id="{58830F20-AE11-F305-AFFA-16F0D76969AC}"/>
              </a:ext>
            </a:extLst>
          </p:cNvPr>
          <p:cNvPicPr>
            <a:picLocks noChangeAspect="1"/>
          </p:cNvPicPr>
          <p:nvPr/>
        </p:nvPicPr>
        <p:blipFill>
          <a:blip r:embed="rId3"/>
          <a:stretch>
            <a:fillRect/>
          </a:stretch>
        </p:blipFill>
        <p:spPr>
          <a:xfrm>
            <a:off x="6976023" y="986563"/>
            <a:ext cx="2735778" cy="665460"/>
          </a:xfrm>
          <a:prstGeom prst="rect">
            <a:avLst/>
          </a:prstGeom>
        </p:spPr>
      </p:pic>
      <p:pic>
        <p:nvPicPr>
          <p:cNvPr id="11" name="Picture 10">
            <a:extLst>
              <a:ext uri="{FF2B5EF4-FFF2-40B4-BE49-F238E27FC236}">
                <a16:creationId xmlns:a16="http://schemas.microsoft.com/office/drawing/2014/main" id="{597F84FF-C7AA-C769-0E3C-C539085EB7AC}"/>
              </a:ext>
            </a:extLst>
          </p:cNvPr>
          <p:cNvPicPr>
            <a:picLocks noChangeAspect="1"/>
          </p:cNvPicPr>
          <p:nvPr/>
        </p:nvPicPr>
        <p:blipFill>
          <a:blip r:embed="rId4"/>
          <a:stretch>
            <a:fillRect/>
          </a:stretch>
        </p:blipFill>
        <p:spPr>
          <a:xfrm>
            <a:off x="835950" y="2280271"/>
            <a:ext cx="1969128" cy="490240"/>
          </a:xfrm>
          <a:prstGeom prst="rect">
            <a:avLst/>
          </a:prstGeom>
        </p:spPr>
      </p:pic>
      <p:pic>
        <p:nvPicPr>
          <p:cNvPr id="13" name="Picture 12">
            <a:extLst>
              <a:ext uri="{FF2B5EF4-FFF2-40B4-BE49-F238E27FC236}">
                <a16:creationId xmlns:a16="http://schemas.microsoft.com/office/drawing/2014/main" id="{3CD4DED3-735C-7E0E-E31C-8CB7E6BA3D4A}"/>
              </a:ext>
            </a:extLst>
          </p:cNvPr>
          <p:cNvPicPr>
            <a:picLocks noChangeAspect="1"/>
          </p:cNvPicPr>
          <p:nvPr/>
        </p:nvPicPr>
        <p:blipFill>
          <a:blip r:embed="rId5"/>
          <a:stretch>
            <a:fillRect/>
          </a:stretch>
        </p:blipFill>
        <p:spPr>
          <a:xfrm>
            <a:off x="575867" y="3471986"/>
            <a:ext cx="3108993" cy="559111"/>
          </a:xfrm>
          <a:prstGeom prst="rect">
            <a:avLst/>
          </a:prstGeom>
        </p:spPr>
      </p:pic>
      <p:pic>
        <p:nvPicPr>
          <p:cNvPr id="15" name="Picture 14">
            <a:extLst>
              <a:ext uri="{FF2B5EF4-FFF2-40B4-BE49-F238E27FC236}">
                <a16:creationId xmlns:a16="http://schemas.microsoft.com/office/drawing/2014/main" id="{E8F74984-E1C5-8BF3-D7CD-08D64636C604}"/>
              </a:ext>
            </a:extLst>
          </p:cNvPr>
          <p:cNvPicPr>
            <a:picLocks noChangeAspect="1"/>
          </p:cNvPicPr>
          <p:nvPr/>
        </p:nvPicPr>
        <p:blipFill>
          <a:blip r:embed="rId6"/>
          <a:stretch>
            <a:fillRect/>
          </a:stretch>
        </p:blipFill>
        <p:spPr>
          <a:xfrm>
            <a:off x="747746" y="4592394"/>
            <a:ext cx="2519757" cy="488525"/>
          </a:xfrm>
          <a:prstGeom prst="rect">
            <a:avLst/>
          </a:prstGeom>
        </p:spPr>
      </p:pic>
      <p:sp>
        <p:nvSpPr>
          <p:cNvPr id="16" name="TextBox 15">
            <a:extLst>
              <a:ext uri="{FF2B5EF4-FFF2-40B4-BE49-F238E27FC236}">
                <a16:creationId xmlns:a16="http://schemas.microsoft.com/office/drawing/2014/main" id="{5259C53C-C106-B5FF-FC43-6884E09713F9}"/>
              </a:ext>
            </a:extLst>
          </p:cNvPr>
          <p:cNvSpPr txBox="1"/>
          <p:nvPr/>
        </p:nvSpPr>
        <p:spPr>
          <a:xfrm>
            <a:off x="747746" y="4186487"/>
            <a:ext cx="3108993" cy="369332"/>
          </a:xfrm>
          <a:prstGeom prst="rect">
            <a:avLst/>
          </a:prstGeom>
          <a:noFill/>
        </p:spPr>
        <p:txBody>
          <a:bodyPr wrap="square" rtlCol="0">
            <a:spAutoFit/>
          </a:bodyPr>
          <a:lstStyle/>
          <a:p>
            <a:r>
              <a:rPr lang="en-US" b="1"/>
              <a:t>Fused Representation:</a:t>
            </a:r>
          </a:p>
        </p:txBody>
      </p:sp>
    </p:spTree>
    <p:extLst>
      <p:ext uri="{BB962C8B-B14F-4D97-AF65-F5344CB8AC3E}">
        <p14:creationId xmlns:p14="http://schemas.microsoft.com/office/powerpoint/2010/main" val="1237380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436928-4AF7-BB71-7855-BF07DCF0BF50}"/>
              </a:ext>
            </a:extLst>
          </p:cNvPr>
          <p:cNvSpPr txBox="1"/>
          <p:nvPr/>
        </p:nvSpPr>
        <p:spPr>
          <a:xfrm>
            <a:off x="425003" y="665882"/>
            <a:ext cx="10305647" cy="1631216"/>
          </a:xfrm>
          <a:prstGeom prst="rect">
            <a:avLst/>
          </a:prstGeom>
          <a:noFill/>
        </p:spPr>
        <p:txBody>
          <a:bodyPr wrap="square">
            <a:spAutoFit/>
          </a:bodyPr>
          <a:lstStyle/>
          <a:p>
            <a:r>
              <a:rPr lang="en-US" sz="2800" b="1"/>
              <a:t>Extension introduced an explicit reliability-aware gate:</a:t>
            </a:r>
          </a:p>
          <a:p>
            <a:r>
              <a:rPr lang="en-US"/>
              <a:t> </a:t>
            </a:r>
          </a:p>
          <a:p>
            <a:pPr marL="285750" indent="-285750">
              <a:buFont typeface="Arial" panose="020B0604020202020204" pitchFamily="34" charset="0"/>
              <a:buChar char="•"/>
            </a:pPr>
            <a:r>
              <a:rPr lang="en-US"/>
              <a:t>Instead of letting the gate depend only on latent structured and text features, it additionally incorporates observable indicators describing whether the note stream should influence prediction. The reliability vector:</a:t>
            </a:r>
          </a:p>
        </p:txBody>
      </p:sp>
      <p:pic>
        <p:nvPicPr>
          <p:cNvPr id="5" name="Picture 4">
            <a:extLst>
              <a:ext uri="{FF2B5EF4-FFF2-40B4-BE49-F238E27FC236}">
                <a16:creationId xmlns:a16="http://schemas.microsoft.com/office/drawing/2014/main" id="{962ACCBA-9BFD-3665-B36A-0BC43C39F721}"/>
              </a:ext>
            </a:extLst>
          </p:cNvPr>
          <p:cNvPicPr>
            <a:picLocks noChangeAspect="1"/>
          </p:cNvPicPr>
          <p:nvPr/>
        </p:nvPicPr>
        <p:blipFill>
          <a:blip r:embed="rId2"/>
          <a:stretch>
            <a:fillRect/>
          </a:stretch>
        </p:blipFill>
        <p:spPr>
          <a:xfrm>
            <a:off x="2194465" y="2297098"/>
            <a:ext cx="7137068" cy="538462"/>
          </a:xfrm>
          <a:prstGeom prst="rect">
            <a:avLst/>
          </a:prstGeom>
        </p:spPr>
      </p:pic>
      <p:pic>
        <p:nvPicPr>
          <p:cNvPr id="7" name="Picture 6">
            <a:extLst>
              <a:ext uri="{FF2B5EF4-FFF2-40B4-BE49-F238E27FC236}">
                <a16:creationId xmlns:a16="http://schemas.microsoft.com/office/drawing/2014/main" id="{19214619-6E64-B9EE-2792-611D1C4BC057}"/>
              </a:ext>
            </a:extLst>
          </p:cNvPr>
          <p:cNvPicPr>
            <a:picLocks noChangeAspect="1"/>
          </p:cNvPicPr>
          <p:nvPr/>
        </p:nvPicPr>
        <p:blipFill>
          <a:blip r:embed="rId3"/>
          <a:stretch>
            <a:fillRect/>
          </a:stretch>
        </p:blipFill>
        <p:spPr>
          <a:xfrm>
            <a:off x="505386" y="3234033"/>
            <a:ext cx="2795505" cy="822655"/>
          </a:xfrm>
          <a:prstGeom prst="rect">
            <a:avLst/>
          </a:prstGeom>
        </p:spPr>
      </p:pic>
      <p:pic>
        <p:nvPicPr>
          <p:cNvPr id="9" name="Picture 8">
            <a:extLst>
              <a:ext uri="{FF2B5EF4-FFF2-40B4-BE49-F238E27FC236}">
                <a16:creationId xmlns:a16="http://schemas.microsoft.com/office/drawing/2014/main" id="{0F88CE88-FD98-A5FE-BE9F-4E7081DC7D3B}"/>
              </a:ext>
            </a:extLst>
          </p:cNvPr>
          <p:cNvPicPr>
            <a:picLocks noChangeAspect="1"/>
          </p:cNvPicPr>
          <p:nvPr/>
        </p:nvPicPr>
        <p:blipFill>
          <a:blip r:embed="rId4"/>
          <a:stretch>
            <a:fillRect/>
          </a:stretch>
        </p:blipFill>
        <p:spPr>
          <a:xfrm>
            <a:off x="6763552" y="3792829"/>
            <a:ext cx="4157167" cy="686035"/>
          </a:xfrm>
          <a:prstGeom prst="rect">
            <a:avLst/>
          </a:prstGeom>
        </p:spPr>
      </p:pic>
      <p:pic>
        <p:nvPicPr>
          <p:cNvPr id="11" name="Picture 10">
            <a:extLst>
              <a:ext uri="{FF2B5EF4-FFF2-40B4-BE49-F238E27FC236}">
                <a16:creationId xmlns:a16="http://schemas.microsoft.com/office/drawing/2014/main" id="{D06D52EC-DA98-2713-B5B3-CE383EE70387}"/>
              </a:ext>
            </a:extLst>
          </p:cNvPr>
          <p:cNvPicPr>
            <a:picLocks noChangeAspect="1"/>
          </p:cNvPicPr>
          <p:nvPr/>
        </p:nvPicPr>
        <p:blipFill>
          <a:blip r:embed="rId5"/>
          <a:stretch>
            <a:fillRect/>
          </a:stretch>
        </p:blipFill>
        <p:spPr>
          <a:xfrm>
            <a:off x="4547756" y="5457602"/>
            <a:ext cx="2430485" cy="594316"/>
          </a:xfrm>
          <a:prstGeom prst="rect">
            <a:avLst/>
          </a:prstGeom>
        </p:spPr>
      </p:pic>
      <p:sp>
        <p:nvSpPr>
          <p:cNvPr id="13" name="TextBox 12">
            <a:extLst>
              <a:ext uri="{FF2B5EF4-FFF2-40B4-BE49-F238E27FC236}">
                <a16:creationId xmlns:a16="http://schemas.microsoft.com/office/drawing/2014/main" id="{3C6195CB-DC05-659B-FE5E-E480BB3732A0}"/>
              </a:ext>
            </a:extLst>
          </p:cNvPr>
          <p:cNvSpPr txBox="1"/>
          <p:nvPr/>
        </p:nvSpPr>
        <p:spPr>
          <a:xfrm>
            <a:off x="5139209" y="3410357"/>
            <a:ext cx="7137068" cy="646331"/>
          </a:xfrm>
          <a:prstGeom prst="rect">
            <a:avLst/>
          </a:prstGeom>
          <a:noFill/>
        </p:spPr>
        <p:txBody>
          <a:bodyPr wrap="square">
            <a:spAutoFit/>
          </a:bodyPr>
          <a:lstStyle/>
          <a:p>
            <a:r>
              <a:rPr lang="en-US"/>
              <a:t>Compute residual candidate </a:t>
            </a:r>
            <a:r>
              <a:rPr lang="en-US" i="1"/>
              <a:t>r</a:t>
            </a:r>
            <a:r>
              <a:rPr lang="en-US"/>
              <a:t> from recurrent multimodal interaction compute gate:</a:t>
            </a:r>
          </a:p>
        </p:txBody>
      </p:sp>
      <p:sp>
        <p:nvSpPr>
          <p:cNvPr id="15" name="TextBox 14">
            <a:extLst>
              <a:ext uri="{FF2B5EF4-FFF2-40B4-BE49-F238E27FC236}">
                <a16:creationId xmlns:a16="http://schemas.microsoft.com/office/drawing/2014/main" id="{14E751AE-5698-6E32-6330-0CCD30B15980}"/>
              </a:ext>
            </a:extLst>
          </p:cNvPr>
          <p:cNvSpPr txBox="1"/>
          <p:nvPr/>
        </p:nvSpPr>
        <p:spPr>
          <a:xfrm>
            <a:off x="3804096" y="5062607"/>
            <a:ext cx="6140002" cy="369332"/>
          </a:xfrm>
          <a:prstGeom prst="rect">
            <a:avLst/>
          </a:prstGeom>
          <a:noFill/>
        </p:spPr>
        <p:txBody>
          <a:bodyPr wrap="square">
            <a:spAutoFit/>
          </a:bodyPr>
          <a:lstStyle/>
          <a:p>
            <a:r>
              <a:rPr lang="en-US"/>
              <a:t>Fuse modalities in same way as paper:</a:t>
            </a:r>
          </a:p>
        </p:txBody>
      </p:sp>
      <p:sp>
        <p:nvSpPr>
          <p:cNvPr id="17" name="TextBox 16">
            <a:extLst>
              <a:ext uri="{FF2B5EF4-FFF2-40B4-BE49-F238E27FC236}">
                <a16:creationId xmlns:a16="http://schemas.microsoft.com/office/drawing/2014/main" id="{FBC7A38E-C3C1-165F-EE60-83F164D0769C}"/>
              </a:ext>
            </a:extLst>
          </p:cNvPr>
          <p:cNvSpPr txBox="1"/>
          <p:nvPr/>
        </p:nvSpPr>
        <p:spPr>
          <a:xfrm>
            <a:off x="458232" y="4226791"/>
            <a:ext cx="3472466" cy="646331"/>
          </a:xfrm>
          <a:prstGeom prst="rect">
            <a:avLst/>
          </a:prstGeom>
          <a:noFill/>
        </p:spPr>
        <p:txBody>
          <a:bodyPr wrap="square">
            <a:spAutoFit/>
          </a:bodyPr>
          <a:lstStyle/>
          <a:p>
            <a:r>
              <a:rPr lang="en-US"/>
              <a:t>The reliability features were projected into a latent space:</a:t>
            </a:r>
          </a:p>
        </p:txBody>
      </p:sp>
      <p:pic>
        <p:nvPicPr>
          <p:cNvPr id="19" name="Picture 18">
            <a:extLst>
              <a:ext uri="{FF2B5EF4-FFF2-40B4-BE49-F238E27FC236}">
                <a16:creationId xmlns:a16="http://schemas.microsoft.com/office/drawing/2014/main" id="{F6112E13-939C-2805-B06E-4EF2BCEC4498}"/>
              </a:ext>
            </a:extLst>
          </p:cNvPr>
          <p:cNvPicPr>
            <a:picLocks noChangeAspect="1"/>
          </p:cNvPicPr>
          <p:nvPr/>
        </p:nvPicPr>
        <p:blipFill>
          <a:blip r:embed="rId6"/>
          <a:stretch>
            <a:fillRect/>
          </a:stretch>
        </p:blipFill>
        <p:spPr>
          <a:xfrm>
            <a:off x="978763" y="4904096"/>
            <a:ext cx="1661406" cy="527843"/>
          </a:xfrm>
          <a:prstGeom prst="rect">
            <a:avLst/>
          </a:prstGeom>
        </p:spPr>
      </p:pic>
    </p:spTree>
    <p:extLst>
      <p:ext uri="{BB962C8B-B14F-4D97-AF65-F5344CB8AC3E}">
        <p14:creationId xmlns:p14="http://schemas.microsoft.com/office/powerpoint/2010/main" val="2921847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7947-EBB2-D7CE-B9C0-2AEC3B8A44B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5367D50-C99C-B62E-D908-CA44772C89D3}"/>
              </a:ext>
            </a:extLst>
          </p:cNvPr>
          <p:cNvPicPr>
            <a:picLocks noChangeAspect="1"/>
          </p:cNvPicPr>
          <p:nvPr/>
        </p:nvPicPr>
        <p:blipFill>
          <a:blip r:embed="rId2"/>
          <a:stretch>
            <a:fillRect/>
          </a:stretch>
        </p:blipFill>
        <p:spPr>
          <a:xfrm>
            <a:off x="500880" y="918667"/>
            <a:ext cx="3315205" cy="10350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3E6B2A1E-10A1-CADC-055E-2452A3A9779F}"/>
              </a:ext>
            </a:extLst>
          </p:cNvPr>
          <p:cNvPicPr>
            <a:picLocks noChangeAspect="1"/>
          </p:cNvPicPr>
          <p:nvPr/>
        </p:nvPicPr>
        <p:blipFill>
          <a:blip r:embed="rId3"/>
          <a:stretch>
            <a:fillRect/>
          </a:stretch>
        </p:blipFill>
        <p:spPr>
          <a:xfrm>
            <a:off x="5012051" y="1283867"/>
            <a:ext cx="2089433" cy="5844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5EA8CC81-693C-ACA3-F550-5A69B0814FDF}"/>
              </a:ext>
            </a:extLst>
          </p:cNvPr>
          <p:cNvPicPr>
            <a:picLocks noChangeAspect="1"/>
          </p:cNvPicPr>
          <p:nvPr/>
        </p:nvPicPr>
        <p:blipFill>
          <a:blip r:embed="rId4"/>
          <a:stretch>
            <a:fillRect/>
          </a:stretch>
        </p:blipFill>
        <p:spPr>
          <a:xfrm>
            <a:off x="8491616" y="1172035"/>
            <a:ext cx="2049406" cy="5844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D907E40B-74DB-9C6F-866F-311B06273C30}"/>
              </a:ext>
            </a:extLst>
          </p:cNvPr>
          <p:cNvSpPr txBox="1"/>
          <p:nvPr/>
        </p:nvSpPr>
        <p:spPr>
          <a:xfrm>
            <a:off x="2999753" y="2832194"/>
            <a:ext cx="5994653" cy="461665"/>
          </a:xfrm>
          <a:prstGeom prst="rect">
            <a:avLst/>
          </a:prstGeom>
          <a:solidFill>
            <a:srgbClr val="F7F5F0"/>
          </a:solidFill>
        </p:spPr>
        <p:txBody>
          <a:bodyPr wrap="square" rtlCol="0">
            <a:spAutoFit/>
          </a:bodyPr>
          <a:lstStyle/>
          <a:p>
            <a:r>
              <a:rPr lang="en-US" sz="2400" b="1"/>
              <a:t>New objective for classification becomes:</a:t>
            </a:r>
          </a:p>
        </p:txBody>
      </p:sp>
      <p:sp>
        <p:nvSpPr>
          <p:cNvPr id="9" name="TextBox 8">
            <a:extLst>
              <a:ext uri="{FF2B5EF4-FFF2-40B4-BE49-F238E27FC236}">
                <a16:creationId xmlns:a16="http://schemas.microsoft.com/office/drawing/2014/main" id="{EC31449D-5159-9A42-81D5-80A01E65D00F}"/>
              </a:ext>
            </a:extLst>
          </p:cNvPr>
          <p:cNvSpPr txBox="1"/>
          <p:nvPr/>
        </p:nvSpPr>
        <p:spPr>
          <a:xfrm>
            <a:off x="277596" y="315562"/>
            <a:ext cx="9761485" cy="461665"/>
          </a:xfrm>
          <a:prstGeom prst="rect">
            <a:avLst/>
          </a:prstGeom>
          <a:noFill/>
        </p:spPr>
        <p:txBody>
          <a:bodyPr wrap="square" rtlCol="0">
            <a:spAutoFit/>
          </a:bodyPr>
          <a:lstStyle/>
          <a:p>
            <a:r>
              <a:rPr lang="en-US" sz="2400" b="1"/>
              <a:t>Forecasting Extension to ICU Readmission Classification: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0672F94-A4BA-54BF-E0EA-74E6B8F4049F}"/>
                  </a:ext>
                </a:extLst>
              </p:cNvPr>
              <p:cNvSpPr txBox="1"/>
              <p:nvPr/>
            </p:nvSpPr>
            <p:spPr>
              <a:xfrm>
                <a:off x="470155" y="1997726"/>
                <a:ext cx="5681027" cy="790473"/>
              </a:xfrm>
              <a:prstGeom prst="rect">
                <a:avLst/>
              </a:prstGeom>
              <a:solidFill>
                <a:srgbClr val="F7F5F0"/>
              </a:solidFill>
            </p:spPr>
            <p:txBody>
              <a:bodyPr wrap="square" rtlCol="0">
                <a:spAutoFit/>
              </a:bodyPr>
              <a:lstStyle/>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𝑥</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r>
                      <a:rPr lang="ar-AE">
                        <a:latin typeface="Cambria Math" panose="02040503050406030204" pitchFamily="18" charset="0"/>
                      </a:rPr>
                      <m:t>∈</m:t>
                    </m:r>
                    <m:r>
                      <a:rPr lang="ar-AE">
                        <a:latin typeface="Cambria Math" panose="02040503050406030204" pitchFamily="18" charset="0"/>
                      </a:rPr>
                      <m:t>ℝ</m:t>
                    </m:r>
                  </m:oMath>
                </a14:m>
                <a:r>
                  <a:rPr lang="en-US"/>
                  <a:t>is the observed value of variable </a:t>
                </a:r>
                <a14:m>
                  <m:oMath xmlns:m="http://schemas.openxmlformats.org/officeDocument/2006/math">
                    <m:r>
                      <a:rPr lang="en-US" i="1">
                        <a:latin typeface="Cambria Math" panose="02040503050406030204" pitchFamily="18" charset="0"/>
                      </a:rPr>
                      <m:t>𝑛</m:t>
                    </m:r>
                  </m:oMath>
                </a14:m>
                <a:r>
                  <a:rPr lang="en-US"/>
                  <a:t> at time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𝑡</m:t>
                        </m:r>
                      </m:e>
                      <m:sub>
                        <m:r>
                          <a:rPr lang="ar-AE" i="1">
                            <a:latin typeface="Cambria Math" panose="02040503050406030204" pitchFamily="18" charset="0"/>
                          </a:rPr>
                          <m:t>𝑖</m:t>
                        </m:r>
                      </m:sub>
                      <m:sup>
                        <m:d>
                          <m:dPr>
                            <m:ctrlPr>
                              <a:rPr lang="ar-AE" i="1">
                                <a:latin typeface="Cambria Math" panose="02040503050406030204" pitchFamily="18" charset="0"/>
                              </a:rPr>
                            </m:ctrlPr>
                          </m:dPr>
                          <m:e>
                            <m:r>
                              <a:rPr lang="ar-AE" i="1">
                                <a:latin typeface="Cambria Math" panose="02040503050406030204" pitchFamily="18" charset="0"/>
                              </a:rPr>
                              <m:t>𝑛</m:t>
                            </m:r>
                          </m:e>
                        </m:d>
                      </m:sup>
                    </m:sSubSup>
                  </m:oMath>
                </a14:m>
                <a:r>
                  <a:rPr lang="ar-AE"/>
                  <a:t>,</a:t>
                </a:r>
                <a:r>
                  <a:rPr lang="en-US"/>
                  <a:t>and the observations are irregularly sampled. </a:t>
                </a:r>
              </a:p>
            </p:txBody>
          </p:sp>
        </mc:Choice>
        <mc:Fallback xmlns="">
          <p:sp>
            <p:nvSpPr>
              <p:cNvPr id="10" name="TextBox 9">
                <a:extLst>
                  <a:ext uri="{FF2B5EF4-FFF2-40B4-BE49-F238E27FC236}">
                    <a16:creationId xmlns:a16="http://schemas.microsoft.com/office/drawing/2014/main" id="{F0672F94-A4BA-54BF-E0EA-74E6B8F4049F}"/>
                  </a:ext>
                </a:extLst>
              </p:cNvPr>
              <p:cNvSpPr txBox="1">
                <a:spLocks noRot="1" noChangeAspect="1" noMove="1" noResize="1" noEditPoints="1" noAdjustHandles="1" noChangeArrowheads="1" noChangeShapeType="1" noTextEdit="1"/>
              </p:cNvSpPr>
              <p:nvPr/>
            </p:nvSpPr>
            <p:spPr>
              <a:xfrm>
                <a:off x="470155" y="1997726"/>
                <a:ext cx="5681027" cy="790473"/>
              </a:xfrm>
              <a:prstGeom prst="rect">
                <a:avLst/>
              </a:prstGeom>
              <a:blipFill>
                <a:blip r:embed="rId5"/>
                <a:stretch>
                  <a:fillRect b="-1085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9B2A8D1-8A32-1E2A-F03B-14215E4BF0FC}"/>
              </a:ext>
            </a:extLst>
          </p:cNvPr>
          <p:cNvSpPr txBox="1"/>
          <p:nvPr/>
        </p:nvSpPr>
        <p:spPr>
          <a:xfrm>
            <a:off x="4930881" y="928083"/>
            <a:ext cx="1938270" cy="369332"/>
          </a:xfrm>
          <a:prstGeom prst="rect">
            <a:avLst/>
          </a:prstGeom>
          <a:noFill/>
        </p:spPr>
        <p:txBody>
          <a:bodyPr wrap="square" rtlCol="0">
            <a:spAutoFit/>
          </a:bodyPr>
          <a:lstStyle/>
          <a:p>
            <a:r>
              <a:rPr lang="en-US"/>
              <a:t>Text Stream:</a:t>
            </a:r>
          </a:p>
        </p:txBody>
      </p:sp>
      <p:sp>
        <p:nvSpPr>
          <p:cNvPr id="12" name="TextBox 11">
            <a:extLst>
              <a:ext uri="{FF2B5EF4-FFF2-40B4-BE49-F238E27FC236}">
                <a16:creationId xmlns:a16="http://schemas.microsoft.com/office/drawing/2014/main" id="{4606E99A-025C-3D93-E07D-629E947C8CCA}"/>
              </a:ext>
            </a:extLst>
          </p:cNvPr>
          <p:cNvSpPr txBox="1"/>
          <p:nvPr/>
        </p:nvSpPr>
        <p:spPr>
          <a:xfrm>
            <a:off x="8361527" y="793926"/>
            <a:ext cx="3329862" cy="369332"/>
          </a:xfrm>
          <a:prstGeom prst="rect">
            <a:avLst/>
          </a:prstGeom>
          <a:noFill/>
        </p:spPr>
        <p:txBody>
          <a:bodyPr wrap="square" rtlCol="0">
            <a:spAutoFit/>
          </a:bodyPr>
          <a:lstStyle/>
          <a:p>
            <a:r>
              <a:rPr lang="en-US"/>
              <a:t>Original Forecasting Objective:</a:t>
            </a:r>
          </a:p>
        </p:txBody>
      </p:sp>
      <p:pic>
        <p:nvPicPr>
          <p:cNvPr id="4" name="Picture 3">
            <a:extLst>
              <a:ext uri="{FF2B5EF4-FFF2-40B4-BE49-F238E27FC236}">
                <a16:creationId xmlns:a16="http://schemas.microsoft.com/office/drawing/2014/main" id="{3902DDC3-1BC2-143E-AE7D-623AC20D9D64}"/>
              </a:ext>
            </a:extLst>
          </p:cNvPr>
          <p:cNvPicPr>
            <a:picLocks noChangeAspect="1"/>
          </p:cNvPicPr>
          <p:nvPr/>
        </p:nvPicPr>
        <p:blipFill>
          <a:blip r:embed="rId6"/>
          <a:stretch>
            <a:fillRect/>
          </a:stretch>
        </p:blipFill>
        <p:spPr>
          <a:xfrm>
            <a:off x="4781650" y="3394129"/>
            <a:ext cx="2303529" cy="6121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5A35415A-3E47-48EF-B572-87AE312B9C1A}"/>
              </a:ext>
            </a:extLst>
          </p:cNvPr>
          <p:cNvPicPr>
            <a:picLocks noChangeAspect="1"/>
          </p:cNvPicPr>
          <p:nvPr/>
        </p:nvPicPr>
        <p:blipFill>
          <a:blip r:embed="rId7"/>
          <a:stretch>
            <a:fillRect/>
          </a:stretch>
        </p:blipFill>
        <p:spPr>
          <a:xfrm>
            <a:off x="4593510" y="5187050"/>
            <a:ext cx="3004980" cy="7822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3DA3201-6FFB-2351-AC54-2A67BCEB359D}"/>
                  </a:ext>
                </a:extLst>
              </p:cNvPr>
              <p:cNvSpPr txBox="1"/>
              <p:nvPr/>
            </p:nvSpPr>
            <p:spPr>
              <a:xfrm>
                <a:off x="2341458" y="4128327"/>
                <a:ext cx="6960424" cy="923330"/>
              </a:xfrm>
              <a:prstGeom prst="rect">
                <a:avLst/>
              </a:prstGeom>
              <a:noFill/>
            </p:spPr>
            <p:txBody>
              <a:bodyPr wrap="square" rtlCol="0">
                <a:spAutoFit/>
              </a:bodyPr>
              <a:lstStyle/>
              <a:p>
                <a:r>
                  <a:rPr lang="en-US"/>
                  <a:t>where </a:t>
                </a:r>
                <a14:m>
                  <m:oMath xmlns:m="http://schemas.openxmlformats.org/officeDocument/2006/math">
                    <m:r>
                      <a:rPr lang="en-US" i="1">
                        <a:latin typeface="Cambria Math" panose="02040503050406030204" pitchFamily="18" charset="0"/>
                      </a:rPr>
                      <m:t>𝑟</m:t>
                    </m:r>
                    <m:r>
                      <a:rPr lang="en-US">
                        <a:latin typeface="Cambria Math" panose="02040503050406030204" pitchFamily="18" charset="0"/>
                      </a:rPr>
                      <m:t>∈</m:t>
                    </m:r>
                    <m:d>
                      <m:dPr>
                        <m:begChr m:val="{"/>
                        <m:endChr m:val="}"/>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r>
                  <a:rPr lang="en-US"/>
                  <a:t>is the ICU readmission label and </a:t>
                </a:r>
                <a14:m>
                  <m:oMath xmlns:m="http://schemas.openxmlformats.org/officeDocument/2006/math">
                    <m:r>
                      <a:rPr lang="en-US" i="1">
                        <a:latin typeface="Cambria Math" panose="02040503050406030204" pitchFamily="18" charset="0"/>
                      </a:rPr>
                      <m:t>𝑍</m:t>
                    </m:r>
                  </m:oMath>
                </a14:m>
                <a:r>
                  <a:rPr lang="en-US"/>
                  <a:t>denotes optional static covariates. The model output is a readmission probability (where </a:t>
                </a:r>
                <a14:m>
                  <m:oMath xmlns:m="http://schemas.openxmlformats.org/officeDocument/2006/math">
                    <m:r>
                      <a:rPr lang="en-US" i="1">
                        <a:latin typeface="Cambria Math" panose="02040503050406030204" pitchFamily="18" charset="0"/>
                      </a:rPr>
                      <m:t>𝜎</m:t>
                    </m:r>
                    <m:d>
                      <m:dPr>
                        <m:ctrlPr>
                          <a:rPr lang="ar-AE" i="1">
                            <a:latin typeface="Cambria Math" panose="02040503050406030204" pitchFamily="18" charset="0"/>
                          </a:rPr>
                        </m:ctrlPr>
                      </m:dPr>
                      <m:e>
                        <m:r>
                          <a:rPr lang="ar-AE">
                            <a:latin typeface="Cambria Math" panose="02040503050406030204" pitchFamily="18" charset="0"/>
                          </a:rPr>
                          <m:t>⋅</m:t>
                        </m:r>
                      </m:e>
                    </m:d>
                  </m:oMath>
                </a14:m>
                <a:r>
                  <a:rPr lang="en-US"/>
                  <a:t>is the logistic sigmoid):</a:t>
                </a:r>
              </a:p>
            </p:txBody>
          </p:sp>
        </mc:Choice>
        <mc:Fallback xmlns="">
          <p:sp>
            <p:nvSpPr>
              <p:cNvPr id="14" name="TextBox 13">
                <a:extLst>
                  <a:ext uri="{FF2B5EF4-FFF2-40B4-BE49-F238E27FC236}">
                    <a16:creationId xmlns:a16="http://schemas.microsoft.com/office/drawing/2014/main" id="{03DA3201-6FFB-2351-AC54-2A67BCEB359D}"/>
                  </a:ext>
                </a:extLst>
              </p:cNvPr>
              <p:cNvSpPr txBox="1">
                <a:spLocks noRot="1" noChangeAspect="1" noMove="1" noResize="1" noEditPoints="1" noAdjustHandles="1" noChangeArrowheads="1" noChangeShapeType="1" noTextEdit="1"/>
              </p:cNvSpPr>
              <p:nvPr/>
            </p:nvSpPr>
            <p:spPr>
              <a:xfrm>
                <a:off x="2341458" y="4128327"/>
                <a:ext cx="6960424" cy="923330"/>
              </a:xfrm>
              <a:prstGeom prst="rect">
                <a:avLst/>
              </a:prstGeom>
              <a:blipFill>
                <a:blip r:embed="rId8"/>
                <a:stretch>
                  <a:fillRect l="-701" t="-3289" b="-9211"/>
                </a:stretch>
              </a:blipFill>
            </p:spPr>
            <p:txBody>
              <a:bodyPr/>
              <a:lstStyle/>
              <a:p>
                <a:r>
                  <a:rPr lang="en-US">
                    <a:noFill/>
                  </a:rPr>
                  <a:t> </a:t>
                </a:r>
              </a:p>
            </p:txBody>
          </p:sp>
        </mc:Fallback>
      </mc:AlternateContent>
    </p:spTree>
    <p:extLst>
      <p:ext uri="{BB962C8B-B14F-4D97-AF65-F5344CB8AC3E}">
        <p14:creationId xmlns:p14="http://schemas.microsoft.com/office/powerpoint/2010/main" val="3401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481C82-4700-22A5-F802-DF524B2FDAF4}"/>
              </a:ext>
            </a:extLst>
          </p:cNvPr>
          <p:cNvPicPr>
            <a:picLocks noChangeAspect="1"/>
          </p:cNvPicPr>
          <p:nvPr/>
        </p:nvPicPr>
        <p:blipFill>
          <a:blip r:embed="rId2"/>
          <a:stretch>
            <a:fillRect/>
          </a:stretch>
        </p:blipFill>
        <p:spPr>
          <a:xfrm>
            <a:off x="301613" y="927280"/>
            <a:ext cx="7407517" cy="27580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7" name="Picture 6">
            <a:extLst>
              <a:ext uri="{FF2B5EF4-FFF2-40B4-BE49-F238E27FC236}">
                <a16:creationId xmlns:a16="http://schemas.microsoft.com/office/drawing/2014/main" id="{AE465E80-AA59-8910-8296-76731573F41D}"/>
              </a:ext>
            </a:extLst>
          </p:cNvPr>
          <p:cNvPicPr>
            <a:picLocks noChangeAspect="1"/>
          </p:cNvPicPr>
          <p:nvPr/>
        </p:nvPicPr>
        <p:blipFill>
          <a:blip r:embed="rId3"/>
          <a:stretch>
            <a:fillRect/>
          </a:stretch>
        </p:blipFill>
        <p:spPr>
          <a:xfrm>
            <a:off x="3784241" y="3942887"/>
            <a:ext cx="4921503" cy="263538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8" name="TextBox 7">
            <a:extLst>
              <a:ext uri="{FF2B5EF4-FFF2-40B4-BE49-F238E27FC236}">
                <a16:creationId xmlns:a16="http://schemas.microsoft.com/office/drawing/2014/main" id="{76D8EC4F-F81E-6C88-D87D-157A191ACD23}"/>
              </a:ext>
            </a:extLst>
          </p:cNvPr>
          <p:cNvSpPr txBox="1"/>
          <p:nvPr/>
        </p:nvSpPr>
        <p:spPr>
          <a:xfrm>
            <a:off x="347730" y="343910"/>
            <a:ext cx="10305647" cy="523220"/>
          </a:xfrm>
          <a:prstGeom prst="rect">
            <a:avLst/>
          </a:prstGeom>
          <a:noFill/>
        </p:spPr>
        <p:txBody>
          <a:bodyPr wrap="square">
            <a:spAutoFit/>
          </a:bodyPr>
          <a:lstStyle/>
          <a:p>
            <a:r>
              <a:rPr lang="en-US" sz="2800" b="1"/>
              <a:t>Extension to ICU Readmission Classification:</a:t>
            </a:r>
          </a:p>
        </p:txBody>
      </p:sp>
      <p:pic>
        <p:nvPicPr>
          <p:cNvPr id="10" name="Picture 9">
            <a:extLst>
              <a:ext uri="{FF2B5EF4-FFF2-40B4-BE49-F238E27FC236}">
                <a16:creationId xmlns:a16="http://schemas.microsoft.com/office/drawing/2014/main" id="{D1D5F7E0-38E5-DDE8-14B9-E10BE489C19C}"/>
              </a:ext>
            </a:extLst>
          </p:cNvPr>
          <p:cNvPicPr>
            <a:picLocks noChangeAspect="1"/>
          </p:cNvPicPr>
          <p:nvPr/>
        </p:nvPicPr>
        <p:blipFill>
          <a:blip r:embed="rId4"/>
          <a:stretch>
            <a:fillRect/>
          </a:stretch>
        </p:blipFill>
        <p:spPr>
          <a:xfrm>
            <a:off x="8350178" y="2344654"/>
            <a:ext cx="2806844" cy="349268"/>
          </a:xfrm>
          <a:prstGeom prst="rect">
            <a:avLst/>
          </a:prstGeom>
        </p:spPr>
      </p:pic>
      <p:sp>
        <p:nvSpPr>
          <p:cNvPr id="12" name="TextBox 11">
            <a:extLst>
              <a:ext uri="{FF2B5EF4-FFF2-40B4-BE49-F238E27FC236}">
                <a16:creationId xmlns:a16="http://schemas.microsoft.com/office/drawing/2014/main" id="{56CA1F55-F025-99A6-1594-C42DDC616279}"/>
              </a:ext>
            </a:extLst>
          </p:cNvPr>
          <p:cNvSpPr txBox="1"/>
          <p:nvPr/>
        </p:nvSpPr>
        <p:spPr>
          <a:xfrm>
            <a:off x="7850798" y="1141395"/>
            <a:ext cx="3978447" cy="2031325"/>
          </a:xfrm>
          <a:prstGeom prst="rect">
            <a:avLst/>
          </a:prstGeom>
          <a:noFill/>
        </p:spPr>
        <p:txBody>
          <a:bodyPr wrap="square">
            <a:spAutoFit/>
          </a:bodyPr>
          <a:lstStyle/>
          <a:p>
            <a:r>
              <a:rPr lang="en-US"/>
              <a:t>Binary cross-entropy loss on logits. For</a:t>
            </a:r>
          </a:p>
          <a:p>
            <a:r>
              <a:rPr lang="en-US"/>
              <a:t>patient </a:t>
            </a:r>
            <a:r>
              <a:rPr lang="en-US" i="1" err="1"/>
              <a:t>i</a:t>
            </a:r>
            <a:r>
              <a:rPr lang="en-US"/>
              <a:t>, with observed label </a:t>
            </a:r>
            <a:r>
              <a:rPr lang="en-US" i="1" err="1"/>
              <a:t>y</a:t>
            </a:r>
            <a:r>
              <a:rPr lang="en-US" i="1" baseline="-25000" err="1"/>
              <a:t>i</a:t>
            </a:r>
            <a:r>
              <a:rPr lang="en-US" i="1" baseline="-25000"/>
              <a:t> </a:t>
            </a:r>
            <a:r>
              <a:rPr lang="en-US"/>
              <a:t>and predicted probability ˆ</a:t>
            </a:r>
            <a:r>
              <a:rPr lang="en-US" i="1"/>
              <a:t>p</a:t>
            </a:r>
            <a:r>
              <a:rPr lang="en-US" i="1" baseline="-25000"/>
              <a:t>i</a:t>
            </a:r>
            <a:r>
              <a:rPr lang="en-US"/>
              <a:t>, the loss becomes:</a:t>
            </a:r>
          </a:p>
          <a:p>
            <a:endParaRPr lang="en-US"/>
          </a:p>
          <a:p>
            <a:endParaRPr lang="en-US"/>
          </a:p>
          <a:p>
            <a:r>
              <a:rPr lang="en-US"/>
              <a:t>With Batch Loss:</a:t>
            </a:r>
          </a:p>
        </p:txBody>
      </p:sp>
      <p:pic>
        <p:nvPicPr>
          <p:cNvPr id="14" name="Picture 13">
            <a:extLst>
              <a:ext uri="{FF2B5EF4-FFF2-40B4-BE49-F238E27FC236}">
                <a16:creationId xmlns:a16="http://schemas.microsoft.com/office/drawing/2014/main" id="{F3DC6CDE-86E8-D012-FD26-D2F74025576B}"/>
              </a:ext>
            </a:extLst>
          </p:cNvPr>
          <p:cNvPicPr>
            <a:picLocks noChangeAspect="1"/>
          </p:cNvPicPr>
          <p:nvPr/>
        </p:nvPicPr>
        <p:blipFill>
          <a:blip r:embed="rId5"/>
          <a:stretch>
            <a:fillRect/>
          </a:stretch>
        </p:blipFill>
        <p:spPr>
          <a:xfrm>
            <a:off x="9728965" y="2958053"/>
            <a:ext cx="1263715" cy="609631"/>
          </a:xfrm>
          <a:prstGeom prst="rect">
            <a:avLst/>
          </a:prstGeom>
        </p:spPr>
      </p:pic>
      <p:sp>
        <p:nvSpPr>
          <p:cNvPr id="2" name="Rectangle 1">
            <a:extLst>
              <a:ext uri="{FF2B5EF4-FFF2-40B4-BE49-F238E27FC236}">
                <a16:creationId xmlns:a16="http://schemas.microsoft.com/office/drawing/2014/main" id="{895DDAFD-C285-D202-A275-7C117FCDDF4C}"/>
              </a:ext>
            </a:extLst>
          </p:cNvPr>
          <p:cNvSpPr/>
          <p:nvPr/>
        </p:nvSpPr>
        <p:spPr>
          <a:xfrm>
            <a:off x="7850798" y="998113"/>
            <a:ext cx="4039589" cy="275803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352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896C80-70C7-57E6-A4FC-E10E5D5EDA56}"/>
              </a:ext>
            </a:extLst>
          </p:cNvPr>
          <p:cNvPicPr>
            <a:picLocks noChangeAspect="1"/>
          </p:cNvPicPr>
          <p:nvPr/>
        </p:nvPicPr>
        <p:blipFill>
          <a:blip r:embed="rId2"/>
          <a:srcRect l="7294" t="5258" r="21758"/>
          <a:stretch>
            <a:fillRect/>
          </a:stretch>
        </p:blipFill>
        <p:spPr>
          <a:xfrm>
            <a:off x="0" y="253737"/>
            <a:ext cx="5903446" cy="3479490"/>
          </a:xfrm>
          <a:prstGeom prst="rect">
            <a:avLst/>
          </a:prstGeom>
        </p:spPr>
      </p:pic>
      <p:pic>
        <p:nvPicPr>
          <p:cNvPr id="3" name="Picture 2">
            <a:extLst>
              <a:ext uri="{FF2B5EF4-FFF2-40B4-BE49-F238E27FC236}">
                <a16:creationId xmlns:a16="http://schemas.microsoft.com/office/drawing/2014/main" id="{E966DB4A-4AB9-18E0-9387-91809E9BD956}"/>
              </a:ext>
            </a:extLst>
          </p:cNvPr>
          <p:cNvPicPr>
            <a:picLocks noChangeAspect="1"/>
          </p:cNvPicPr>
          <p:nvPr/>
        </p:nvPicPr>
        <p:blipFill>
          <a:blip r:embed="rId3"/>
          <a:stretch>
            <a:fillRect/>
          </a:stretch>
        </p:blipFill>
        <p:spPr>
          <a:xfrm>
            <a:off x="435954" y="3774961"/>
            <a:ext cx="5205207" cy="3083039"/>
          </a:xfrm>
          <a:prstGeom prst="rect">
            <a:avLst/>
          </a:prstGeom>
        </p:spPr>
      </p:pic>
      <p:pic>
        <p:nvPicPr>
          <p:cNvPr id="4" name="Picture 3">
            <a:extLst>
              <a:ext uri="{FF2B5EF4-FFF2-40B4-BE49-F238E27FC236}">
                <a16:creationId xmlns:a16="http://schemas.microsoft.com/office/drawing/2014/main" id="{40572C73-2FDA-5E43-0830-DE78DBCC7C39}"/>
              </a:ext>
            </a:extLst>
          </p:cNvPr>
          <p:cNvPicPr>
            <a:picLocks noChangeAspect="1"/>
          </p:cNvPicPr>
          <p:nvPr/>
        </p:nvPicPr>
        <p:blipFill>
          <a:blip r:embed="rId4"/>
          <a:stretch>
            <a:fillRect/>
          </a:stretch>
        </p:blipFill>
        <p:spPr>
          <a:xfrm>
            <a:off x="5999723" y="720138"/>
            <a:ext cx="6026178" cy="6026178"/>
          </a:xfrm>
          <a:prstGeom prst="rect">
            <a:avLst/>
          </a:prstGeom>
        </p:spPr>
      </p:pic>
      <p:sp>
        <p:nvSpPr>
          <p:cNvPr id="5" name="Rectangle 4">
            <a:extLst>
              <a:ext uri="{FF2B5EF4-FFF2-40B4-BE49-F238E27FC236}">
                <a16:creationId xmlns:a16="http://schemas.microsoft.com/office/drawing/2014/main" id="{87596AE4-DD29-0E6B-4CE3-0A3ED997C28F}"/>
              </a:ext>
            </a:extLst>
          </p:cNvPr>
          <p:cNvSpPr/>
          <p:nvPr/>
        </p:nvSpPr>
        <p:spPr>
          <a:xfrm>
            <a:off x="220006" y="5500150"/>
            <a:ext cx="1038153" cy="24750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590FEF0-FB36-AAB4-E6A8-7C79BFDE844E}"/>
              </a:ext>
            </a:extLst>
          </p:cNvPr>
          <p:cNvSpPr/>
          <p:nvPr/>
        </p:nvSpPr>
        <p:spPr>
          <a:xfrm rot="8187162">
            <a:off x="5841099" y="3150356"/>
            <a:ext cx="705064" cy="72229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9136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5446F5-30B5-6A18-3E0D-6F0524893155}"/>
              </a:ext>
            </a:extLst>
          </p:cNvPr>
          <p:cNvPicPr>
            <a:picLocks noChangeAspect="1"/>
          </p:cNvPicPr>
          <p:nvPr/>
        </p:nvPicPr>
        <p:blipFill>
          <a:blip r:embed="rId2"/>
          <a:srcRect b="28977"/>
          <a:stretch>
            <a:fillRect/>
          </a:stretch>
        </p:blipFill>
        <p:spPr>
          <a:xfrm>
            <a:off x="161019" y="93394"/>
            <a:ext cx="6913550" cy="1372786"/>
          </a:xfrm>
          <a:prstGeom prst="rect">
            <a:avLst/>
          </a:prstGeom>
        </p:spPr>
      </p:pic>
      <p:pic>
        <p:nvPicPr>
          <p:cNvPr id="2" name="Picture 1">
            <a:extLst>
              <a:ext uri="{FF2B5EF4-FFF2-40B4-BE49-F238E27FC236}">
                <a16:creationId xmlns:a16="http://schemas.microsoft.com/office/drawing/2014/main" id="{27D79739-6BD4-5E89-2979-A234BA6237B4}"/>
              </a:ext>
            </a:extLst>
          </p:cNvPr>
          <p:cNvPicPr>
            <a:picLocks noChangeAspect="1"/>
          </p:cNvPicPr>
          <p:nvPr/>
        </p:nvPicPr>
        <p:blipFill>
          <a:blip r:embed="rId3"/>
          <a:srcRect r="5807"/>
          <a:stretch>
            <a:fillRect/>
          </a:stretch>
        </p:blipFill>
        <p:spPr>
          <a:xfrm>
            <a:off x="-116299" y="1571163"/>
            <a:ext cx="5820056" cy="2349621"/>
          </a:xfrm>
          <a:prstGeom prst="rect">
            <a:avLst/>
          </a:prstGeom>
        </p:spPr>
      </p:pic>
      <p:pic>
        <p:nvPicPr>
          <p:cNvPr id="3" name="Picture 2">
            <a:extLst>
              <a:ext uri="{FF2B5EF4-FFF2-40B4-BE49-F238E27FC236}">
                <a16:creationId xmlns:a16="http://schemas.microsoft.com/office/drawing/2014/main" id="{AD9007B4-9D07-B044-D3BA-D4CECFB4819E}"/>
              </a:ext>
            </a:extLst>
          </p:cNvPr>
          <p:cNvPicPr>
            <a:picLocks noChangeAspect="1"/>
          </p:cNvPicPr>
          <p:nvPr/>
        </p:nvPicPr>
        <p:blipFill>
          <a:blip r:embed="rId4"/>
          <a:srcRect t="51026"/>
          <a:stretch>
            <a:fillRect/>
          </a:stretch>
        </p:blipFill>
        <p:spPr>
          <a:xfrm>
            <a:off x="6189393" y="2387566"/>
            <a:ext cx="5543835" cy="2668341"/>
          </a:xfrm>
          <a:prstGeom prst="rect">
            <a:avLst/>
          </a:prstGeom>
        </p:spPr>
      </p:pic>
      <p:pic>
        <p:nvPicPr>
          <p:cNvPr id="5" name="Picture 4">
            <a:extLst>
              <a:ext uri="{FF2B5EF4-FFF2-40B4-BE49-F238E27FC236}">
                <a16:creationId xmlns:a16="http://schemas.microsoft.com/office/drawing/2014/main" id="{31F331F9-6390-87F9-9634-05C27BD0FE48}"/>
              </a:ext>
            </a:extLst>
          </p:cNvPr>
          <p:cNvPicPr>
            <a:picLocks noChangeAspect="1"/>
          </p:cNvPicPr>
          <p:nvPr/>
        </p:nvPicPr>
        <p:blipFill>
          <a:blip r:embed="rId4"/>
          <a:srcRect t="693" b="50333"/>
          <a:stretch>
            <a:fillRect/>
          </a:stretch>
        </p:blipFill>
        <p:spPr>
          <a:xfrm>
            <a:off x="21811" y="4141415"/>
            <a:ext cx="5543835" cy="2668340"/>
          </a:xfrm>
          <a:prstGeom prst="rect">
            <a:avLst/>
          </a:prstGeom>
        </p:spPr>
      </p:pic>
    </p:spTree>
    <p:extLst>
      <p:ext uri="{BB962C8B-B14F-4D97-AF65-F5344CB8AC3E}">
        <p14:creationId xmlns:p14="http://schemas.microsoft.com/office/powerpoint/2010/main" val="2114277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0B85D4-B4B3-7806-D859-BD90FB489F58}"/>
              </a:ext>
            </a:extLst>
          </p:cNvPr>
          <p:cNvPicPr>
            <a:picLocks noChangeAspect="1"/>
          </p:cNvPicPr>
          <p:nvPr/>
        </p:nvPicPr>
        <p:blipFill>
          <a:blip r:embed="rId2"/>
          <a:stretch>
            <a:fillRect/>
          </a:stretch>
        </p:blipFill>
        <p:spPr>
          <a:xfrm>
            <a:off x="1873771" y="474717"/>
            <a:ext cx="8166752" cy="5620520"/>
          </a:xfrm>
          <a:prstGeom prst="rect">
            <a:avLst/>
          </a:prstGeom>
        </p:spPr>
      </p:pic>
    </p:spTree>
    <p:extLst>
      <p:ext uri="{BB962C8B-B14F-4D97-AF65-F5344CB8AC3E}">
        <p14:creationId xmlns:p14="http://schemas.microsoft.com/office/powerpoint/2010/main" val="1087507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104CF6-F02E-3529-6BA3-8AF1937BC539}"/>
              </a:ext>
            </a:extLst>
          </p:cNvPr>
          <p:cNvPicPr>
            <a:picLocks noChangeAspect="1"/>
          </p:cNvPicPr>
          <p:nvPr/>
        </p:nvPicPr>
        <p:blipFill>
          <a:blip r:embed="rId2"/>
          <a:stretch>
            <a:fillRect/>
          </a:stretch>
        </p:blipFill>
        <p:spPr>
          <a:xfrm>
            <a:off x="59961" y="0"/>
            <a:ext cx="7704950" cy="5563393"/>
          </a:xfrm>
          <a:prstGeom prst="rect">
            <a:avLst/>
          </a:prstGeom>
        </p:spPr>
      </p:pic>
    </p:spTree>
    <p:extLst>
      <p:ext uri="{BB962C8B-B14F-4D97-AF65-F5344CB8AC3E}">
        <p14:creationId xmlns:p14="http://schemas.microsoft.com/office/powerpoint/2010/main" val="348295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E59E84-2A8F-8E66-004B-4CC4A952D75B}"/>
              </a:ext>
            </a:extLst>
          </p:cNvPr>
          <p:cNvPicPr>
            <a:picLocks noChangeAspect="1"/>
          </p:cNvPicPr>
          <p:nvPr/>
        </p:nvPicPr>
        <p:blipFill>
          <a:blip r:embed="rId2"/>
          <a:stretch>
            <a:fillRect/>
          </a:stretch>
        </p:blipFill>
        <p:spPr>
          <a:xfrm>
            <a:off x="97437" y="69982"/>
            <a:ext cx="8166752" cy="5620520"/>
          </a:xfrm>
          <a:prstGeom prst="rect">
            <a:avLst/>
          </a:prstGeom>
        </p:spPr>
      </p:pic>
      <p:pic>
        <p:nvPicPr>
          <p:cNvPr id="4" name="Picture 3">
            <a:extLst>
              <a:ext uri="{FF2B5EF4-FFF2-40B4-BE49-F238E27FC236}">
                <a16:creationId xmlns:a16="http://schemas.microsoft.com/office/drawing/2014/main" id="{DDA6F270-1363-5E5F-B0A1-FA0988912A3F}"/>
              </a:ext>
            </a:extLst>
          </p:cNvPr>
          <p:cNvPicPr>
            <a:picLocks noChangeAspect="1"/>
          </p:cNvPicPr>
          <p:nvPr/>
        </p:nvPicPr>
        <p:blipFill>
          <a:blip r:embed="rId3"/>
          <a:stretch>
            <a:fillRect/>
          </a:stretch>
        </p:blipFill>
        <p:spPr>
          <a:xfrm>
            <a:off x="8110491" y="430762"/>
            <a:ext cx="3162463" cy="400071"/>
          </a:xfrm>
          <a:prstGeom prst="rect">
            <a:avLst/>
          </a:prstGeom>
        </p:spPr>
      </p:pic>
      <p:pic>
        <p:nvPicPr>
          <p:cNvPr id="6" name="Picture 5">
            <a:extLst>
              <a:ext uri="{FF2B5EF4-FFF2-40B4-BE49-F238E27FC236}">
                <a16:creationId xmlns:a16="http://schemas.microsoft.com/office/drawing/2014/main" id="{B797674A-F8F1-7D6F-8F6E-17F1EA42E618}"/>
              </a:ext>
            </a:extLst>
          </p:cNvPr>
          <p:cNvPicPr>
            <a:picLocks noChangeAspect="1"/>
          </p:cNvPicPr>
          <p:nvPr/>
        </p:nvPicPr>
        <p:blipFill>
          <a:blip r:embed="rId4"/>
          <a:stretch>
            <a:fillRect/>
          </a:stretch>
        </p:blipFill>
        <p:spPr>
          <a:xfrm>
            <a:off x="8454303" y="978877"/>
            <a:ext cx="2997354" cy="425472"/>
          </a:xfrm>
          <a:prstGeom prst="rect">
            <a:avLst/>
          </a:prstGeom>
        </p:spPr>
      </p:pic>
      <p:pic>
        <p:nvPicPr>
          <p:cNvPr id="8" name="Picture 7">
            <a:extLst>
              <a:ext uri="{FF2B5EF4-FFF2-40B4-BE49-F238E27FC236}">
                <a16:creationId xmlns:a16="http://schemas.microsoft.com/office/drawing/2014/main" id="{AFEB97B2-E5E2-4035-C0E6-CFAD8DE87476}"/>
              </a:ext>
            </a:extLst>
          </p:cNvPr>
          <p:cNvPicPr>
            <a:picLocks noChangeAspect="1"/>
          </p:cNvPicPr>
          <p:nvPr/>
        </p:nvPicPr>
        <p:blipFill>
          <a:blip r:embed="rId5"/>
          <a:stretch>
            <a:fillRect/>
          </a:stretch>
        </p:blipFill>
        <p:spPr>
          <a:xfrm>
            <a:off x="5330784" y="1934828"/>
            <a:ext cx="6247037" cy="2466188"/>
          </a:xfrm>
          <a:prstGeom prst="rect">
            <a:avLst/>
          </a:prstGeom>
        </p:spPr>
      </p:pic>
    </p:spTree>
    <p:extLst>
      <p:ext uri="{BB962C8B-B14F-4D97-AF65-F5344CB8AC3E}">
        <p14:creationId xmlns:p14="http://schemas.microsoft.com/office/powerpoint/2010/main" val="1982591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00297E0-7C43-8243-53A2-F03A9C568B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1731" y="474387"/>
            <a:ext cx="9237387" cy="6122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29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7857FDE6-62E4-80EA-39DD-BD8B0C710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43" y="735645"/>
            <a:ext cx="6109926" cy="53867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793BDEF-1068-088B-259E-A31E1F9740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372"/>
          <a:stretch>
            <a:fillRect/>
          </a:stretch>
        </p:blipFill>
        <p:spPr bwMode="auto">
          <a:xfrm>
            <a:off x="7404577" y="383293"/>
            <a:ext cx="3671351" cy="280977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D5D656D-FEF6-FC1B-1131-53EE989373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886"/>
          <a:stretch>
            <a:fillRect/>
          </a:stretch>
        </p:blipFill>
        <p:spPr bwMode="auto">
          <a:xfrm>
            <a:off x="7115820" y="3429000"/>
            <a:ext cx="4357918" cy="3302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486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3E30E5-B886-A71D-7E18-0904416D2950}"/>
              </a:ext>
            </a:extLst>
          </p:cNvPr>
          <p:cNvPicPr>
            <a:picLocks noChangeAspect="1"/>
          </p:cNvPicPr>
          <p:nvPr/>
        </p:nvPicPr>
        <p:blipFill>
          <a:blip r:embed="rId2"/>
          <a:stretch>
            <a:fillRect/>
          </a:stretch>
        </p:blipFill>
        <p:spPr>
          <a:xfrm>
            <a:off x="693918" y="1378156"/>
            <a:ext cx="10804164" cy="4101687"/>
          </a:xfrm>
          <a:prstGeom prst="rect">
            <a:avLst/>
          </a:prstGeom>
        </p:spPr>
      </p:pic>
    </p:spTree>
    <p:extLst>
      <p:ext uri="{BB962C8B-B14F-4D97-AF65-F5344CB8AC3E}">
        <p14:creationId xmlns:p14="http://schemas.microsoft.com/office/powerpoint/2010/main" val="3232621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CF6B32-63B9-6496-770F-607EF9E7D7D2}"/>
              </a:ext>
            </a:extLst>
          </p:cNvPr>
          <p:cNvPicPr>
            <a:picLocks noChangeAspect="1"/>
          </p:cNvPicPr>
          <p:nvPr/>
        </p:nvPicPr>
        <p:blipFill>
          <a:blip r:embed="rId2"/>
          <a:stretch>
            <a:fillRect/>
          </a:stretch>
        </p:blipFill>
        <p:spPr>
          <a:xfrm>
            <a:off x="210189" y="4757895"/>
            <a:ext cx="5943905" cy="939848"/>
          </a:xfrm>
          <a:prstGeom prst="rect">
            <a:avLst/>
          </a:prstGeom>
        </p:spPr>
      </p:pic>
      <p:pic>
        <p:nvPicPr>
          <p:cNvPr id="5" name="Picture 4">
            <a:extLst>
              <a:ext uri="{FF2B5EF4-FFF2-40B4-BE49-F238E27FC236}">
                <a16:creationId xmlns:a16="http://schemas.microsoft.com/office/drawing/2014/main" id="{73AE10A3-38F4-6D29-86BB-9FA8D17BBCF7}"/>
              </a:ext>
            </a:extLst>
          </p:cNvPr>
          <p:cNvPicPr>
            <a:picLocks noChangeAspect="1"/>
          </p:cNvPicPr>
          <p:nvPr/>
        </p:nvPicPr>
        <p:blipFill>
          <a:blip r:embed="rId3"/>
          <a:stretch>
            <a:fillRect/>
          </a:stretch>
        </p:blipFill>
        <p:spPr>
          <a:xfrm>
            <a:off x="210189" y="411054"/>
            <a:ext cx="5505733" cy="3162463"/>
          </a:xfrm>
          <a:prstGeom prst="rect">
            <a:avLst/>
          </a:prstGeom>
        </p:spPr>
      </p:pic>
      <p:pic>
        <p:nvPicPr>
          <p:cNvPr id="7" name="Picture 6">
            <a:extLst>
              <a:ext uri="{FF2B5EF4-FFF2-40B4-BE49-F238E27FC236}">
                <a16:creationId xmlns:a16="http://schemas.microsoft.com/office/drawing/2014/main" id="{801A11BF-8BA4-9211-6526-533C3BF1E66A}"/>
              </a:ext>
            </a:extLst>
          </p:cNvPr>
          <p:cNvPicPr>
            <a:picLocks noChangeAspect="1"/>
          </p:cNvPicPr>
          <p:nvPr/>
        </p:nvPicPr>
        <p:blipFill>
          <a:blip r:embed="rId4"/>
          <a:stretch>
            <a:fillRect/>
          </a:stretch>
        </p:blipFill>
        <p:spPr>
          <a:xfrm>
            <a:off x="190196" y="3760894"/>
            <a:ext cx="5905804" cy="997001"/>
          </a:xfrm>
          <a:prstGeom prst="rect">
            <a:avLst/>
          </a:prstGeom>
        </p:spPr>
      </p:pic>
      <p:pic>
        <p:nvPicPr>
          <p:cNvPr id="12" name="Picture 11">
            <a:extLst>
              <a:ext uri="{FF2B5EF4-FFF2-40B4-BE49-F238E27FC236}">
                <a16:creationId xmlns:a16="http://schemas.microsoft.com/office/drawing/2014/main" id="{89AFAF19-4B51-17EF-8643-623494E24988}"/>
              </a:ext>
            </a:extLst>
          </p:cNvPr>
          <p:cNvPicPr>
            <a:picLocks noChangeAspect="1"/>
          </p:cNvPicPr>
          <p:nvPr/>
        </p:nvPicPr>
        <p:blipFill>
          <a:blip r:embed="rId5"/>
          <a:stretch>
            <a:fillRect/>
          </a:stretch>
        </p:blipFill>
        <p:spPr>
          <a:xfrm>
            <a:off x="6661519" y="846944"/>
            <a:ext cx="2929694" cy="5164111"/>
          </a:xfrm>
          <a:prstGeom prst="rect">
            <a:avLst/>
          </a:prstGeom>
        </p:spPr>
      </p:pic>
    </p:spTree>
    <p:extLst>
      <p:ext uri="{BB962C8B-B14F-4D97-AF65-F5344CB8AC3E}">
        <p14:creationId xmlns:p14="http://schemas.microsoft.com/office/powerpoint/2010/main" val="1573748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5" name="Picture 1054">
            <a:extLst>
              <a:ext uri="{FF2B5EF4-FFF2-40B4-BE49-F238E27FC236}">
                <a16:creationId xmlns:a16="http://schemas.microsoft.com/office/drawing/2014/main" id="{0FC830C9-55BF-101B-B5C9-50AC702C843D}"/>
              </a:ext>
            </a:extLst>
          </p:cNvPr>
          <p:cNvPicPr>
            <a:picLocks noChangeAspect="1"/>
          </p:cNvPicPr>
          <p:nvPr/>
        </p:nvPicPr>
        <p:blipFill>
          <a:blip r:embed="rId3"/>
          <a:srcRect t="7658"/>
          <a:stretch>
            <a:fillRect/>
          </a:stretch>
        </p:blipFill>
        <p:spPr>
          <a:xfrm>
            <a:off x="8921750" y="3215988"/>
            <a:ext cx="1762125" cy="1288376"/>
          </a:xfrm>
          <a:prstGeom prst="rect">
            <a:avLst/>
          </a:prstGeom>
        </p:spPr>
      </p:pic>
      <p:pic>
        <p:nvPicPr>
          <p:cNvPr id="1038" name="Picture 1037">
            <a:extLst>
              <a:ext uri="{FF2B5EF4-FFF2-40B4-BE49-F238E27FC236}">
                <a16:creationId xmlns:a16="http://schemas.microsoft.com/office/drawing/2014/main" id="{7BF0BFEF-98A2-A865-2881-DDD30DD03213}"/>
              </a:ext>
            </a:extLst>
          </p:cNvPr>
          <p:cNvPicPr>
            <a:picLocks noChangeAspect="1"/>
          </p:cNvPicPr>
          <p:nvPr/>
        </p:nvPicPr>
        <p:blipFill>
          <a:blip r:embed="rId4">
            <a:extLst>
              <a:ext uri="{28A0092B-C50C-407E-A947-70E740481C1C}">
                <a14:useLocalDpi xmlns:a14="http://schemas.microsoft.com/office/drawing/2010/main" val="0"/>
              </a:ext>
            </a:extLst>
          </a:blip>
          <a:srcRect t="7373" r="1970"/>
          <a:stretch>
            <a:fillRect/>
          </a:stretch>
        </p:blipFill>
        <p:spPr>
          <a:xfrm>
            <a:off x="4475992" y="3181114"/>
            <a:ext cx="1962383" cy="1470144"/>
          </a:xfrm>
          <a:prstGeom prst="rect">
            <a:avLst/>
          </a:prstGeom>
        </p:spPr>
      </p:pic>
      <p:pic>
        <p:nvPicPr>
          <p:cNvPr id="1062" name="Picture 1061">
            <a:extLst>
              <a:ext uri="{FF2B5EF4-FFF2-40B4-BE49-F238E27FC236}">
                <a16:creationId xmlns:a16="http://schemas.microsoft.com/office/drawing/2014/main" id="{15854DD9-82CF-1D2F-0AC4-8D859A0A5940}"/>
              </a:ext>
            </a:extLst>
          </p:cNvPr>
          <p:cNvPicPr>
            <a:picLocks noChangeAspect="1"/>
          </p:cNvPicPr>
          <p:nvPr/>
        </p:nvPicPr>
        <p:blipFill>
          <a:blip r:embed="rId5"/>
          <a:srcRect t="3885"/>
          <a:stretch>
            <a:fillRect/>
          </a:stretch>
        </p:blipFill>
        <p:spPr>
          <a:xfrm>
            <a:off x="547663" y="3696439"/>
            <a:ext cx="3270250" cy="2238039"/>
          </a:xfrm>
          <a:prstGeom prst="rect">
            <a:avLst/>
          </a:prstGeom>
        </p:spPr>
      </p:pic>
      <p:pic>
        <p:nvPicPr>
          <p:cNvPr id="1076" name="Picture 1075">
            <a:extLst>
              <a:ext uri="{FF2B5EF4-FFF2-40B4-BE49-F238E27FC236}">
                <a16:creationId xmlns:a16="http://schemas.microsoft.com/office/drawing/2014/main" id="{9D1B5721-FFC5-8333-3C84-97CE795CFB3C}"/>
              </a:ext>
            </a:extLst>
          </p:cNvPr>
          <p:cNvPicPr>
            <a:picLocks noChangeAspect="1"/>
          </p:cNvPicPr>
          <p:nvPr/>
        </p:nvPicPr>
        <p:blipFill>
          <a:blip r:embed="rId6"/>
          <a:stretch>
            <a:fillRect/>
          </a:stretch>
        </p:blipFill>
        <p:spPr>
          <a:xfrm>
            <a:off x="7077115" y="2011269"/>
            <a:ext cx="1327974" cy="2339690"/>
          </a:xfrm>
          <a:prstGeom prst="rect">
            <a:avLst/>
          </a:prstGeom>
        </p:spPr>
      </p:pic>
      <p:pic>
        <p:nvPicPr>
          <p:cNvPr id="1028" name="Picture 1027">
            <a:extLst>
              <a:ext uri="{FF2B5EF4-FFF2-40B4-BE49-F238E27FC236}">
                <a16:creationId xmlns:a16="http://schemas.microsoft.com/office/drawing/2014/main" id="{4BF08D49-3DE0-089F-0243-6C746B00AF49}"/>
              </a:ext>
            </a:extLst>
          </p:cNvPr>
          <p:cNvPicPr>
            <a:picLocks noChangeAspect="1"/>
          </p:cNvPicPr>
          <p:nvPr/>
        </p:nvPicPr>
        <p:blipFill>
          <a:blip r:embed="rId7"/>
          <a:srcRect l="7294" t="5258" r="21758"/>
          <a:stretch>
            <a:fillRect/>
          </a:stretch>
        </p:blipFill>
        <p:spPr>
          <a:xfrm>
            <a:off x="583316" y="714375"/>
            <a:ext cx="3932390" cy="2317750"/>
          </a:xfrm>
          <a:prstGeom prst="rect">
            <a:avLst/>
          </a:prstGeom>
        </p:spPr>
      </p:pic>
      <p:sp>
        <p:nvSpPr>
          <p:cNvPr id="1033" name="Rectangle 51"/>
          <p:cNvSpPr>
            <a:spLocks noChangeArrowheads="1"/>
          </p:cNvSpPr>
          <p:nvPr/>
        </p:nvSpPr>
        <p:spPr bwMode="auto">
          <a:xfrm>
            <a:off x="450440426" y="447392426"/>
            <a:ext cx="447392227" cy="29438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47063" tIns="23531" rIns="47063" bIns="23531">
            <a:spAutoFit/>
          </a:bodyPr>
          <a:lstStyle/>
          <a:p>
            <a:pPr defTabSz="470552" eaLnBrk="0" fontAlgn="base" hangingPunct="0">
              <a:spcBef>
                <a:spcPct val="0"/>
              </a:spcBef>
              <a:spcAft>
                <a:spcPct val="0"/>
              </a:spcAft>
            </a:pPr>
            <a:r>
              <a:rPr lang="en-US" sz="1604">
                <a:solidFill>
                  <a:srgbClr val="000000"/>
                </a:solidFill>
                <a:latin typeface="Times New Roman" pitchFamily="18" charset="0"/>
              </a:rPr>
              <a:t> </a:t>
            </a:r>
            <a:endParaRPr lang="en-US" sz="1229">
              <a:solidFill>
                <a:srgbClr val="000000"/>
              </a:solidFill>
              <a:latin typeface="Times New Roman" pitchFamily="18" charset="0"/>
            </a:endParaRPr>
          </a:p>
        </p:txBody>
      </p:sp>
      <p:sp>
        <p:nvSpPr>
          <p:cNvPr id="1036" name="Text Box 89"/>
          <p:cNvSpPr txBox="1">
            <a:spLocks noChangeArrowheads="1"/>
          </p:cNvSpPr>
          <p:nvPr/>
        </p:nvSpPr>
        <p:spPr bwMode="auto">
          <a:xfrm>
            <a:off x="5403123" y="238125"/>
            <a:ext cx="1316302" cy="1658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47063" tIns="23531" rIns="47063" bIns="23531">
            <a:spAutoFit/>
          </a:bodyPr>
          <a:lstStyle>
            <a:lvl1pPr defTabSz="2259013">
              <a:defRPr sz="5400" b="1">
                <a:solidFill>
                  <a:schemeClr val="tx1"/>
                </a:solidFill>
                <a:latin typeface="Times New Roman" pitchFamily="18" charset="0"/>
              </a:defRPr>
            </a:lvl1pPr>
            <a:lvl2pPr marL="742950" indent="-285750" defTabSz="2259013">
              <a:defRPr sz="5400" b="1">
                <a:solidFill>
                  <a:schemeClr val="tx1"/>
                </a:solidFill>
                <a:latin typeface="Times New Roman" pitchFamily="18" charset="0"/>
              </a:defRPr>
            </a:lvl2pPr>
            <a:lvl3pPr marL="1143000" indent="-228600" defTabSz="2259013">
              <a:defRPr sz="5400" b="1">
                <a:solidFill>
                  <a:schemeClr val="tx1"/>
                </a:solidFill>
                <a:latin typeface="Times New Roman" pitchFamily="18" charset="0"/>
              </a:defRPr>
            </a:lvl3pPr>
            <a:lvl4pPr marL="1600200" indent="-228600" defTabSz="2259013">
              <a:defRPr sz="5400" b="1">
                <a:solidFill>
                  <a:schemeClr val="tx1"/>
                </a:solidFill>
                <a:latin typeface="Times New Roman" pitchFamily="18" charset="0"/>
              </a:defRPr>
            </a:lvl4pPr>
            <a:lvl5pPr marL="2057400" indent="-228600" defTabSz="2259013">
              <a:defRPr sz="5400" b="1">
                <a:solidFill>
                  <a:schemeClr val="tx1"/>
                </a:solidFill>
                <a:latin typeface="Times New Roman" pitchFamily="18" charset="0"/>
              </a:defRPr>
            </a:lvl5pPr>
            <a:lvl6pPr marL="25146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6pPr>
            <a:lvl7pPr marL="29718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7pPr>
            <a:lvl8pPr marL="34290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8pPr>
            <a:lvl9pPr marL="3886200" indent="-228600" algn="ctr" defTabSz="2259013" eaLnBrk="0" fontAlgn="base" hangingPunct="0">
              <a:lnSpc>
                <a:spcPct val="65000"/>
              </a:lnSpc>
              <a:spcBef>
                <a:spcPct val="50000"/>
              </a:spcBef>
              <a:spcAft>
                <a:spcPct val="0"/>
              </a:spcAft>
              <a:defRPr sz="5400" b="1">
                <a:solidFill>
                  <a:schemeClr val="tx1"/>
                </a:solidFill>
                <a:latin typeface="Times New Roman" pitchFamily="18" charset="0"/>
              </a:defRPr>
            </a:lvl9pPr>
          </a:lstStyle>
          <a:p>
            <a:pPr algn="ctr" defTabSz="470552" eaLnBrk="0" fontAlgn="base" hangingPunct="0">
              <a:lnSpc>
                <a:spcPct val="65000"/>
              </a:lnSpc>
              <a:spcBef>
                <a:spcPct val="50000"/>
              </a:spcBef>
              <a:spcAft>
                <a:spcPct val="0"/>
              </a:spcAft>
            </a:pPr>
            <a:endParaRPr lang="en-US" sz="1125">
              <a:solidFill>
                <a:srgbClr val="000000"/>
              </a:solidFill>
            </a:endParaRPr>
          </a:p>
        </p:txBody>
      </p:sp>
      <p:sp>
        <p:nvSpPr>
          <p:cNvPr id="48" name="TextBox 47"/>
          <p:cNvSpPr txBox="1"/>
          <p:nvPr/>
        </p:nvSpPr>
        <p:spPr>
          <a:xfrm>
            <a:off x="1669127" y="2649383"/>
            <a:ext cx="2238375" cy="194797"/>
          </a:xfrm>
          <a:prstGeom prst="rect">
            <a:avLst/>
          </a:prstGeom>
          <a:noFill/>
        </p:spPr>
        <p:txBody>
          <a:bodyPr wrap="square" rtlCol="0">
            <a:spAutoFit/>
          </a:bodyPr>
          <a:lstStyle/>
          <a:p>
            <a:pPr marL="95235" indent="-95235" defTabSz="190470" eaLnBrk="0" fontAlgn="base" hangingPunct="0">
              <a:lnSpc>
                <a:spcPct val="107000"/>
              </a:lnSpc>
              <a:buFont typeface="Arial" panose="020B0604020202020204" pitchFamily="34" charset="0"/>
              <a:buChar char="•"/>
            </a:pPr>
            <a:endParaRPr lang="en-US" sz="667" kern="100" dirty="0">
              <a:solidFill>
                <a:srgbClr val="000000"/>
              </a:solidFill>
              <a:latin typeface="Times New Roman"/>
              <a:ea typeface="Calibri" panose="020F0502020204030204" pitchFamily="34" charset="0"/>
              <a:cs typeface="Times New Roman" panose="02020603050405020304" pitchFamily="18" charset="0"/>
            </a:endParaRPr>
          </a:p>
        </p:txBody>
      </p:sp>
      <p:sp>
        <p:nvSpPr>
          <p:cNvPr id="38" name="TextBox 37">
            <a:extLst>
              <a:ext uri="{FF2B5EF4-FFF2-40B4-BE49-F238E27FC236}">
                <a16:creationId xmlns:a16="http://schemas.microsoft.com/office/drawing/2014/main" id="{E9FB644A-DD8F-B051-6120-F2F8C6AAABB5}"/>
              </a:ext>
            </a:extLst>
          </p:cNvPr>
          <p:cNvSpPr txBox="1"/>
          <p:nvPr/>
        </p:nvSpPr>
        <p:spPr>
          <a:xfrm>
            <a:off x="4737509" y="2493626"/>
            <a:ext cx="2051641" cy="400302"/>
          </a:xfrm>
          <a:prstGeom prst="rect">
            <a:avLst/>
          </a:prstGeom>
          <a:no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Table 1.</a:t>
            </a:r>
            <a:r>
              <a:rPr lang="en-US" sz="667" i="1" dirty="0">
                <a:solidFill>
                  <a:srgbClr val="000000"/>
                </a:solidFill>
                <a:latin typeface="Times New Roman" pitchFamily="18" charset="0"/>
              </a:rPr>
              <a:t> Model performance comparisons for reproduction  results from Chang et al., 2025 IMM-TSF</a:t>
            </a:r>
          </a:p>
        </p:txBody>
      </p:sp>
      <p:graphicFrame>
        <p:nvGraphicFramePr>
          <p:cNvPr id="5" name="Table 4">
            <a:extLst>
              <a:ext uri="{FF2B5EF4-FFF2-40B4-BE49-F238E27FC236}">
                <a16:creationId xmlns:a16="http://schemas.microsoft.com/office/drawing/2014/main" id="{86936E6B-5B7B-9D4F-A9B5-81D6C7B84574}"/>
              </a:ext>
            </a:extLst>
          </p:cNvPr>
          <p:cNvGraphicFramePr>
            <a:graphicFrameLocks noGrp="1"/>
          </p:cNvGraphicFramePr>
          <p:nvPr>
            <p:extLst>
              <p:ext uri="{D42A27DB-BD31-4B8C-83A1-F6EECF244321}">
                <p14:modId xmlns:p14="http://schemas.microsoft.com/office/powerpoint/2010/main" val="578091103"/>
              </p:ext>
            </p:extLst>
          </p:nvPr>
        </p:nvGraphicFramePr>
        <p:xfrm>
          <a:off x="4856999" y="790817"/>
          <a:ext cx="1777999" cy="1686773"/>
        </p:xfrm>
        <a:graphic>
          <a:graphicData uri="http://schemas.openxmlformats.org/drawingml/2006/table">
            <a:tbl>
              <a:tblPr/>
              <a:tblGrid>
                <a:gridCol w="341524">
                  <a:extLst>
                    <a:ext uri="{9D8B030D-6E8A-4147-A177-3AD203B41FA5}">
                      <a16:colId xmlns:a16="http://schemas.microsoft.com/office/drawing/2014/main" val="347509223"/>
                    </a:ext>
                  </a:extLst>
                </a:gridCol>
                <a:gridCol w="595101">
                  <a:extLst>
                    <a:ext uri="{9D8B030D-6E8A-4147-A177-3AD203B41FA5}">
                      <a16:colId xmlns:a16="http://schemas.microsoft.com/office/drawing/2014/main" val="3980417026"/>
                    </a:ext>
                  </a:extLst>
                </a:gridCol>
                <a:gridCol w="257318">
                  <a:extLst>
                    <a:ext uri="{9D8B030D-6E8A-4147-A177-3AD203B41FA5}">
                      <a16:colId xmlns:a16="http://schemas.microsoft.com/office/drawing/2014/main" val="3985619348"/>
                    </a:ext>
                  </a:extLst>
                </a:gridCol>
                <a:gridCol w="191831">
                  <a:extLst>
                    <a:ext uri="{9D8B030D-6E8A-4147-A177-3AD203B41FA5}">
                      <a16:colId xmlns:a16="http://schemas.microsoft.com/office/drawing/2014/main" val="1945792390"/>
                    </a:ext>
                  </a:extLst>
                </a:gridCol>
                <a:gridCol w="244548">
                  <a:extLst>
                    <a:ext uri="{9D8B030D-6E8A-4147-A177-3AD203B41FA5}">
                      <a16:colId xmlns:a16="http://schemas.microsoft.com/office/drawing/2014/main" val="403839876"/>
                    </a:ext>
                  </a:extLst>
                </a:gridCol>
                <a:gridCol w="147677">
                  <a:extLst>
                    <a:ext uri="{9D8B030D-6E8A-4147-A177-3AD203B41FA5}">
                      <a16:colId xmlns:a16="http://schemas.microsoft.com/office/drawing/2014/main" val="2738948510"/>
                    </a:ext>
                  </a:extLst>
                </a:gridCol>
              </a:tblGrid>
              <a:tr h="210811">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t">
                        <a:buNone/>
                      </a:pPr>
                      <a:r>
                        <a:rPr lang="en-US" sz="500" b="1" i="0" u="none" strike="noStrike" dirty="0">
                          <a:solidFill>
                            <a:srgbClr val="000000"/>
                          </a:solidFill>
                          <a:effectLst/>
                          <a:latin typeface="+mj-lt"/>
                        </a:rPr>
                        <a:t>Model Reproduction Results </a:t>
                      </a:r>
                    </a:p>
                  </a:txBody>
                  <a:tcPr marL="1323" marR="1323" marT="1323" marB="95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1" i="0" u="none" strike="noStrike" dirty="0">
                          <a:solidFill>
                            <a:srgbClr val="000000"/>
                          </a:solidFill>
                          <a:effectLst/>
                          <a:latin typeface="+mj-lt"/>
                        </a:rPr>
                        <a:t>Multimodal MSE</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tc gridSpan="2">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1" i="0" u="none" strike="noStrike" dirty="0">
                          <a:solidFill>
                            <a:srgbClr val="000000"/>
                          </a:solidFill>
                          <a:effectLst/>
                          <a:latin typeface="+mj-lt"/>
                        </a:rPr>
                        <a:t>Unimodal MSE </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4472C4">
                        <a:lumMod val="20000"/>
                        <a:lumOff val="80000"/>
                      </a:srgbClr>
                    </a:solidFill>
                  </a:tcPr>
                </a:tc>
                <a:tc hMerge="1">
                  <a:txBody>
                    <a:bodyPr/>
                    <a:lstStyle/>
                    <a:p>
                      <a:endParaRPr lang="en-US"/>
                    </a:p>
                  </a:txBody>
                  <a:tcPr/>
                </a:tc>
                <a:extLst>
                  <a:ext uri="{0D108BD9-81ED-4DB2-BD59-A6C34878D82A}">
                    <a16:rowId xmlns:a16="http://schemas.microsoft.com/office/drawing/2014/main" val="3614756834"/>
                  </a:ext>
                </a:extLst>
              </a:tr>
              <a:tr h="175379">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1" i="0" u="none" strike="noStrike" dirty="0">
                          <a:solidFill>
                            <a:srgbClr val="000000"/>
                          </a:solidFill>
                          <a:effectLst/>
                          <a:latin typeface="+mn-lt"/>
                        </a:rPr>
                        <a:t>Dataset</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1" i="0" u="none" strike="noStrike" dirty="0">
                          <a:solidFill>
                            <a:srgbClr val="000000"/>
                          </a:solidFill>
                          <a:effectLst/>
                          <a:latin typeface="+mn-lt"/>
                        </a:rPr>
                        <a:t>Irregularity Type</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Paper</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Ours</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Paper</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Ours</a:t>
                      </a:r>
                    </a:p>
                  </a:txBody>
                  <a:tcPr marL="1323" marR="1323" marT="1323" marB="9525"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69092460"/>
                  </a:ext>
                </a:extLst>
              </a:tr>
              <a:tr h="281801">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GDELT</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Trigger-Based</a:t>
                      </a:r>
                    </a:p>
                    <a:p>
                      <a:pPr algn="ctr" fontAlgn="b">
                        <a:buNone/>
                      </a:pPr>
                      <a:r>
                        <a:rPr lang="en-US" sz="500" b="0" i="0" u="none" strike="noStrike" dirty="0">
                          <a:solidFill>
                            <a:srgbClr val="000000"/>
                          </a:solidFill>
                          <a:effectLst/>
                          <a:latin typeface="+mn-lt"/>
                        </a:rPr>
                        <a:t> (</a:t>
                      </a:r>
                      <a:r>
                        <a:rPr lang="en-US" sz="500" dirty="0">
                          <a:latin typeface="+mn-lt"/>
                        </a:rPr>
                        <a:t>Event-Based Logging</a:t>
                      </a:r>
                      <a:r>
                        <a:rPr lang="en-US" sz="500" b="0" i="0" u="none" strike="noStrike" dirty="0">
                          <a:solidFill>
                            <a:srgbClr val="000000"/>
                          </a:solidFill>
                          <a:effectLst/>
                          <a:latin typeface="+mn-lt"/>
                        </a:rPr>
                        <a:t>)</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1.03</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1.02</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1.03</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1.04</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142921678"/>
                  </a:ext>
                </a:extLst>
              </a:tr>
              <a:tr h="247059">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FNSPID</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Artifact-Based </a:t>
                      </a:r>
                    </a:p>
                    <a:p>
                      <a:pPr algn="ctr" fontAlgn="b">
                        <a:buNone/>
                      </a:pPr>
                      <a:r>
                        <a:rPr lang="en-US" sz="500" b="0" i="0" u="none" strike="noStrike" dirty="0">
                          <a:solidFill>
                            <a:srgbClr val="000000"/>
                          </a:solidFill>
                          <a:effectLst/>
                          <a:latin typeface="+mn-lt"/>
                        </a:rPr>
                        <a:t>(</a:t>
                      </a:r>
                      <a:r>
                        <a:rPr lang="en-US" sz="500" dirty="0">
                          <a:latin typeface="+mn-lt"/>
                        </a:rPr>
                        <a:t>Operational Window Sampling</a:t>
                      </a:r>
                      <a:r>
                        <a:rPr lang="en-US" sz="500" b="0" i="0" u="none" strike="noStrike" dirty="0">
                          <a:solidFill>
                            <a:srgbClr val="000000"/>
                          </a:solidFill>
                          <a:effectLst/>
                          <a:latin typeface="+mn-lt"/>
                        </a:rPr>
                        <a:t> )</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0.12</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0.16</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0.12</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0.16</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83399887"/>
                  </a:ext>
                </a:extLst>
              </a:tr>
              <a:tr h="257241">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CLUSTER TRACE</a:t>
                      </a:r>
                      <a:endParaRPr lang="en-US" sz="500" b="0" i="0" u="none" strike="noStrike" dirty="0">
                        <a:solidFill>
                          <a:srgbClr val="000000"/>
                        </a:solidFill>
                        <a:effectLst/>
                        <a:latin typeface="+mn-lt"/>
                      </a:endParaRP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Artifact-Based </a:t>
                      </a:r>
                    </a:p>
                    <a:p>
                      <a:pPr algn="ctr" fontAlgn="b">
                        <a:buNone/>
                      </a:pPr>
                      <a:r>
                        <a:rPr lang="en-US" sz="500" b="0" i="0" u="none" strike="noStrike" dirty="0">
                          <a:solidFill>
                            <a:srgbClr val="000000"/>
                          </a:solidFill>
                          <a:effectLst/>
                          <a:latin typeface="+mn-lt"/>
                        </a:rPr>
                        <a:t>(</a:t>
                      </a:r>
                      <a:r>
                        <a:rPr lang="en-US" sz="500" dirty="0">
                          <a:latin typeface="+mn-lt"/>
                        </a:rPr>
                        <a:t>Resource-Aware Collection</a:t>
                      </a:r>
                      <a:r>
                        <a:rPr lang="en-US" sz="500" b="0" i="0" u="none" strike="noStrike" dirty="0">
                          <a:solidFill>
                            <a:srgbClr val="000000"/>
                          </a:solidFill>
                          <a:effectLst/>
                          <a:latin typeface="+mn-lt"/>
                        </a:rPr>
                        <a:t>)</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0.61</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0.85</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0.98</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0.87</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21850367"/>
                  </a:ext>
                </a:extLst>
              </a:tr>
              <a:tr h="257241">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CESNET</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500" b="0" i="0" u="none" strike="noStrike" dirty="0">
                          <a:solidFill>
                            <a:srgbClr val="000000"/>
                          </a:solidFill>
                          <a:effectLst/>
                          <a:latin typeface="+mn-lt"/>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500" b="0" i="0" u="none" strike="noStrike" dirty="0">
                          <a:solidFill>
                            <a:srgbClr val="000000"/>
                          </a:solidFill>
                          <a:effectLst/>
                          <a:latin typeface="+mn-lt"/>
                        </a:rPr>
                        <a:t>(</a:t>
                      </a:r>
                      <a:r>
                        <a:rPr lang="en-US" sz="500" dirty="0">
                          <a:latin typeface="+mn-lt"/>
                        </a:rPr>
                        <a:t>Scheduling Jitter / Delay</a:t>
                      </a:r>
                      <a:r>
                        <a:rPr lang="en-US" sz="500" b="0" i="0" u="none" strike="noStrike" dirty="0">
                          <a:solidFill>
                            <a:srgbClr val="000000"/>
                          </a:solidFill>
                          <a:effectLst/>
                          <a:latin typeface="+mn-lt"/>
                        </a:rPr>
                        <a:t>)</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0.91</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0.96</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a:solidFill>
                            <a:srgbClr val="000000"/>
                          </a:solidFill>
                          <a:effectLst/>
                          <a:latin typeface="+mn-lt"/>
                        </a:rPr>
                        <a:t>0.98</a:t>
                      </a:r>
                    </a:p>
                  </a:txBody>
                  <a:tcPr marL="1323" marR="1323" marT="1323" marB="9525"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algn="ctr" fontAlgn="b">
                        <a:buNone/>
                      </a:pPr>
                      <a:r>
                        <a:rPr lang="en-US" sz="500" b="0" i="0" u="none" strike="noStrike" dirty="0">
                          <a:solidFill>
                            <a:srgbClr val="000000"/>
                          </a:solidFill>
                          <a:effectLst/>
                          <a:latin typeface="+mn-lt"/>
                        </a:rPr>
                        <a:t>1.03</a:t>
                      </a:r>
                    </a:p>
                  </a:txBody>
                  <a:tcPr marL="1323" marR="1323" marT="1323" marB="9525"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247621506"/>
                  </a:ext>
                </a:extLst>
              </a:tr>
              <a:tr h="257241">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dirty="0">
                          <a:solidFill>
                            <a:srgbClr val="000000"/>
                          </a:solidFill>
                          <a:effectLst/>
                          <a:latin typeface="+mn-lt"/>
                        </a:rPr>
                        <a:t>MIMIC-IV</a:t>
                      </a:r>
                    </a:p>
                  </a:txBody>
                  <a:tcPr marL="1323" marR="1323" marT="1323" marB="9525"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noProof="0" dirty="0">
                          <a:solidFill>
                            <a:srgbClr val="000000"/>
                          </a:solidFill>
                          <a:effectLst/>
                          <a:latin typeface="+mn-lt"/>
                        </a:rPr>
                        <a:t>Trigger-Based</a:t>
                      </a:r>
                    </a:p>
                    <a:p>
                      <a:pPr lvl="0" algn="ctr">
                        <a:buNone/>
                      </a:pPr>
                      <a:r>
                        <a:rPr lang="en-US" sz="500" b="0" i="0" u="none" strike="noStrike" noProof="0" dirty="0">
                          <a:solidFill>
                            <a:srgbClr val="000000"/>
                          </a:solidFill>
                          <a:effectLst/>
                          <a:latin typeface="+mn-lt"/>
                        </a:rPr>
                        <a:t>(Event-Based Logging)</a:t>
                      </a:r>
                      <a:endParaRPr lang="en-US" sz="500" dirty="0">
                        <a:latin typeface="+mn-lt"/>
                      </a:endParaRPr>
                    </a:p>
                  </a:txBody>
                  <a:tcPr marL="1323" marR="1323" marT="1323" marB="9525"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a:solidFill>
                            <a:srgbClr val="000000"/>
                          </a:solidFill>
                          <a:effectLst/>
                          <a:latin typeface="+mn-lt"/>
                        </a:rPr>
                        <a:t>0.77</a:t>
                      </a:r>
                    </a:p>
                  </a:txBody>
                  <a:tcPr marL="1323" marR="1323" marT="1323" marB="9525"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dirty="0">
                          <a:solidFill>
                            <a:srgbClr val="000000"/>
                          </a:solidFill>
                          <a:effectLst/>
                          <a:latin typeface="+mn-lt"/>
                        </a:rPr>
                        <a:t>0.74</a:t>
                      </a:r>
                    </a:p>
                  </a:txBody>
                  <a:tcPr marL="1323" marR="1323" marT="1323" marB="9525"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dirty="0">
                          <a:solidFill>
                            <a:srgbClr val="000000"/>
                          </a:solidFill>
                          <a:effectLst/>
                          <a:latin typeface="+mn-lt"/>
                        </a:rPr>
                        <a:t>0.73</a:t>
                      </a:r>
                    </a:p>
                  </a:txBody>
                  <a:tcPr marL="1323" marR="1323" marT="1323" marB="9525" anchor="b">
                    <a:lnL w="12700">
                      <a:solidFill>
                        <a:srgbClr val="000000"/>
                      </a:solidFill>
                    </a:lnL>
                    <a:lnR w="635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tx1"/>
                          </a:solidFill>
                          <a:latin typeface="Aptos"/>
                        </a:defRPr>
                      </a:lvl1pPr>
                      <a:lvl2pPr marL="457200" algn="l" defTabSz="914400" rtl="0" eaLnBrk="1" latinLnBrk="0" hangingPunct="1">
                        <a:defRPr sz="1800" kern="1200">
                          <a:solidFill>
                            <a:schemeClr val="tx1"/>
                          </a:solidFill>
                          <a:latin typeface="Aptos"/>
                        </a:defRPr>
                      </a:lvl2pPr>
                      <a:lvl3pPr marL="914400" algn="l" defTabSz="914400" rtl="0" eaLnBrk="1" latinLnBrk="0" hangingPunct="1">
                        <a:defRPr sz="1800" kern="1200">
                          <a:solidFill>
                            <a:schemeClr val="tx1"/>
                          </a:solidFill>
                          <a:latin typeface="Aptos"/>
                        </a:defRPr>
                      </a:lvl3pPr>
                      <a:lvl4pPr marL="1371600" algn="l" defTabSz="914400" rtl="0" eaLnBrk="1" latinLnBrk="0" hangingPunct="1">
                        <a:defRPr sz="1800" kern="1200">
                          <a:solidFill>
                            <a:schemeClr val="tx1"/>
                          </a:solidFill>
                          <a:latin typeface="Aptos"/>
                        </a:defRPr>
                      </a:lvl4pPr>
                      <a:lvl5pPr marL="1828800" algn="l" defTabSz="914400" rtl="0" eaLnBrk="1" latinLnBrk="0" hangingPunct="1">
                        <a:defRPr sz="1800" kern="1200">
                          <a:solidFill>
                            <a:schemeClr val="tx1"/>
                          </a:solidFill>
                          <a:latin typeface="Aptos"/>
                        </a:defRPr>
                      </a:lvl5pPr>
                      <a:lvl6pPr marL="2286000" algn="l" defTabSz="914400" rtl="0" eaLnBrk="1" latinLnBrk="0" hangingPunct="1">
                        <a:defRPr sz="1800" kern="1200">
                          <a:solidFill>
                            <a:schemeClr val="tx1"/>
                          </a:solidFill>
                          <a:latin typeface="Aptos"/>
                        </a:defRPr>
                      </a:lvl6pPr>
                      <a:lvl7pPr marL="2743200" algn="l" defTabSz="914400" rtl="0" eaLnBrk="1" latinLnBrk="0" hangingPunct="1">
                        <a:defRPr sz="1800" kern="1200">
                          <a:solidFill>
                            <a:schemeClr val="tx1"/>
                          </a:solidFill>
                          <a:latin typeface="Aptos"/>
                        </a:defRPr>
                      </a:lvl7pPr>
                      <a:lvl8pPr marL="3200400" algn="l" defTabSz="914400" rtl="0" eaLnBrk="1" latinLnBrk="0" hangingPunct="1">
                        <a:defRPr sz="1800" kern="1200">
                          <a:solidFill>
                            <a:schemeClr val="tx1"/>
                          </a:solidFill>
                          <a:latin typeface="Aptos"/>
                        </a:defRPr>
                      </a:lvl8pPr>
                      <a:lvl9pPr marL="3657600" algn="l" defTabSz="914400" rtl="0" eaLnBrk="1" latinLnBrk="0" hangingPunct="1">
                        <a:defRPr sz="1800" kern="1200">
                          <a:solidFill>
                            <a:schemeClr val="tx1"/>
                          </a:solidFill>
                          <a:latin typeface="Aptos"/>
                        </a:defRPr>
                      </a:lvl9pPr>
                    </a:lstStyle>
                    <a:p>
                      <a:pPr lvl="0" algn="ctr">
                        <a:buNone/>
                      </a:pPr>
                      <a:r>
                        <a:rPr lang="en-US" sz="500" b="0" i="0" u="none" strike="noStrike" dirty="0">
                          <a:solidFill>
                            <a:srgbClr val="000000"/>
                          </a:solidFill>
                          <a:effectLst/>
                          <a:latin typeface="+mn-lt"/>
                        </a:rPr>
                        <a:t>0.74</a:t>
                      </a:r>
                    </a:p>
                  </a:txBody>
                  <a:tcPr marL="1323" marR="1323" marT="1323" marB="9525" anchor="b">
                    <a:lnL w="6350">
                      <a:solidFill>
                        <a:srgbClr val="000000"/>
                      </a:solidFill>
                    </a:lnL>
                    <a:lnR w="12700">
                      <a:solidFill>
                        <a:srgbClr val="000000"/>
                      </a:solidFill>
                    </a:lnR>
                    <a:lnT w="12700">
                      <a:solidFill>
                        <a:srgbClr val="000000"/>
                      </a:solidFill>
                    </a:lnT>
                    <a:lnB w="12700">
                      <a:solidFill>
                        <a:srgbClr val="000000"/>
                      </a:solidFill>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799131304"/>
                  </a:ext>
                </a:extLst>
              </a:tr>
            </a:tbl>
          </a:graphicData>
        </a:graphic>
      </p:graphicFrame>
      <p:sp>
        <p:nvSpPr>
          <p:cNvPr id="42" name="Rectangle: Rounded Corners 41">
            <a:extLst>
              <a:ext uri="{FF2B5EF4-FFF2-40B4-BE49-F238E27FC236}">
                <a16:creationId xmlns:a16="http://schemas.microsoft.com/office/drawing/2014/main" id="{73AE0460-7E51-E56E-7695-7C736199221E}"/>
              </a:ext>
            </a:extLst>
          </p:cNvPr>
          <p:cNvSpPr/>
          <p:nvPr/>
        </p:nvSpPr>
        <p:spPr bwMode="auto">
          <a:xfrm>
            <a:off x="7715250" y="1412334"/>
            <a:ext cx="677060" cy="152170"/>
          </a:xfrm>
          <a:prstGeom prst="roundRect">
            <a:avLst/>
          </a:prstGeom>
          <a:noFill/>
          <a:ln w="9525" cap="flat" cmpd="sng" algn="ctr">
            <a:noFill/>
            <a:prstDash val="solid"/>
            <a:round/>
            <a:headEnd type="none" w="med" len="med"/>
            <a:tailEnd type="none" w="med" len="med"/>
          </a:ln>
          <a:effectLst/>
        </p:spPr>
        <p:txBody>
          <a:bodyPr vert="horz" wrap="square" lIns="19050" tIns="9525" rIns="19050" bIns="9525" numCol="1" rtlCol="0" anchor="t" anchorCtr="0" compatLnSpc="1">
            <a:prstTxWarp prst="textNoShape">
              <a:avLst/>
            </a:prstTxWarp>
            <a:spAutoFit/>
          </a:bodyPr>
          <a:lstStyle/>
          <a:p>
            <a:pPr algn="ctr" defTabSz="470552" eaLnBrk="0" fontAlgn="base" hangingPunct="0">
              <a:lnSpc>
                <a:spcPct val="65000"/>
              </a:lnSpc>
              <a:spcBef>
                <a:spcPct val="50000"/>
              </a:spcBef>
              <a:spcAft>
                <a:spcPct val="0"/>
              </a:spcAft>
            </a:pPr>
            <a:endParaRPr lang="en-US" sz="1125" b="1">
              <a:solidFill>
                <a:srgbClr val="000000"/>
              </a:solidFill>
              <a:latin typeface="Times New Roman" pitchFamily="18" charset="0"/>
            </a:endParaRPr>
          </a:p>
        </p:txBody>
      </p:sp>
      <p:sp>
        <p:nvSpPr>
          <p:cNvPr id="62" name="TextBox 61">
            <a:extLst>
              <a:ext uri="{FF2B5EF4-FFF2-40B4-BE49-F238E27FC236}">
                <a16:creationId xmlns:a16="http://schemas.microsoft.com/office/drawing/2014/main" id="{09D2C6AD-40D7-80CD-C8D0-E769C510D1B1}"/>
              </a:ext>
            </a:extLst>
          </p:cNvPr>
          <p:cNvSpPr txBox="1"/>
          <p:nvPr/>
        </p:nvSpPr>
        <p:spPr>
          <a:xfrm>
            <a:off x="4718919" y="5943015"/>
            <a:ext cx="2547840" cy="162480"/>
          </a:xfrm>
          <a:prstGeom prst="rect">
            <a:avLst/>
          </a:prstGeom>
          <a:noFill/>
        </p:spPr>
        <p:txBody>
          <a:bodyPr wrap="square">
            <a:spAutoFit/>
          </a:bodyPr>
          <a:lstStyle/>
          <a:p>
            <a:pPr algn="ctr" defTabSz="190470" eaLnBrk="0" fontAlgn="base" hangingPunct="0">
              <a:lnSpc>
                <a:spcPct val="65000"/>
              </a:lnSpc>
              <a:spcBef>
                <a:spcPct val="50000"/>
              </a:spcBef>
              <a:spcAft>
                <a:spcPct val="0"/>
              </a:spcAft>
            </a:pPr>
            <a:r>
              <a:rPr lang="en-US" sz="667" b="1" i="1" dirty="0">
                <a:solidFill>
                  <a:srgbClr val="000000"/>
                </a:solidFill>
                <a:latin typeface="Times New Roman" pitchFamily="18" charset="0"/>
              </a:rPr>
              <a:t>Table 3.</a:t>
            </a:r>
            <a:r>
              <a:rPr lang="en-US" sz="667" i="1" dirty="0">
                <a:solidFill>
                  <a:srgbClr val="000000"/>
                </a:solidFill>
                <a:latin typeface="Times New Roman" pitchFamily="18" charset="0"/>
              </a:rPr>
              <a:t> Final Mortality Classification Model Results</a:t>
            </a:r>
          </a:p>
        </p:txBody>
      </p:sp>
      <p:sp>
        <p:nvSpPr>
          <p:cNvPr id="1039" name="TextBox 1038">
            <a:extLst>
              <a:ext uri="{FF2B5EF4-FFF2-40B4-BE49-F238E27FC236}">
                <a16:creationId xmlns:a16="http://schemas.microsoft.com/office/drawing/2014/main" id="{5C2A5558-9469-70E8-6A94-358436A69765}"/>
              </a:ext>
            </a:extLst>
          </p:cNvPr>
          <p:cNvSpPr txBox="1"/>
          <p:nvPr/>
        </p:nvSpPr>
        <p:spPr>
          <a:xfrm>
            <a:off x="8679705" y="5924595"/>
            <a:ext cx="2547840" cy="162480"/>
          </a:xfrm>
          <a:prstGeom prst="rect">
            <a:avLst/>
          </a:prstGeom>
          <a:noFill/>
        </p:spPr>
        <p:txBody>
          <a:bodyPr wrap="square">
            <a:spAutoFit/>
          </a:bodyPr>
          <a:lstStyle/>
          <a:p>
            <a:pPr algn="ctr" defTabSz="190470" eaLnBrk="0" fontAlgn="base" hangingPunct="0">
              <a:lnSpc>
                <a:spcPct val="65000"/>
              </a:lnSpc>
              <a:spcBef>
                <a:spcPct val="50000"/>
              </a:spcBef>
              <a:spcAft>
                <a:spcPct val="0"/>
              </a:spcAft>
            </a:pPr>
            <a:r>
              <a:rPr lang="en-US" sz="667" b="1" i="1" dirty="0">
                <a:solidFill>
                  <a:srgbClr val="000000"/>
                </a:solidFill>
                <a:latin typeface="Times New Roman" pitchFamily="18" charset="0"/>
              </a:rPr>
              <a:t>Table 2.</a:t>
            </a:r>
            <a:r>
              <a:rPr lang="en-US" sz="667" i="1" dirty="0">
                <a:solidFill>
                  <a:srgbClr val="000000"/>
                </a:solidFill>
                <a:latin typeface="Times New Roman" pitchFamily="18" charset="0"/>
              </a:rPr>
              <a:t> Final Financial Classification Model Results</a:t>
            </a:r>
          </a:p>
        </p:txBody>
      </p:sp>
      <p:sp>
        <p:nvSpPr>
          <p:cNvPr id="1056" name="TextBox 1055">
            <a:extLst>
              <a:ext uri="{FF2B5EF4-FFF2-40B4-BE49-F238E27FC236}">
                <a16:creationId xmlns:a16="http://schemas.microsoft.com/office/drawing/2014/main" id="{A57311DA-13F9-D0C6-B9A4-7714A5111289}"/>
              </a:ext>
            </a:extLst>
          </p:cNvPr>
          <p:cNvSpPr txBox="1"/>
          <p:nvPr/>
        </p:nvSpPr>
        <p:spPr>
          <a:xfrm>
            <a:off x="1101228" y="5882075"/>
            <a:ext cx="2684935" cy="297646"/>
          </a:xfrm>
          <a:prstGeom prst="rect">
            <a:avLst/>
          </a:prstGeom>
          <a:no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Figure 3.</a:t>
            </a:r>
            <a:r>
              <a:rPr lang="en-US" sz="667" i="1" dirty="0">
                <a:solidFill>
                  <a:srgbClr val="000000"/>
                </a:solidFill>
                <a:latin typeface="Times New Roman" pitchFamily="18" charset="0"/>
              </a:rPr>
              <a:t> Permutation Feature Importance from Mortality Classification with Text Embedding Interpretations</a:t>
            </a:r>
            <a:endParaRPr lang="en-US" sz="500" i="1" dirty="0">
              <a:solidFill>
                <a:srgbClr val="000000"/>
              </a:solidFill>
              <a:latin typeface="Times New Roman" pitchFamily="18" charset="0"/>
            </a:endParaRPr>
          </a:p>
        </p:txBody>
      </p:sp>
      <p:sp>
        <p:nvSpPr>
          <p:cNvPr id="1060" name="TextBox 1059">
            <a:extLst>
              <a:ext uri="{FF2B5EF4-FFF2-40B4-BE49-F238E27FC236}">
                <a16:creationId xmlns:a16="http://schemas.microsoft.com/office/drawing/2014/main" id="{6FF5BD3B-7CA2-1298-BF8A-405642C8788B}"/>
              </a:ext>
            </a:extLst>
          </p:cNvPr>
          <p:cNvSpPr txBox="1"/>
          <p:nvPr/>
        </p:nvSpPr>
        <p:spPr>
          <a:xfrm>
            <a:off x="7033328" y="4332855"/>
            <a:ext cx="1606196" cy="400302"/>
          </a:xfrm>
          <a:prstGeom prst="rect">
            <a:avLst/>
          </a:prstGeom>
          <a:no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Figure 2.</a:t>
            </a:r>
            <a:r>
              <a:rPr lang="en-US" sz="667" i="1" dirty="0">
                <a:solidFill>
                  <a:srgbClr val="000000"/>
                </a:solidFill>
                <a:latin typeface="Times New Roman" pitchFamily="18" charset="0"/>
              </a:rPr>
              <a:t> Confusion Matrices for         	Classification of 1.Mortality 	       and 2.Financial Return Binary Direction</a:t>
            </a:r>
            <a:endParaRPr lang="en-US" sz="500" i="1" dirty="0">
              <a:solidFill>
                <a:srgbClr val="000000"/>
              </a:solidFill>
              <a:latin typeface="Times New Roman" pitchFamily="18" charset="0"/>
            </a:endParaRPr>
          </a:p>
        </p:txBody>
      </p:sp>
      <p:sp>
        <p:nvSpPr>
          <p:cNvPr id="1029" name="TextBox 1028">
            <a:extLst>
              <a:ext uri="{FF2B5EF4-FFF2-40B4-BE49-F238E27FC236}">
                <a16:creationId xmlns:a16="http://schemas.microsoft.com/office/drawing/2014/main" id="{7339D244-D446-2782-B8B6-E65175417F5D}"/>
              </a:ext>
            </a:extLst>
          </p:cNvPr>
          <p:cNvSpPr txBox="1"/>
          <p:nvPr/>
        </p:nvSpPr>
        <p:spPr>
          <a:xfrm>
            <a:off x="9056409" y="4479210"/>
            <a:ext cx="1566912" cy="297646"/>
          </a:xfrm>
          <a:prstGeom prst="rect">
            <a:avLst/>
          </a:prstGeom>
          <a:no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Figure 5.</a:t>
            </a:r>
            <a:r>
              <a:rPr lang="en-US" sz="667" i="1" dirty="0">
                <a:solidFill>
                  <a:srgbClr val="000000"/>
                </a:solidFill>
                <a:latin typeface="Times New Roman" pitchFamily="18" charset="0"/>
              </a:rPr>
              <a:t> Best Model: Financial RA-</a:t>
            </a:r>
            <a:r>
              <a:rPr lang="en-US" sz="667" i="1" dirty="0" err="1">
                <a:solidFill>
                  <a:srgbClr val="000000"/>
                </a:solidFill>
                <a:latin typeface="Times New Roman" pitchFamily="18" charset="0"/>
              </a:rPr>
              <a:t>GRAdd</a:t>
            </a:r>
            <a:r>
              <a:rPr lang="en-US" sz="667" i="1" dirty="0">
                <a:solidFill>
                  <a:srgbClr val="000000"/>
                </a:solidFill>
                <a:latin typeface="Times New Roman" pitchFamily="18" charset="0"/>
              </a:rPr>
              <a:t> Classification AUROC</a:t>
            </a:r>
            <a:endParaRPr lang="en-US" sz="500" i="1" dirty="0">
              <a:solidFill>
                <a:srgbClr val="000000"/>
              </a:solidFill>
              <a:latin typeface="Times New Roman" pitchFamily="18" charset="0"/>
            </a:endParaRPr>
          </a:p>
        </p:txBody>
      </p:sp>
      <p:graphicFrame>
        <p:nvGraphicFramePr>
          <p:cNvPr id="1065" name="Object 1064">
            <a:extLst>
              <a:ext uri="{FF2B5EF4-FFF2-40B4-BE49-F238E27FC236}">
                <a16:creationId xmlns:a16="http://schemas.microsoft.com/office/drawing/2014/main" id="{7C27F4C8-4890-5A4C-AE3C-392FF6120016}"/>
              </a:ext>
            </a:extLst>
          </p:cNvPr>
          <p:cNvGraphicFramePr>
            <a:graphicFrameLocks noChangeAspect="1"/>
          </p:cNvGraphicFramePr>
          <p:nvPr>
            <p:extLst>
              <p:ext uri="{D42A27DB-BD31-4B8C-83A1-F6EECF244321}">
                <p14:modId xmlns:p14="http://schemas.microsoft.com/office/powerpoint/2010/main" val="665462175"/>
              </p:ext>
            </p:extLst>
          </p:nvPr>
        </p:nvGraphicFramePr>
        <p:xfrm>
          <a:off x="2226827" y="4281283"/>
          <a:ext cx="1559336" cy="1492250"/>
        </p:xfrm>
        <a:graphic>
          <a:graphicData uri="http://schemas.openxmlformats.org/presentationml/2006/ole">
            <mc:AlternateContent xmlns:mc="http://schemas.openxmlformats.org/markup-compatibility/2006">
              <mc:Choice xmlns:v="urn:schemas-microsoft-com:vml" Requires="v">
                <p:oleObj name="Worksheet" r:id="rId8" imgW="10261600" imgH="10693518" progId="Excel.Sheet.12">
                  <p:embed/>
                </p:oleObj>
              </mc:Choice>
              <mc:Fallback>
                <p:oleObj name="Worksheet" r:id="rId8" imgW="10261600" imgH="10693518" progId="Excel.Sheet.12">
                  <p:embed/>
                  <p:pic>
                    <p:nvPicPr>
                      <p:cNvPr id="1065" name="Object 1064">
                        <a:extLst>
                          <a:ext uri="{FF2B5EF4-FFF2-40B4-BE49-F238E27FC236}">
                            <a16:creationId xmlns:a16="http://schemas.microsoft.com/office/drawing/2014/main" id="{7C27F4C8-4890-5A4C-AE3C-392FF6120016}"/>
                          </a:ext>
                        </a:extLst>
                      </p:cNvPr>
                      <p:cNvPicPr/>
                      <p:nvPr/>
                    </p:nvPicPr>
                    <p:blipFill>
                      <a:blip r:embed="rId9"/>
                      <a:stretch>
                        <a:fillRect/>
                      </a:stretch>
                    </p:blipFill>
                    <p:spPr>
                      <a:xfrm>
                        <a:off x="2226827" y="4281283"/>
                        <a:ext cx="1559336" cy="1492250"/>
                      </a:xfrm>
                      <a:prstGeom prst="rect">
                        <a:avLst/>
                      </a:prstGeom>
                      <a:ln w="31750">
                        <a:solidFill>
                          <a:srgbClr val="DAE9F8"/>
                        </a:solidFill>
                      </a:ln>
                    </p:spPr>
                  </p:pic>
                </p:oleObj>
              </mc:Fallback>
            </mc:AlternateContent>
          </a:graphicData>
        </a:graphic>
      </p:graphicFrame>
      <p:sp>
        <p:nvSpPr>
          <p:cNvPr id="1040" name="TextBox 1039">
            <a:extLst>
              <a:ext uri="{FF2B5EF4-FFF2-40B4-BE49-F238E27FC236}">
                <a16:creationId xmlns:a16="http://schemas.microsoft.com/office/drawing/2014/main" id="{CEE991C5-A915-1AAD-613F-F920BC34249B}"/>
              </a:ext>
            </a:extLst>
          </p:cNvPr>
          <p:cNvSpPr txBox="1"/>
          <p:nvPr/>
        </p:nvSpPr>
        <p:spPr>
          <a:xfrm>
            <a:off x="4763957" y="4635351"/>
            <a:ext cx="1674418" cy="374590"/>
          </a:xfrm>
          <a:prstGeom prst="rect">
            <a:avLst/>
          </a:prstGeom>
          <a:no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Figure 4.</a:t>
            </a:r>
            <a:r>
              <a:rPr lang="en-US" sz="667" i="1" dirty="0">
                <a:solidFill>
                  <a:srgbClr val="000000"/>
                </a:solidFill>
                <a:latin typeface="Times New Roman" pitchFamily="18" charset="0"/>
              </a:rPr>
              <a:t> Best Model: Mortality RA-</a:t>
            </a:r>
            <a:r>
              <a:rPr lang="en-US" sz="667" i="1" dirty="0" err="1">
                <a:solidFill>
                  <a:srgbClr val="000000"/>
                </a:solidFill>
                <a:latin typeface="Times New Roman" pitchFamily="18" charset="0"/>
              </a:rPr>
              <a:t>GRAdd</a:t>
            </a:r>
            <a:r>
              <a:rPr lang="en-US" sz="667" i="1" dirty="0">
                <a:solidFill>
                  <a:srgbClr val="000000"/>
                </a:solidFill>
                <a:latin typeface="Times New Roman" pitchFamily="18" charset="0"/>
              </a:rPr>
              <a:t> Classification AUROC</a:t>
            </a:r>
            <a:endParaRPr lang="en-US" sz="667" b="1" dirty="0">
              <a:solidFill>
                <a:srgbClr val="000000"/>
              </a:solidFill>
              <a:latin typeface="Times New Roman" pitchFamily="18" charset="0"/>
            </a:endParaRPr>
          </a:p>
          <a:p>
            <a:pPr defTabSz="190470" eaLnBrk="0" fontAlgn="base" hangingPunct="0">
              <a:spcAft>
                <a:spcPct val="0"/>
              </a:spcAft>
            </a:pPr>
            <a:endParaRPr lang="en-US" sz="500" i="1" dirty="0">
              <a:solidFill>
                <a:srgbClr val="000000"/>
              </a:solidFill>
              <a:latin typeface="Times New Roman" pitchFamily="18" charset="0"/>
            </a:endParaRPr>
          </a:p>
        </p:txBody>
      </p:sp>
      <p:sp>
        <p:nvSpPr>
          <p:cNvPr id="22" name="TextBox 21">
            <a:extLst>
              <a:ext uri="{FF2B5EF4-FFF2-40B4-BE49-F238E27FC236}">
                <a16:creationId xmlns:a16="http://schemas.microsoft.com/office/drawing/2014/main" id="{5D586C1F-9518-A0ED-F44B-F16A1B8F31A8}"/>
              </a:ext>
            </a:extLst>
          </p:cNvPr>
          <p:cNvSpPr txBox="1"/>
          <p:nvPr/>
        </p:nvSpPr>
        <p:spPr>
          <a:xfrm>
            <a:off x="664116" y="3032125"/>
            <a:ext cx="2985710" cy="297646"/>
          </a:xfrm>
          <a:prstGeom prst="rect">
            <a:avLst/>
          </a:prstGeom>
          <a:solidFill>
            <a:schemeClr val="bg1"/>
          </a:solidFill>
        </p:spPr>
        <p:txBody>
          <a:bodyPr wrap="square">
            <a:spAutoFit/>
          </a:bodyPr>
          <a:lstStyle/>
          <a:p>
            <a:pPr algn="ctr" defTabSz="190470" eaLnBrk="0" fontAlgn="base" hangingPunct="0">
              <a:spcAft>
                <a:spcPct val="0"/>
              </a:spcAft>
            </a:pPr>
            <a:r>
              <a:rPr lang="en-US" sz="667" b="1" i="1" dirty="0">
                <a:solidFill>
                  <a:srgbClr val="000000"/>
                </a:solidFill>
                <a:latin typeface="Times New Roman" pitchFamily="18" charset="0"/>
              </a:rPr>
              <a:t>Figure 1</a:t>
            </a:r>
            <a:r>
              <a:rPr lang="en-US" sz="667" i="1" dirty="0">
                <a:solidFill>
                  <a:srgbClr val="000000"/>
                </a:solidFill>
                <a:latin typeface="Times New Roman" pitchFamily="18" charset="0"/>
              </a:rPr>
              <a:t>. Irregular time series model framework with RA-</a:t>
            </a:r>
            <a:r>
              <a:rPr lang="en-US" sz="667" i="1" dirty="0" err="1">
                <a:solidFill>
                  <a:srgbClr val="000000"/>
                </a:solidFill>
                <a:latin typeface="Times New Roman" pitchFamily="18" charset="0"/>
              </a:rPr>
              <a:t>GRAdd</a:t>
            </a:r>
            <a:r>
              <a:rPr lang="en-US" sz="667" i="1" dirty="0">
                <a:solidFill>
                  <a:srgbClr val="000000"/>
                </a:solidFill>
                <a:latin typeface="Times New Roman" pitchFamily="18" charset="0"/>
              </a:rPr>
              <a:t> and Classifier Extensions of Chang et al., 2025 IMM-TSF</a:t>
            </a:r>
          </a:p>
        </p:txBody>
      </p:sp>
      <p:graphicFrame>
        <p:nvGraphicFramePr>
          <p:cNvPr id="4" name="Object 3">
            <a:extLst>
              <a:ext uri="{FF2B5EF4-FFF2-40B4-BE49-F238E27FC236}">
                <a16:creationId xmlns:a16="http://schemas.microsoft.com/office/drawing/2014/main" id="{7DA54F2F-0CFB-814E-C1F2-B7F50D0E2CB0}"/>
              </a:ext>
            </a:extLst>
          </p:cNvPr>
          <p:cNvGraphicFramePr>
            <a:graphicFrameLocks noChangeAspect="1"/>
          </p:cNvGraphicFramePr>
          <p:nvPr>
            <p:extLst>
              <p:ext uri="{D42A27DB-BD31-4B8C-83A1-F6EECF244321}">
                <p14:modId xmlns:p14="http://schemas.microsoft.com/office/powerpoint/2010/main" val="2922346650"/>
              </p:ext>
            </p:extLst>
          </p:nvPr>
        </p:nvGraphicFramePr>
        <p:xfrm>
          <a:off x="4108226" y="5093030"/>
          <a:ext cx="3253783" cy="818235"/>
        </p:xfrm>
        <a:graphic>
          <a:graphicData uri="http://schemas.openxmlformats.org/presentationml/2006/ole">
            <mc:AlternateContent xmlns:mc="http://schemas.openxmlformats.org/markup-compatibility/2006">
              <mc:Choice xmlns:v="urn:schemas-microsoft-com:vml" Requires="v">
                <p:oleObj name="Worksheet" r:id="rId10" imgW="9067918" imgH="2279620" progId="Excel.Sheet.12">
                  <p:embed/>
                </p:oleObj>
              </mc:Choice>
              <mc:Fallback>
                <p:oleObj name="Worksheet" r:id="rId10" imgW="9067918" imgH="2279620" progId="Excel.Sheet.12">
                  <p:embed/>
                  <p:pic>
                    <p:nvPicPr>
                      <p:cNvPr id="4" name="Object 3">
                        <a:extLst>
                          <a:ext uri="{FF2B5EF4-FFF2-40B4-BE49-F238E27FC236}">
                            <a16:creationId xmlns:a16="http://schemas.microsoft.com/office/drawing/2014/main" id="{7DA54F2F-0CFB-814E-C1F2-B7F50D0E2CB0}"/>
                          </a:ext>
                        </a:extLst>
                      </p:cNvPr>
                      <p:cNvPicPr/>
                      <p:nvPr/>
                    </p:nvPicPr>
                    <p:blipFill>
                      <a:blip r:embed="rId11"/>
                      <a:stretch>
                        <a:fillRect/>
                      </a:stretch>
                    </p:blipFill>
                    <p:spPr>
                      <a:xfrm>
                        <a:off x="4108226" y="5093030"/>
                        <a:ext cx="3253783" cy="818235"/>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6846FC77-BF70-D791-76E3-B1969C697BE2}"/>
              </a:ext>
            </a:extLst>
          </p:cNvPr>
          <p:cNvGraphicFramePr>
            <a:graphicFrameLocks noChangeAspect="1"/>
          </p:cNvGraphicFramePr>
          <p:nvPr>
            <p:extLst>
              <p:ext uri="{D42A27DB-BD31-4B8C-83A1-F6EECF244321}">
                <p14:modId xmlns:p14="http://schemas.microsoft.com/office/powerpoint/2010/main" val="4209005059"/>
              </p:ext>
            </p:extLst>
          </p:nvPr>
        </p:nvGraphicFramePr>
        <p:xfrm>
          <a:off x="7973702" y="5042101"/>
          <a:ext cx="3732326" cy="818235"/>
        </p:xfrm>
        <a:graphic>
          <a:graphicData uri="http://schemas.openxmlformats.org/presentationml/2006/ole">
            <mc:AlternateContent xmlns:mc="http://schemas.openxmlformats.org/markup-compatibility/2006">
              <mc:Choice xmlns:v="urn:schemas-microsoft-com:vml" Requires="v">
                <p:oleObj name="Worksheet" r:id="rId12" imgW="13233518" imgH="2724298" progId="Excel.Sheet.12">
                  <p:embed/>
                </p:oleObj>
              </mc:Choice>
              <mc:Fallback>
                <p:oleObj name="Worksheet" r:id="rId12" imgW="13233518" imgH="2724298" progId="Excel.Sheet.12">
                  <p:embed/>
                  <p:pic>
                    <p:nvPicPr>
                      <p:cNvPr id="7" name="Object 6">
                        <a:extLst>
                          <a:ext uri="{FF2B5EF4-FFF2-40B4-BE49-F238E27FC236}">
                            <a16:creationId xmlns:a16="http://schemas.microsoft.com/office/drawing/2014/main" id="{6846FC77-BF70-D791-76E3-B1969C697BE2}"/>
                          </a:ext>
                        </a:extLst>
                      </p:cNvPr>
                      <p:cNvPicPr/>
                      <p:nvPr/>
                    </p:nvPicPr>
                    <p:blipFill>
                      <a:blip r:embed="rId13"/>
                      <a:stretch>
                        <a:fillRect/>
                      </a:stretch>
                    </p:blipFill>
                    <p:spPr>
                      <a:xfrm>
                        <a:off x="7973702" y="5042101"/>
                        <a:ext cx="3732326" cy="818235"/>
                      </a:xfrm>
                      <a:prstGeom prst="rect">
                        <a:avLst/>
                      </a:prstGeom>
                    </p:spPr>
                  </p:pic>
                </p:oleObj>
              </mc:Fallback>
            </mc:AlternateContent>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ctr" defTabSz="2259013" rtl="0" eaLnBrk="0" fontAlgn="base" latinLnBrk="0" hangingPunct="0">
          <a:lnSpc>
            <a:spcPct val="65000"/>
          </a:lnSpc>
          <a:spcBef>
            <a:spcPct val="50000"/>
          </a:spcBef>
          <a:spcAft>
            <a:spcPct val="0"/>
          </a:spcAft>
          <a:buClrTx/>
          <a:buSzTx/>
          <a:buFontTx/>
          <a:buNone/>
          <a:tabLst/>
          <a:defRPr kumimoji="0" lang="en-US" sz="5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cfc9f0-4e11-443a-bbfd-24857bbb4ee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C98DC2606335A4E9AA6ABC9A026BDB7" ma:contentTypeVersion="13" ma:contentTypeDescription="Create a new document." ma:contentTypeScope="" ma:versionID="5dfb385d20bf024663c9f81bdc20a151">
  <xsd:schema xmlns:xsd="http://www.w3.org/2001/XMLSchema" xmlns:xs="http://www.w3.org/2001/XMLSchema" xmlns:p="http://schemas.microsoft.com/office/2006/metadata/properties" xmlns:ns3="3bcfc9f0-4e11-443a-bbfd-24857bbb4ee2" xmlns:ns4="e2f0b8c8-5a0b-4ae9-b6d0-e730ed024312" targetNamespace="http://schemas.microsoft.com/office/2006/metadata/properties" ma:root="true" ma:fieldsID="8145896a80839fad57cd9e7041843e5d" ns3:_="" ns4:_="">
    <xsd:import namespace="3bcfc9f0-4e11-443a-bbfd-24857bbb4ee2"/>
    <xsd:import namespace="e2f0b8c8-5a0b-4ae9-b6d0-e730ed0243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fc9f0-4e11-443a-bbfd-24857bbb4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f0b8c8-5a0b-4ae9-b6d0-e730ed0243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A84A72-A9DC-4853-8970-55EA7B811067}">
  <ds:schemaRefs>
    <ds:schemaRef ds:uri="3bcfc9f0-4e11-443a-bbfd-24857bbb4ee2"/>
    <ds:schemaRef ds:uri="e2f0b8c8-5a0b-4ae9-b6d0-e730ed024312"/>
    <ds:schemaRef ds:uri="http://www.w3.org/XML/1998/namespace"/>
    <ds:schemaRef ds:uri="http://purl.org/dc/terms/"/>
    <ds:schemaRef ds:uri="http://schemas.openxmlformats.org/package/2006/metadata/core-properties"/>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s>
</ds:datastoreItem>
</file>

<file path=customXml/itemProps2.xml><?xml version="1.0" encoding="utf-8"?>
<ds:datastoreItem xmlns:ds="http://schemas.openxmlformats.org/officeDocument/2006/customXml" ds:itemID="{9C8FD875-8B2E-42B8-973C-1939CBF418EC}">
  <ds:schemaRefs>
    <ds:schemaRef ds:uri="3bcfc9f0-4e11-443a-bbfd-24857bbb4ee2"/>
    <ds:schemaRef ds:uri="e2f0b8c8-5a0b-4ae9-b6d0-e730ed0243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00D7711-5F26-4A91-A722-9272C0755C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1631</Words>
  <Application>Microsoft Office PowerPoint</Application>
  <PresentationFormat>Widescreen</PresentationFormat>
  <Paragraphs>236</Paragraphs>
  <Slides>20</Slides>
  <Notes>4</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2" baseType="lpstr">
      <vt:lpstr>Aptos</vt:lpstr>
      <vt:lpstr>Aptos Display</vt:lpstr>
      <vt:lpstr>Aptos Narrow</vt:lpstr>
      <vt:lpstr>Arial</vt:lpstr>
      <vt:lpstr>Cambria Math</vt:lpstr>
      <vt:lpstr>CMMI10</vt:lpstr>
      <vt:lpstr>CMMI7</vt:lpstr>
      <vt:lpstr>CMR10</vt:lpstr>
      <vt:lpstr>Times New Roman</vt:lpstr>
      <vt:lpstr>Office Theme</vt:lpstr>
      <vt:lpstr>Default Design</vt:lpstr>
      <vt:lpstr>Worksheet</vt:lpstr>
      <vt:lpstr>PowerPoint Presentation</vt:lpstr>
      <vt:lpstr>PowerPoint Presentation</vt:lpstr>
      <vt:lpstr>PowerPoint Presentation</vt:lpstr>
      <vt:lpstr>PowerPoint Presentation</vt:lpstr>
      <vt:lpstr>Paper Methods Reproduction: (04/09/2026)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TIME-IMM Project Proposal</dc:title>
  <dc:subject>STAT 8240 project proposal</dc:subject>
  <dc:creator>OpenAI</dc:creator>
  <cp:lastModifiedBy>Brandi Jones</cp:lastModifiedBy>
  <cp:revision>2</cp:revision>
  <dcterms:created xsi:type="dcterms:W3CDTF">2026-03-26T16:34:57Z</dcterms:created>
  <dcterms:modified xsi:type="dcterms:W3CDTF">2026-04-16T20:20:48Z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0x010100DC98DC2606335A4E9AA6ABC9A026BDB7</vt:lpwstr>
  </property>
</Properties>
</file>